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621" r:id="rId2"/>
    <p:sldId id="624" r:id="rId3"/>
    <p:sldId id="625" r:id="rId4"/>
    <p:sldId id="626" r:id="rId5"/>
    <p:sldId id="627" r:id="rId6"/>
    <p:sldId id="628" r:id="rId7"/>
    <p:sldId id="633" r:id="rId8"/>
    <p:sldId id="634" r:id="rId9"/>
    <p:sldId id="639" r:id="rId10"/>
    <p:sldId id="641" r:id="rId11"/>
    <p:sldId id="640" r:id="rId12"/>
    <p:sldId id="629" r:id="rId13"/>
    <p:sldId id="630" r:id="rId14"/>
    <p:sldId id="632" r:id="rId15"/>
    <p:sldId id="631" r:id="rId16"/>
    <p:sldId id="635" r:id="rId17"/>
    <p:sldId id="636" r:id="rId18"/>
    <p:sldId id="637" r:id="rId19"/>
    <p:sldId id="638" r:id="rId20"/>
    <p:sldId id="642" r:id="rId21"/>
    <p:sldId id="643" r:id="rId22"/>
    <p:sldId id="645" r:id="rId23"/>
    <p:sldId id="647" r:id="rId24"/>
    <p:sldId id="646" r:id="rId25"/>
    <p:sldId id="648" r:id="rId26"/>
    <p:sldId id="649" r:id="rId27"/>
    <p:sldId id="650" r:id="rId28"/>
    <p:sldId id="651" r:id="rId29"/>
    <p:sldId id="652" r:id="rId30"/>
    <p:sldId id="653" r:id="rId31"/>
    <p:sldId id="654" r:id="rId32"/>
    <p:sldId id="655" r:id="rId33"/>
    <p:sldId id="656" r:id="rId34"/>
    <p:sldId id="657" r:id="rId35"/>
    <p:sldId id="658" r:id="rId36"/>
    <p:sldId id="659" r:id="rId37"/>
    <p:sldId id="660" r:id="rId38"/>
    <p:sldId id="661" r:id="rId39"/>
    <p:sldId id="662" r:id="rId40"/>
    <p:sldId id="663" r:id="rId41"/>
    <p:sldId id="664" r:id="rId42"/>
    <p:sldId id="665" r:id="rId43"/>
    <p:sldId id="666" r:id="rId44"/>
    <p:sldId id="668" r:id="rId45"/>
    <p:sldId id="669" r:id="rId46"/>
    <p:sldId id="670" r:id="rId47"/>
    <p:sldId id="671" r:id="rId48"/>
    <p:sldId id="673" r:id="rId49"/>
    <p:sldId id="674" r:id="rId50"/>
    <p:sldId id="675" r:id="rId51"/>
    <p:sldId id="676" r:id="rId52"/>
    <p:sldId id="683" r:id="rId53"/>
    <p:sldId id="677" r:id="rId54"/>
    <p:sldId id="679" r:id="rId55"/>
    <p:sldId id="680" r:id="rId56"/>
    <p:sldId id="681" r:id="rId57"/>
    <p:sldId id="682" r:id="rId58"/>
    <p:sldId id="684" r:id="rId59"/>
    <p:sldId id="685" r:id="rId60"/>
    <p:sldId id="686" r:id="rId61"/>
    <p:sldId id="687" r:id="rId62"/>
    <p:sldId id="688" r:id="rId63"/>
    <p:sldId id="689" r:id="rId64"/>
    <p:sldId id="690" r:id="rId65"/>
    <p:sldId id="691" r:id="rId66"/>
    <p:sldId id="692" r:id="rId67"/>
    <p:sldId id="693" r:id="rId68"/>
    <p:sldId id="694" r:id="rId69"/>
    <p:sldId id="695" r:id="rId70"/>
    <p:sldId id="696" r:id="rId71"/>
    <p:sldId id="698" r:id="rId72"/>
    <p:sldId id="697" r:id="rId73"/>
    <p:sldId id="705" r:id="rId74"/>
    <p:sldId id="699" r:id="rId75"/>
    <p:sldId id="700" r:id="rId76"/>
    <p:sldId id="701" r:id="rId77"/>
    <p:sldId id="702" r:id="rId78"/>
    <p:sldId id="703" r:id="rId79"/>
    <p:sldId id="704" r:id="rId80"/>
    <p:sldId id="706" r:id="rId81"/>
    <p:sldId id="710" r:id="rId82"/>
    <p:sldId id="707" r:id="rId83"/>
    <p:sldId id="708" r:id="rId84"/>
    <p:sldId id="709" r:id="rId8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837" autoAdjust="0"/>
    <p:restoredTop sz="94660"/>
  </p:normalViewPr>
  <p:slideViewPr>
    <p:cSldViewPr snapToGrid="0">
      <p:cViewPr varScale="1">
        <p:scale>
          <a:sx n="97" d="100"/>
          <a:sy n="97" d="100"/>
        </p:scale>
        <p:origin x="39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007D165-9C62-4B89-A311-B79CA3796BD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C0FC864E-A211-4D5E-8BEA-E70F006488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550153B7-E6D1-CAE7-72AE-359C9B0C2549}"/>
              </a:ext>
            </a:extLst>
          </p:cNvPr>
          <p:cNvSpPr>
            <a:spLocks noGrp="1"/>
          </p:cNvSpPr>
          <p:nvPr>
            <p:ph type="dt" sz="half" idx="10"/>
          </p:nvPr>
        </p:nvSpPr>
        <p:spPr/>
        <p:txBody>
          <a:bodyPr/>
          <a:lstStyle/>
          <a:p>
            <a:fld id="{7ECF9259-BC3E-459C-BA31-E7C743498F47}" type="datetimeFigureOut">
              <a:rPr lang="en-IN" smtClean="0"/>
              <a:t>14-08-2025</a:t>
            </a:fld>
            <a:endParaRPr lang="en-IN"/>
          </a:p>
        </p:txBody>
      </p:sp>
      <p:sp>
        <p:nvSpPr>
          <p:cNvPr id="5" name="Footer Placeholder 4">
            <a:extLst>
              <a:ext uri="{FF2B5EF4-FFF2-40B4-BE49-F238E27FC236}">
                <a16:creationId xmlns:a16="http://schemas.microsoft.com/office/drawing/2014/main" xmlns="" id="{75647800-8181-EDD8-45CB-FE2299D0F5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FE130D44-06D2-21EB-CD3C-A1D5F03BB71F}"/>
              </a:ext>
            </a:extLst>
          </p:cNvPr>
          <p:cNvSpPr>
            <a:spLocks noGrp="1"/>
          </p:cNvSpPr>
          <p:nvPr>
            <p:ph type="sldNum" sz="quarter" idx="12"/>
          </p:nvPr>
        </p:nvSpPr>
        <p:spPr/>
        <p:txBody>
          <a:bodyPr/>
          <a:lstStyle/>
          <a:p>
            <a:fld id="{193AD2C1-0307-4522-84D6-00794C587E0D}" type="slidenum">
              <a:rPr lang="en-IN" smtClean="0"/>
              <a:t>‹#›</a:t>
            </a:fld>
            <a:endParaRPr lang="en-IN"/>
          </a:p>
        </p:txBody>
      </p:sp>
    </p:spTree>
    <p:extLst>
      <p:ext uri="{BB962C8B-B14F-4D97-AF65-F5344CB8AC3E}">
        <p14:creationId xmlns:p14="http://schemas.microsoft.com/office/powerpoint/2010/main" val="3030210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10C5A27-EE8D-F081-5B42-9B9A0A1488F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5D8A5A1A-2383-F77F-31A4-130A68CF17A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6EABC450-B018-C2FE-3F52-525CF9C98ACF}"/>
              </a:ext>
            </a:extLst>
          </p:cNvPr>
          <p:cNvSpPr>
            <a:spLocks noGrp="1"/>
          </p:cNvSpPr>
          <p:nvPr>
            <p:ph type="dt" sz="half" idx="10"/>
          </p:nvPr>
        </p:nvSpPr>
        <p:spPr/>
        <p:txBody>
          <a:bodyPr/>
          <a:lstStyle/>
          <a:p>
            <a:fld id="{7ECF9259-BC3E-459C-BA31-E7C743498F47}" type="datetimeFigureOut">
              <a:rPr lang="en-IN" smtClean="0"/>
              <a:t>14-08-2025</a:t>
            </a:fld>
            <a:endParaRPr lang="en-IN"/>
          </a:p>
        </p:txBody>
      </p:sp>
      <p:sp>
        <p:nvSpPr>
          <p:cNvPr id="5" name="Footer Placeholder 4">
            <a:extLst>
              <a:ext uri="{FF2B5EF4-FFF2-40B4-BE49-F238E27FC236}">
                <a16:creationId xmlns:a16="http://schemas.microsoft.com/office/drawing/2014/main" xmlns="" id="{CFDEFAAA-048D-27EF-B279-A9043C069BF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55E43B70-3777-F966-FD82-6F8367E22138}"/>
              </a:ext>
            </a:extLst>
          </p:cNvPr>
          <p:cNvSpPr>
            <a:spLocks noGrp="1"/>
          </p:cNvSpPr>
          <p:nvPr>
            <p:ph type="sldNum" sz="quarter" idx="12"/>
          </p:nvPr>
        </p:nvSpPr>
        <p:spPr/>
        <p:txBody>
          <a:bodyPr/>
          <a:lstStyle/>
          <a:p>
            <a:fld id="{193AD2C1-0307-4522-84D6-00794C587E0D}" type="slidenum">
              <a:rPr lang="en-IN" smtClean="0"/>
              <a:t>‹#›</a:t>
            </a:fld>
            <a:endParaRPr lang="en-IN"/>
          </a:p>
        </p:txBody>
      </p:sp>
    </p:spTree>
    <p:extLst>
      <p:ext uri="{BB962C8B-B14F-4D97-AF65-F5344CB8AC3E}">
        <p14:creationId xmlns:p14="http://schemas.microsoft.com/office/powerpoint/2010/main" val="30831526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B147D42-C3C9-7B9B-4CAB-CEE492564C6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06507BFE-9BF5-0156-C3E3-B9F7F6991A8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8C70E141-F6ED-0BA6-F05B-E67177CE4E3A}"/>
              </a:ext>
            </a:extLst>
          </p:cNvPr>
          <p:cNvSpPr>
            <a:spLocks noGrp="1"/>
          </p:cNvSpPr>
          <p:nvPr>
            <p:ph type="dt" sz="half" idx="10"/>
          </p:nvPr>
        </p:nvSpPr>
        <p:spPr/>
        <p:txBody>
          <a:bodyPr/>
          <a:lstStyle/>
          <a:p>
            <a:fld id="{7ECF9259-BC3E-459C-BA31-E7C743498F47}" type="datetimeFigureOut">
              <a:rPr lang="en-IN" smtClean="0"/>
              <a:t>14-08-2025</a:t>
            </a:fld>
            <a:endParaRPr lang="en-IN"/>
          </a:p>
        </p:txBody>
      </p:sp>
      <p:sp>
        <p:nvSpPr>
          <p:cNvPr id="5" name="Footer Placeholder 4">
            <a:extLst>
              <a:ext uri="{FF2B5EF4-FFF2-40B4-BE49-F238E27FC236}">
                <a16:creationId xmlns:a16="http://schemas.microsoft.com/office/drawing/2014/main" xmlns="" id="{6071E505-9E74-39E3-7BE6-AD7B392932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5CA0CB24-99E6-5997-0100-61C70904B595}"/>
              </a:ext>
            </a:extLst>
          </p:cNvPr>
          <p:cNvSpPr>
            <a:spLocks noGrp="1"/>
          </p:cNvSpPr>
          <p:nvPr>
            <p:ph type="sldNum" sz="quarter" idx="12"/>
          </p:nvPr>
        </p:nvSpPr>
        <p:spPr/>
        <p:txBody>
          <a:bodyPr/>
          <a:lstStyle/>
          <a:p>
            <a:fld id="{193AD2C1-0307-4522-84D6-00794C587E0D}" type="slidenum">
              <a:rPr lang="en-IN" smtClean="0"/>
              <a:t>‹#›</a:t>
            </a:fld>
            <a:endParaRPr lang="en-IN"/>
          </a:p>
        </p:txBody>
      </p:sp>
    </p:spTree>
    <p:extLst>
      <p:ext uri="{BB962C8B-B14F-4D97-AF65-F5344CB8AC3E}">
        <p14:creationId xmlns:p14="http://schemas.microsoft.com/office/powerpoint/2010/main" val="12566111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8ABAD79-A350-C1C8-AEEB-F0D32135B69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20002414-0CEF-4168-4A6C-B17206DFF3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0FC4344A-A4E6-CFD8-9EB3-5F3E7CEF4F0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6DE5B73F-0684-9B25-EA20-867EDA0FB6B5}"/>
              </a:ext>
            </a:extLst>
          </p:cNvPr>
          <p:cNvSpPr>
            <a:spLocks noGrp="1"/>
          </p:cNvSpPr>
          <p:nvPr>
            <p:ph type="dt" sz="half" idx="10"/>
          </p:nvPr>
        </p:nvSpPr>
        <p:spPr/>
        <p:txBody>
          <a:bodyPr/>
          <a:lstStyle/>
          <a:p>
            <a:fld id="{7ECF9259-BC3E-459C-BA31-E7C743498F47}" type="datetimeFigureOut">
              <a:rPr lang="en-IN" smtClean="0"/>
              <a:t>14-08-2025</a:t>
            </a:fld>
            <a:endParaRPr lang="en-IN"/>
          </a:p>
        </p:txBody>
      </p:sp>
      <p:sp>
        <p:nvSpPr>
          <p:cNvPr id="6" name="Footer Placeholder 5">
            <a:extLst>
              <a:ext uri="{FF2B5EF4-FFF2-40B4-BE49-F238E27FC236}">
                <a16:creationId xmlns:a16="http://schemas.microsoft.com/office/drawing/2014/main" xmlns="" id="{72D2C6FE-CF16-ACFF-4144-69154335F5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6E37074D-8E02-BBE2-135B-42ED64EA2A41}"/>
              </a:ext>
            </a:extLst>
          </p:cNvPr>
          <p:cNvSpPr>
            <a:spLocks noGrp="1"/>
          </p:cNvSpPr>
          <p:nvPr>
            <p:ph type="sldNum" sz="quarter" idx="12"/>
          </p:nvPr>
        </p:nvSpPr>
        <p:spPr/>
        <p:txBody>
          <a:bodyPr/>
          <a:lstStyle/>
          <a:p>
            <a:fld id="{193AD2C1-0307-4522-84D6-00794C587E0D}" type="slidenum">
              <a:rPr lang="en-IN" smtClean="0"/>
              <a:t>‹#›</a:t>
            </a:fld>
            <a:endParaRPr lang="en-IN"/>
          </a:p>
        </p:txBody>
      </p:sp>
    </p:spTree>
    <p:extLst>
      <p:ext uri="{BB962C8B-B14F-4D97-AF65-F5344CB8AC3E}">
        <p14:creationId xmlns:p14="http://schemas.microsoft.com/office/powerpoint/2010/main" val="26724685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973A0C6-6732-C5F1-B307-53136FF08C4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511FC728-DA4B-6A39-87DF-509E16C1FE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389BCA5C-BF79-DF4B-551D-C2ED1FF01C5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C66DC19B-0A5C-85C2-4DDC-23EE8C5235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99C1CFFD-101C-BD72-4DCC-392E024C1C2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290EC987-33A7-F082-6935-C198CC72AAF0}"/>
              </a:ext>
            </a:extLst>
          </p:cNvPr>
          <p:cNvSpPr>
            <a:spLocks noGrp="1"/>
          </p:cNvSpPr>
          <p:nvPr>
            <p:ph type="dt" sz="half" idx="10"/>
          </p:nvPr>
        </p:nvSpPr>
        <p:spPr/>
        <p:txBody>
          <a:bodyPr/>
          <a:lstStyle/>
          <a:p>
            <a:fld id="{7ECF9259-BC3E-459C-BA31-E7C743498F47}" type="datetimeFigureOut">
              <a:rPr lang="en-IN" smtClean="0"/>
              <a:t>14-08-2025</a:t>
            </a:fld>
            <a:endParaRPr lang="en-IN"/>
          </a:p>
        </p:txBody>
      </p:sp>
      <p:sp>
        <p:nvSpPr>
          <p:cNvPr id="8" name="Footer Placeholder 7">
            <a:extLst>
              <a:ext uri="{FF2B5EF4-FFF2-40B4-BE49-F238E27FC236}">
                <a16:creationId xmlns:a16="http://schemas.microsoft.com/office/drawing/2014/main" xmlns="" id="{2EB06485-D97D-D74A-4281-F00354CA084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9CC7990A-44DD-87C2-763F-345DB090A2F1}"/>
              </a:ext>
            </a:extLst>
          </p:cNvPr>
          <p:cNvSpPr>
            <a:spLocks noGrp="1"/>
          </p:cNvSpPr>
          <p:nvPr>
            <p:ph type="sldNum" sz="quarter" idx="12"/>
          </p:nvPr>
        </p:nvSpPr>
        <p:spPr/>
        <p:txBody>
          <a:bodyPr/>
          <a:lstStyle/>
          <a:p>
            <a:fld id="{193AD2C1-0307-4522-84D6-00794C587E0D}" type="slidenum">
              <a:rPr lang="en-IN" smtClean="0"/>
              <a:t>‹#›</a:t>
            </a:fld>
            <a:endParaRPr lang="en-IN"/>
          </a:p>
        </p:txBody>
      </p:sp>
    </p:spTree>
    <p:extLst>
      <p:ext uri="{BB962C8B-B14F-4D97-AF65-F5344CB8AC3E}">
        <p14:creationId xmlns:p14="http://schemas.microsoft.com/office/powerpoint/2010/main" val="1915777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8BA5ADD-F87F-CCD1-29C8-495125D42B1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09FCFD91-1312-0852-C608-3912DDD15097}"/>
              </a:ext>
            </a:extLst>
          </p:cNvPr>
          <p:cNvSpPr>
            <a:spLocks noGrp="1"/>
          </p:cNvSpPr>
          <p:nvPr>
            <p:ph type="dt" sz="half" idx="10"/>
          </p:nvPr>
        </p:nvSpPr>
        <p:spPr/>
        <p:txBody>
          <a:bodyPr/>
          <a:lstStyle/>
          <a:p>
            <a:fld id="{7ECF9259-BC3E-459C-BA31-E7C743498F47}" type="datetimeFigureOut">
              <a:rPr lang="en-IN" smtClean="0"/>
              <a:t>14-08-2025</a:t>
            </a:fld>
            <a:endParaRPr lang="en-IN"/>
          </a:p>
        </p:txBody>
      </p:sp>
      <p:sp>
        <p:nvSpPr>
          <p:cNvPr id="4" name="Footer Placeholder 3">
            <a:extLst>
              <a:ext uri="{FF2B5EF4-FFF2-40B4-BE49-F238E27FC236}">
                <a16:creationId xmlns:a16="http://schemas.microsoft.com/office/drawing/2014/main" xmlns="" id="{7567D2A5-A745-4F8B-23C3-7D5B3043005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9456AE9B-DB54-5BB1-191F-BC41762B47C3}"/>
              </a:ext>
            </a:extLst>
          </p:cNvPr>
          <p:cNvSpPr>
            <a:spLocks noGrp="1"/>
          </p:cNvSpPr>
          <p:nvPr>
            <p:ph type="sldNum" sz="quarter" idx="12"/>
          </p:nvPr>
        </p:nvSpPr>
        <p:spPr/>
        <p:txBody>
          <a:bodyPr/>
          <a:lstStyle/>
          <a:p>
            <a:fld id="{193AD2C1-0307-4522-84D6-00794C587E0D}" type="slidenum">
              <a:rPr lang="en-IN" smtClean="0"/>
              <a:t>‹#›</a:t>
            </a:fld>
            <a:endParaRPr lang="en-IN"/>
          </a:p>
        </p:txBody>
      </p:sp>
    </p:spTree>
    <p:extLst>
      <p:ext uri="{BB962C8B-B14F-4D97-AF65-F5344CB8AC3E}">
        <p14:creationId xmlns:p14="http://schemas.microsoft.com/office/powerpoint/2010/main" val="11321883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35A457E2-3599-FC79-AD78-674B53EEB330}"/>
              </a:ext>
            </a:extLst>
          </p:cNvPr>
          <p:cNvSpPr>
            <a:spLocks noGrp="1"/>
          </p:cNvSpPr>
          <p:nvPr>
            <p:ph type="dt" sz="half" idx="10"/>
          </p:nvPr>
        </p:nvSpPr>
        <p:spPr/>
        <p:txBody>
          <a:bodyPr/>
          <a:lstStyle/>
          <a:p>
            <a:fld id="{7ECF9259-BC3E-459C-BA31-E7C743498F47}" type="datetimeFigureOut">
              <a:rPr lang="en-IN" smtClean="0"/>
              <a:t>14-08-2025</a:t>
            </a:fld>
            <a:endParaRPr lang="en-IN"/>
          </a:p>
        </p:txBody>
      </p:sp>
      <p:sp>
        <p:nvSpPr>
          <p:cNvPr id="3" name="Footer Placeholder 2">
            <a:extLst>
              <a:ext uri="{FF2B5EF4-FFF2-40B4-BE49-F238E27FC236}">
                <a16:creationId xmlns:a16="http://schemas.microsoft.com/office/drawing/2014/main" xmlns="" id="{C756E142-D799-D419-A7E1-A7D5DB6CB72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8A773081-7ADA-1601-D280-5CFA8D080743}"/>
              </a:ext>
            </a:extLst>
          </p:cNvPr>
          <p:cNvSpPr>
            <a:spLocks noGrp="1"/>
          </p:cNvSpPr>
          <p:nvPr>
            <p:ph type="sldNum" sz="quarter" idx="12"/>
          </p:nvPr>
        </p:nvSpPr>
        <p:spPr/>
        <p:txBody>
          <a:bodyPr/>
          <a:lstStyle/>
          <a:p>
            <a:fld id="{193AD2C1-0307-4522-84D6-00794C587E0D}" type="slidenum">
              <a:rPr lang="en-IN" smtClean="0"/>
              <a:t>‹#›</a:t>
            </a:fld>
            <a:endParaRPr lang="en-IN"/>
          </a:p>
        </p:txBody>
      </p:sp>
    </p:spTree>
    <p:extLst>
      <p:ext uri="{BB962C8B-B14F-4D97-AF65-F5344CB8AC3E}">
        <p14:creationId xmlns:p14="http://schemas.microsoft.com/office/powerpoint/2010/main" val="37839361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78995FD-5064-7F20-94E2-5551F5C675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90D1ACCD-0F42-2CB8-271C-08FC2704A7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C6A9C82D-B5EB-FA0E-7405-B2CD4B7F15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8F856940-EF1D-1C55-2C4D-6CD78EA58C36}"/>
              </a:ext>
            </a:extLst>
          </p:cNvPr>
          <p:cNvSpPr>
            <a:spLocks noGrp="1"/>
          </p:cNvSpPr>
          <p:nvPr>
            <p:ph type="dt" sz="half" idx="10"/>
          </p:nvPr>
        </p:nvSpPr>
        <p:spPr/>
        <p:txBody>
          <a:bodyPr/>
          <a:lstStyle/>
          <a:p>
            <a:fld id="{7ECF9259-BC3E-459C-BA31-E7C743498F47}" type="datetimeFigureOut">
              <a:rPr lang="en-IN" smtClean="0"/>
              <a:t>14-08-2025</a:t>
            </a:fld>
            <a:endParaRPr lang="en-IN"/>
          </a:p>
        </p:txBody>
      </p:sp>
      <p:sp>
        <p:nvSpPr>
          <p:cNvPr id="6" name="Footer Placeholder 5">
            <a:extLst>
              <a:ext uri="{FF2B5EF4-FFF2-40B4-BE49-F238E27FC236}">
                <a16:creationId xmlns:a16="http://schemas.microsoft.com/office/drawing/2014/main" xmlns="" id="{A934A423-9AEC-CCEA-04E0-A45134A88B0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01C07E56-BA85-BD38-8514-01D4717B3BCA}"/>
              </a:ext>
            </a:extLst>
          </p:cNvPr>
          <p:cNvSpPr>
            <a:spLocks noGrp="1"/>
          </p:cNvSpPr>
          <p:nvPr>
            <p:ph type="sldNum" sz="quarter" idx="12"/>
          </p:nvPr>
        </p:nvSpPr>
        <p:spPr/>
        <p:txBody>
          <a:bodyPr/>
          <a:lstStyle/>
          <a:p>
            <a:fld id="{193AD2C1-0307-4522-84D6-00794C587E0D}" type="slidenum">
              <a:rPr lang="en-IN" smtClean="0"/>
              <a:t>‹#›</a:t>
            </a:fld>
            <a:endParaRPr lang="en-IN"/>
          </a:p>
        </p:txBody>
      </p:sp>
    </p:spTree>
    <p:extLst>
      <p:ext uri="{BB962C8B-B14F-4D97-AF65-F5344CB8AC3E}">
        <p14:creationId xmlns:p14="http://schemas.microsoft.com/office/powerpoint/2010/main" val="5535838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84A29CE-6EAC-7C35-1D5C-A5FE212CDF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E2D52850-C8D9-C9B4-CE16-FADBE302B6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64F0A856-7CAB-BA4E-4218-6161EDE94F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2FC952FF-8CCF-4516-52CD-66A1A357BD44}"/>
              </a:ext>
            </a:extLst>
          </p:cNvPr>
          <p:cNvSpPr>
            <a:spLocks noGrp="1"/>
          </p:cNvSpPr>
          <p:nvPr>
            <p:ph type="dt" sz="half" idx="10"/>
          </p:nvPr>
        </p:nvSpPr>
        <p:spPr/>
        <p:txBody>
          <a:bodyPr/>
          <a:lstStyle/>
          <a:p>
            <a:fld id="{7ECF9259-BC3E-459C-BA31-E7C743498F47}" type="datetimeFigureOut">
              <a:rPr lang="en-IN" smtClean="0"/>
              <a:t>14-08-2025</a:t>
            </a:fld>
            <a:endParaRPr lang="en-IN"/>
          </a:p>
        </p:txBody>
      </p:sp>
      <p:sp>
        <p:nvSpPr>
          <p:cNvPr id="6" name="Footer Placeholder 5">
            <a:extLst>
              <a:ext uri="{FF2B5EF4-FFF2-40B4-BE49-F238E27FC236}">
                <a16:creationId xmlns:a16="http://schemas.microsoft.com/office/drawing/2014/main" xmlns="" id="{3E59F0DE-12A5-D139-9719-265C9671ACF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F008868D-E5D3-77E6-0A22-67B5EE4E1496}"/>
              </a:ext>
            </a:extLst>
          </p:cNvPr>
          <p:cNvSpPr>
            <a:spLocks noGrp="1"/>
          </p:cNvSpPr>
          <p:nvPr>
            <p:ph type="sldNum" sz="quarter" idx="12"/>
          </p:nvPr>
        </p:nvSpPr>
        <p:spPr/>
        <p:txBody>
          <a:bodyPr/>
          <a:lstStyle/>
          <a:p>
            <a:fld id="{193AD2C1-0307-4522-84D6-00794C587E0D}" type="slidenum">
              <a:rPr lang="en-IN" smtClean="0"/>
              <a:t>‹#›</a:t>
            </a:fld>
            <a:endParaRPr lang="en-IN"/>
          </a:p>
        </p:txBody>
      </p:sp>
    </p:spTree>
    <p:extLst>
      <p:ext uri="{BB962C8B-B14F-4D97-AF65-F5344CB8AC3E}">
        <p14:creationId xmlns:p14="http://schemas.microsoft.com/office/powerpoint/2010/main" val="1059760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695A8E7-589C-DB50-805E-B7FE296B42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5B797B49-04CE-0C5F-C627-AA45925CD6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24E6EF58-03A4-E0D4-5A07-2EA6288A8DA7}"/>
              </a:ext>
            </a:extLst>
          </p:cNvPr>
          <p:cNvSpPr>
            <a:spLocks noGrp="1"/>
          </p:cNvSpPr>
          <p:nvPr>
            <p:ph type="dt" sz="half" idx="10"/>
          </p:nvPr>
        </p:nvSpPr>
        <p:spPr/>
        <p:txBody>
          <a:bodyPr/>
          <a:lstStyle/>
          <a:p>
            <a:fld id="{7ECF9259-BC3E-459C-BA31-E7C743498F47}" type="datetimeFigureOut">
              <a:rPr lang="en-IN" smtClean="0"/>
              <a:t>14-08-2025</a:t>
            </a:fld>
            <a:endParaRPr lang="en-IN"/>
          </a:p>
        </p:txBody>
      </p:sp>
      <p:sp>
        <p:nvSpPr>
          <p:cNvPr id="5" name="Footer Placeholder 4">
            <a:extLst>
              <a:ext uri="{FF2B5EF4-FFF2-40B4-BE49-F238E27FC236}">
                <a16:creationId xmlns:a16="http://schemas.microsoft.com/office/drawing/2014/main" xmlns="" id="{6644EBA6-436B-9C84-F190-43738F8FCC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F39C7104-44AB-319D-F2ED-DC0662C02613}"/>
              </a:ext>
            </a:extLst>
          </p:cNvPr>
          <p:cNvSpPr>
            <a:spLocks noGrp="1"/>
          </p:cNvSpPr>
          <p:nvPr>
            <p:ph type="sldNum" sz="quarter" idx="12"/>
          </p:nvPr>
        </p:nvSpPr>
        <p:spPr/>
        <p:txBody>
          <a:bodyPr/>
          <a:lstStyle/>
          <a:p>
            <a:fld id="{193AD2C1-0307-4522-84D6-00794C587E0D}" type="slidenum">
              <a:rPr lang="en-IN" smtClean="0"/>
              <a:t>‹#›</a:t>
            </a:fld>
            <a:endParaRPr lang="en-IN"/>
          </a:p>
        </p:txBody>
      </p:sp>
    </p:spTree>
    <p:extLst>
      <p:ext uri="{BB962C8B-B14F-4D97-AF65-F5344CB8AC3E}">
        <p14:creationId xmlns:p14="http://schemas.microsoft.com/office/powerpoint/2010/main" val="960223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DB5E60F4-B365-93FE-2C69-5AFE3B2F74E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29D911A0-E5BF-BE53-D820-8CA56AAB4B6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8AAEE3A0-F1CF-ABAF-BF59-78612833CA75}"/>
              </a:ext>
            </a:extLst>
          </p:cNvPr>
          <p:cNvSpPr>
            <a:spLocks noGrp="1"/>
          </p:cNvSpPr>
          <p:nvPr>
            <p:ph type="dt" sz="half" idx="10"/>
          </p:nvPr>
        </p:nvSpPr>
        <p:spPr/>
        <p:txBody>
          <a:bodyPr/>
          <a:lstStyle/>
          <a:p>
            <a:fld id="{7ECF9259-BC3E-459C-BA31-E7C743498F47}" type="datetimeFigureOut">
              <a:rPr lang="en-IN" smtClean="0"/>
              <a:t>14-08-2025</a:t>
            </a:fld>
            <a:endParaRPr lang="en-IN"/>
          </a:p>
        </p:txBody>
      </p:sp>
      <p:sp>
        <p:nvSpPr>
          <p:cNvPr id="5" name="Footer Placeholder 4">
            <a:extLst>
              <a:ext uri="{FF2B5EF4-FFF2-40B4-BE49-F238E27FC236}">
                <a16:creationId xmlns:a16="http://schemas.microsoft.com/office/drawing/2014/main" xmlns="" id="{49E29F79-0491-B96E-3BB2-C87DD22DA1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46FCFDFA-F990-78B5-6270-5A94EE627612}"/>
              </a:ext>
            </a:extLst>
          </p:cNvPr>
          <p:cNvSpPr>
            <a:spLocks noGrp="1"/>
          </p:cNvSpPr>
          <p:nvPr>
            <p:ph type="sldNum" sz="quarter" idx="12"/>
          </p:nvPr>
        </p:nvSpPr>
        <p:spPr/>
        <p:txBody>
          <a:bodyPr/>
          <a:lstStyle/>
          <a:p>
            <a:fld id="{193AD2C1-0307-4522-84D6-00794C587E0D}" type="slidenum">
              <a:rPr lang="en-IN" smtClean="0"/>
              <a:t>‹#›</a:t>
            </a:fld>
            <a:endParaRPr lang="en-IN"/>
          </a:p>
        </p:txBody>
      </p:sp>
    </p:spTree>
    <p:extLst>
      <p:ext uri="{BB962C8B-B14F-4D97-AF65-F5344CB8AC3E}">
        <p14:creationId xmlns:p14="http://schemas.microsoft.com/office/powerpoint/2010/main" val="37621973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810814B4-2EFA-8CB2-5118-9A4481AFCB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53E96CA4-792E-3F47-B2EA-49DEA1CCB7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2DBAA26D-9CF7-0749-8F93-F7655149F3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CF9259-BC3E-459C-BA31-E7C743498F47}" type="datetimeFigureOut">
              <a:rPr lang="en-IN" smtClean="0"/>
              <a:t>14-08-2025</a:t>
            </a:fld>
            <a:endParaRPr lang="en-IN"/>
          </a:p>
        </p:txBody>
      </p:sp>
      <p:sp>
        <p:nvSpPr>
          <p:cNvPr id="5" name="Footer Placeholder 4">
            <a:extLst>
              <a:ext uri="{FF2B5EF4-FFF2-40B4-BE49-F238E27FC236}">
                <a16:creationId xmlns:a16="http://schemas.microsoft.com/office/drawing/2014/main" xmlns="" id="{5ACCBBFE-67C5-BDE4-C148-7A809A59E8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F3414F38-27E5-F0A5-2751-E260A08A5F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93AD2C1-0307-4522-84D6-00794C587E0D}" type="slidenum">
              <a:rPr lang="en-IN" smtClean="0"/>
              <a:t>‹#›</a:t>
            </a:fld>
            <a:endParaRPr lang="en-IN"/>
          </a:p>
        </p:txBody>
      </p:sp>
    </p:spTree>
    <p:extLst>
      <p:ext uri="{BB962C8B-B14F-4D97-AF65-F5344CB8AC3E}">
        <p14:creationId xmlns:p14="http://schemas.microsoft.com/office/powerpoint/2010/main" val="34589744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4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7.jpeg"/></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1</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838200" y="219690"/>
            <a:ext cx="10515600"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U21ECG04</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Internet of Things and it’s Applications</a:t>
            </a:r>
            <a:endParaRPr lang="en-GB"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pic>
        <p:nvPicPr>
          <p:cNvPr id="15" name="Picture 14">
            <a:extLst>
              <a:ext uri="{FF2B5EF4-FFF2-40B4-BE49-F238E27FC236}">
                <a16:creationId xmlns:a16="http://schemas.microsoft.com/office/drawing/2014/main" xmlns="" id="{8E5E5690-46D6-6CA9-541F-9E4467A3C8E0}"/>
              </a:ext>
            </a:extLst>
          </p:cNvPr>
          <p:cNvPicPr>
            <a:picLocks noChangeAspect="1"/>
          </p:cNvPicPr>
          <p:nvPr/>
        </p:nvPicPr>
        <p:blipFill rotWithShape="1">
          <a:blip r:embed="rId3"/>
          <a:srcRect b="14715"/>
          <a:stretch/>
        </p:blipFill>
        <p:spPr>
          <a:xfrm>
            <a:off x="2251787" y="1159577"/>
            <a:ext cx="7688424" cy="5561898"/>
          </a:xfrm>
          <a:prstGeom prst="rect">
            <a:avLst/>
          </a:prstGeom>
        </p:spPr>
      </p:pic>
    </p:spTree>
    <p:extLst>
      <p:ext uri="{BB962C8B-B14F-4D97-AF65-F5344CB8AC3E}">
        <p14:creationId xmlns:p14="http://schemas.microsoft.com/office/powerpoint/2010/main" val="29321127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2</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838200" y="219690"/>
            <a:ext cx="10515600"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U21ECG04</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Internet of Things and it’s Applications</a:t>
            </a:r>
            <a:endParaRPr lang="en-GB"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20" y="1754270"/>
            <a:ext cx="12350620" cy="523220"/>
          </a:xfrm>
          <a:prstGeom prst="rect">
            <a:avLst/>
          </a:prstGeom>
          <a:noFill/>
        </p:spPr>
        <p:txBody>
          <a:bodyPr wrap="square">
            <a:spAutoFit/>
          </a:bodyPr>
          <a:lstStyle/>
          <a:p>
            <a:pPr marL="342900" marR="0" lvl="0" indent="-342900" algn="just" defTabSz="914400" rtl="0" eaLnBrk="1" fontAlgn="base" latinLnBrk="0" hangingPunct="1">
              <a:lnSpc>
                <a:spcPct val="100000"/>
              </a:lnSpc>
              <a:spcBef>
                <a:spcPct val="20000"/>
              </a:spcBef>
              <a:spcAft>
                <a:spcPct val="0"/>
              </a:spcAft>
              <a:buClr>
                <a:srgbClr val="996600"/>
              </a:buClr>
              <a:buSzTx/>
              <a:buFont typeface="Wingdings" panose="05000000000000000000" pitchFamily="2" charset="2"/>
              <a:buChar char="w"/>
              <a:tabLst/>
              <a:defRPr/>
            </a:pPr>
            <a:endParaRPr kumimoji="0" lang="en-US" altLang="en-US" sz="2800" b="0" i="0" u="none" strike="noStrike" kern="0" cap="none" spc="0" normalizeH="0" baseline="0" noProof="0" dirty="0">
              <a:ln>
                <a:noFill/>
              </a:ln>
              <a:solidFill>
                <a:srgbClr val="000000"/>
              </a:solidFill>
              <a:effectLst/>
              <a:uLnTx/>
              <a:uFillTx/>
              <a:latin typeface="Times New Roman"/>
              <a:ea typeface="+mn-ea"/>
              <a:cs typeface="+mn-cs"/>
            </a:endParaRPr>
          </a:p>
        </p:txBody>
      </p:sp>
      <p:pic>
        <p:nvPicPr>
          <p:cNvPr id="8" name="Picture 7">
            <a:extLst>
              <a:ext uri="{FF2B5EF4-FFF2-40B4-BE49-F238E27FC236}">
                <a16:creationId xmlns:a16="http://schemas.microsoft.com/office/drawing/2014/main" xmlns="" id="{C7FA4B81-C22C-1906-4CEC-B602411F6270}"/>
              </a:ext>
            </a:extLst>
          </p:cNvPr>
          <p:cNvPicPr>
            <a:picLocks noChangeAspect="1"/>
          </p:cNvPicPr>
          <p:nvPr/>
        </p:nvPicPr>
        <p:blipFill>
          <a:blip r:embed="rId3"/>
          <a:stretch>
            <a:fillRect/>
          </a:stretch>
        </p:blipFill>
        <p:spPr>
          <a:xfrm>
            <a:off x="2340440" y="1331569"/>
            <a:ext cx="8327560" cy="3179304"/>
          </a:xfrm>
          <a:prstGeom prst="rect">
            <a:avLst/>
          </a:prstGeom>
        </p:spPr>
      </p:pic>
    </p:spTree>
    <p:extLst>
      <p:ext uri="{BB962C8B-B14F-4D97-AF65-F5344CB8AC3E}">
        <p14:creationId xmlns:p14="http://schemas.microsoft.com/office/powerpoint/2010/main" val="1746008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3</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838200" y="247683"/>
            <a:ext cx="10515600"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endParaRPr lang="en-GB"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20" y="1754270"/>
            <a:ext cx="12350620" cy="523220"/>
          </a:xfrm>
          <a:prstGeom prst="rect">
            <a:avLst/>
          </a:prstGeom>
          <a:noFill/>
        </p:spPr>
        <p:txBody>
          <a:bodyPr wrap="square">
            <a:spAutoFit/>
          </a:bodyPr>
          <a:lstStyle/>
          <a:p>
            <a:pPr marL="342900" marR="0" lvl="0" indent="-342900" algn="just" defTabSz="914400" rtl="0" eaLnBrk="1" fontAlgn="base" latinLnBrk="0" hangingPunct="1">
              <a:lnSpc>
                <a:spcPct val="100000"/>
              </a:lnSpc>
              <a:spcBef>
                <a:spcPct val="20000"/>
              </a:spcBef>
              <a:spcAft>
                <a:spcPct val="0"/>
              </a:spcAft>
              <a:buClr>
                <a:srgbClr val="996600"/>
              </a:buClr>
              <a:buSzTx/>
              <a:buFont typeface="Wingdings" panose="05000000000000000000" pitchFamily="2" charset="2"/>
              <a:buChar char="w"/>
              <a:tabLst/>
              <a:defRPr/>
            </a:pPr>
            <a:endParaRPr kumimoji="0" lang="en-US" altLang="en-US" sz="2800" b="0" i="0" u="none" strike="noStrike" kern="0" cap="none" spc="0" normalizeH="0" baseline="0" noProof="0" dirty="0">
              <a:ln>
                <a:noFill/>
              </a:ln>
              <a:solidFill>
                <a:srgbClr val="000000"/>
              </a:solidFill>
              <a:effectLst/>
              <a:uLnTx/>
              <a:uFillTx/>
              <a:latin typeface="Times New Roman"/>
              <a:ea typeface="+mn-ea"/>
              <a:cs typeface="+mn-cs"/>
            </a:endParaRPr>
          </a:p>
        </p:txBody>
      </p:sp>
      <p:sp>
        <p:nvSpPr>
          <p:cNvPr id="7" name="TextBox 6">
            <a:extLst>
              <a:ext uri="{FF2B5EF4-FFF2-40B4-BE49-F238E27FC236}">
                <a16:creationId xmlns:a16="http://schemas.microsoft.com/office/drawing/2014/main" xmlns="" id="{8F0FD7BA-1379-3787-FD96-632BA4C39924}"/>
              </a:ext>
            </a:extLst>
          </p:cNvPr>
          <p:cNvSpPr txBox="1"/>
          <p:nvPr/>
        </p:nvSpPr>
        <p:spPr>
          <a:xfrm>
            <a:off x="-188168" y="1819046"/>
            <a:ext cx="12568334" cy="2031325"/>
          </a:xfrm>
          <a:prstGeom prst="rect">
            <a:avLst/>
          </a:prstGeom>
          <a:noFill/>
        </p:spPr>
        <p:txBody>
          <a:bodyPr wrap="square" rtlCol="0">
            <a:spAutoFit/>
          </a:bodyPr>
          <a:lstStyle/>
          <a:p>
            <a:pPr algn="just"/>
            <a:r>
              <a:rPr lang="en-US" sz="2100" b="1" dirty="0">
                <a:latin typeface="Times New Roman" panose="02020603050405020304" pitchFamily="18" charset="0"/>
                <a:cs typeface="Times New Roman" panose="02020603050405020304" pitchFamily="18" charset="0"/>
              </a:rPr>
              <a:t>Book: </a:t>
            </a:r>
            <a:r>
              <a:rPr lang="en-US" sz="2100" dirty="0">
                <a:latin typeface="Times New Roman" panose="02020603050405020304" pitchFamily="18" charset="0"/>
                <a:cs typeface="Times New Roman" panose="02020603050405020304" pitchFamily="18" charset="0"/>
              </a:rPr>
              <a:t>Lyla B. Das, ” Embedded Systems: An Integrated Approach”, 1st edition, Pearson Education, 2013</a:t>
            </a:r>
          </a:p>
          <a:p>
            <a:pPr algn="just"/>
            <a:r>
              <a:rPr lang="en-US" sz="2100" b="1" dirty="0">
                <a:latin typeface="Times New Roman" panose="02020603050405020304" pitchFamily="18" charset="0"/>
                <a:cs typeface="Times New Roman" panose="02020603050405020304" pitchFamily="18" charset="0"/>
              </a:rPr>
              <a:t>PDF: </a:t>
            </a:r>
            <a:r>
              <a:rPr lang="en-US" sz="2100" dirty="0">
                <a:latin typeface="Times New Roman" panose="02020603050405020304" pitchFamily="18" charset="0"/>
                <a:cs typeface="Times New Roman" panose="02020603050405020304" pitchFamily="18" charset="0"/>
              </a:rPr>
              <a:t>Book 02</a:t>
            </a:r>
          </a:p>
          <a:p>
            <a:pPr algn="just"/>
            <a:endParaRPr lang="en-US" sz="2100" b="1" dirty="0">
              <a:latin typeface="Times New Roman" panose="02020603050405020304" pitchFamily="18" charset="0"/>
              <a:cs typeface="Times New Roman" panose="02020603050405020304" pitchFamily="18" charset="0"/>
            </a:endParaRPr>
          </a:p>
          <a:p>
            <a:pPr algn="just"/>
            <a:r>
              <a:rPr lang="en-US" sz="2100" b="1" dirty="0">
                <a:latin typeface="Times New Roman" panose="02020603050405020304" pitchFamily="18" charset="0"/>
                <a:cs typeface="Times New Roman" panose="02020603050405020304" pitchFamily="18" charset="0"/>
              </a:rPr>
              <a:t>Book: </a:t>
            </a:r>
            <a:r>
              <a:rPr lang="en-US" sz="2100" dirty="0">
                <a:latin typeface="Times New Roman" panose="02020603050405020304" pitchFamily="18" charset="0"/>
                <a:cs typeface="Times New Roman" panose="02020603050405020304" pitchFamily="18" charset="0"/>
              </a:rPr>
              <a:t>Raj Kamal, “Embedded Systems Architecture, Programming and Design”, 3rd edition, McGraw-Hill Higher Education, 2017</a:t>
            </a:r>
          </a:p>
          <a:p>
            <a:pPr algn="just"/>
            <a:r>
              <a:rPr lang="en-US" sz="2100" b="1" dirty="0">
                <a:latin typeface="Times New Roman" panose="02020603050405020304" pitchFamily="18" charset="0"/>
                <a:cs typeface="Times New Roman" panose="02020603050405020304" pitchFamily="18" charset="0"/>
              </a:rPr>
              <a:t>PDF: </a:t>
            </a:r>
            <a:r>
              <a:rPr lang="en-US" sz="2100" dirty="0">
                <a:latin typeface="Times New Roman" panose="02020603050405020304" pitchFamily="18" charset="0"/>
                <a:cs typeface="Times New Roman" panose="02020603050405020304" pitchFamily="18" charset="0"/>
              </a:rPr>
              <a:t>Book 03</a:t>
            </a:r>
          </a:p>
        </p:txBody>
      </p:sp>
    </p:spTree>
    <p:extLst>
      <p:ext uri="{BB962C8B-B14F-4D97-AF65-F5344CB8AC3E}">
        <p14:creationId xmlns:p14="http://schemas.microsoft.com/office/powerpoint/2010/main" val="37381884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4</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20" y="1754270"/>
            <a:ext cx="12350620" cy="523220"/>
          </a:xfrm>
          <a:prstGeom prst="rect">
            <a:avLst/>
          </a:prstGeom>
          <a:noFill/>
        </p:spPr>
        <p:txBody>
          <a:bodyPr wrap="square">
            <a:spAutoFit/>
          </a:bodyPr>
          <a:lstStyle/>
          <a:p>
            <a:pPr marL="342900" marR="0" lvl="0" indent="-342900" algn="just" defTabSz="914400" rtl="0" eaLnBrk="1" fontAlgn="base" latinLnBrk="0" hangingPunct="1">
              <a:lnSpc>
                <a:spcPct val="100000"/>
              </a:lnSpc>
              <a:spcBef>
                <a:spcPct val="20000"/>
              </a:spcBef>
              <a:spcAft>
                <a:spcPct val="0"/>
              </a:spcAft>
              <a:buClr>
                <a:srgbClr val="996600"/>
              </a:buClr>
              <a:buSzTx/>
              <a:buFont typeface="Wingdings" panose="05000000000000000000" pitchFamily="2" charset="2"/>
              <a:buChar char="w"/>
              <a:tabLst/>
              <a:defRPr/>
            </a:pPr>
            <a:endParaRPr kumimoji="0" lang="en-US" altLang="en-US" sz="2800" b="0" i="0" u="none" strike="noStrike" kern="0" cap="none" spc="0" normalizeH="0" baseline="0" noProof="0" dirty="0">
              <a:ln>
                <a:noFill/>
              </a:ln>
              <a:solidFill>
                <a:srgbClr val="000000"/>
              </a:solidFill>
              <a:effectLst/>
              <a:uLnTx/>
              <a:uFillTx/>
              <a:latin typeface="Times New Roman"/>
              <a:ea typeface="+mn-ea"/>
              <a:cs typeface="+mn-cs"/>
            </a:endParaRPr>
          </a:p>
        </p:txBody>
      </p:sp>
      <p:sp>
        <p:nvSpPr>
          <p:cNvPr id="7" name="TextBox 6">
            <a:extLst>
              <a:ext uri="{FF2B5EF4-FFF2-40B4-BE49-F238E27FC236}">
                <a16:creationId xmlns:a16="http://schemas.microsoft.com/office/drawing/2014/main" xmlns="" id="{8F0FD7BA-1379-3787-FD96-632BA4C39924}"/>
              </a:ext>
            </a:extLst>
          </p:cNvPr>
          <p:cNvSpPr txBox="1"/>
          <p:nvPr/>
        </p:nvSpPr>
        <p:spPr>
          <a:xfrm>
            <a:off x="-188168" y="1375271"/>
            <a:ext cx="12568334" cy="4358501"/>
          </a:xfrm>
          <a:prstGeom prst="rect">
            <a:avLst/>
          </a:prstGeom>
          <a:noFill/>
        </p:spPr>
        <p:txBody>
          <a:bodyPr wrap="square" rtlCol="0">
            <a:spAutoFit/>
          </a:bodyPr>
          <a:lstStyle/>
          <a:p>
            <a:pPr marL="457200" indent="-457200" algn="just">
              <a:buAutoNum type="arabicPeriod"/>
            </a:pPr>
            <a:r>
              <a:rPr lang="en-US" sz="2100" b="1" dirty="0">
                <a:solidFill>
                  <a:srgbClr val="0070C0"/>
                </a:solidFill>
                <a:latin typeface="Times New Roman" panose="02020603050405020304" pitchFamily="18" charset="0"/>
                <a:cs typeface="Times New Roman" panose="02020603050405020304" pitchFamily="18" charset="0"/>
              </a:rPr>
              <a:t>Embedded Systems</a:t>
            </a:r>
          </a:p>
          <a:p>
            <a:pPr algn="just"/>
            <a:endParaRPr lang="en-US" sz="800" b="1" dirty="0">
              <a:latin typeface="Times New Roman" panose="02020603050405020304" pitchFamily="18" charset="0"/>
              <a:cs typeface="Times New Roman" panose="02020603050405020304" pitchFamily="18" charset="0"/>
            </a:endParaRPr>
          </a:p>
          <a:p>
            <a:pPr algn="just">
              <a:lnSpc>
                <a:spcPct val="150000"/>
              </a:lnSpc>
            </a:pPr>
            <a:r>
              <a:rPr lang="en-US" sz="2100" b="1" dirty="0">
                <a:latin typeface="Times New Roman" panose="02020603050405020304" pitchFamily="18" charset="0"/>
                <a:cs typeface="Times New Roman" panose="02020603050405020304" pitchFamily="18" charset="0"/>
              </a:rPr>
              <a:t>Definition: </a:t>
            </a:r>
            <a:r>
              <a:rPr lang="en-US" sz="2100" dirty="0">
                <a:latin typeface="Times New Roman" panose="02020603050405020304" pitchFamily="18" charset="0"/>
                <a:cs typeface="Times New Roman" panose="02020603050405020304" pitchFamily="18" charset="0"/>
              </a:rPr>
              <a:t>An embedded system is a system that has </a:t>
            </a:r>
            <a:r>
              <a:rPr lang="en-US" sz="2100" dirty="0">
                <a:solidFill>
                  <a:srgbClr val="C00000"/>
                </a:solidFill>
                <a:latin typeface="Times New Roman" panose="02020603050405020304" pitchFamily="18" charset="0"/>
                <a:cs typeface="Times New Roman" panose="02020603050405020304" pitchFamily="18" charset="0"/>
              </a:rPr>
              <a:t>embedded software and computer hardware</a:t>
            </a:r>
            <a:r>
              <a:rPr lang="en-US" sz="2100" dirty="0">
                <a:latin typeface="Times New Roman" panose="02020603050405020304" pitchFamily="18" charset="0"/>
                <a:cs typeface="Times New Roman" panose="02020603050405020304" pitchFamily="18" charset="0"/>
              </a:rPr>
              <a:t>, making it dedicated to an application or specific part of an application, product, or larger system.</a:t>
            </a:r>
          </a:p>
          <a:p>
            <a:pPr algn="just">
              <a:lnSpc>
                <a:spcPct val="150000"/>
              </a:lnSpc>
            </a:pPr>
            <a:endParaRPr lang="en-US" sz="21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Embedded Software: </a:t>
            </a:r>
            <a:r>
              <a:rPr lang="en-US" sz="2100" dirty="0">
                <a:latin typeface="Times New Roman" panose="02020603050405020304" pitchFamily="18" charset="0"/>
                <a:cs typeface="Times New Roman" panose="02020603050405020304" pitchFamily="18" charset="0"/>
              </a:rPr>
              <a:t>The specific software programs that control the system's operations and perform the dedicated tasks.</a:t>
            </a:r>
          </a:p>
          <a:p>
            <a:pPr marL="342900" indent="-342900" algn="just">
              <a:lnSpc>
                <a:spcPct val="150000"/>
              </a:lnSpc>
              <a:buFont typeface="Arial" panose="020B0604020202020204" pitchFamily="34" charset="0"/>
              <a:buChar char="•"/>
            </a:pPr>
            <a:endParaRPr lang="en-US" sz="21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Computer Hardware: </a:t>
            </a:r>
            <a:r>
              <a:rPr lang="en-US" sz="2100" dirty="0">
                <a:latin typeface="Times New Roman" panose="02020603050405020304" pitchFamily="18" charset="0"/>
                <a:cs typeface="Times New Roman" panose="02020603050405020304" pitchFamily="18" charset="0"/>
              </a:rPr>
              <a:t>The physical components, including microcontrollers or microprocessors, memory, input/output interfaces, and other necessary peripherals.</a:t>
            </a:r>
          </a:p>
        </p:txBody>
      </p:sp>
    </p:spTree>
    <p:extLst>
      <p:ext uri="{BB962C8B-B14F-4D97-AF65-F5344CB8AC3E}">
        <p14:creationId xmlns:p14="http://schemas.microsoft.com/office/powerpoint/2010/main" val="6892378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5</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20" y="1754270"/>
            <a:ext cx="12350620" cy="523220"/>
          </a:xfrm>
          <a:prstGeom prst="rect">
            <a:avLst/>
          </a:prstGeom>
          <a:noFill/>
        </p:spPr>
        <p:txBody>
          <a:bodyPr wrap="square">
            <a:spAutoFit/>
          </a:bodyPr>
          <a:lstStyle/>
          <a:p>
            <a:pPr marL="342900" marR="0" lvl="0" indent="-342900" algn="just" defTabSz="914400" rtl="0" eaLnBrk="1" fontAlgn="base" latinLnBrk="0" hangingPunct="1">
              <a:lnSpc>
                <a:spcPct val="100000"/>
              </a:lnSpc>
              <a:spcBef>
                <a:spcPct val="20000"/>
              </a:spcBef>
              <a:spcAft>
                <a:spcPct val="0"/>
              </a:spcAft>
              <a:buClr>
                <a:srgbClr val="996600"/>
              </a:buClr>
              <a:buSzTx/>
              <a:buFont typeface="Wingdings" panose="05000000000000000000" pitchFamily="2" charset="2"/>
              <a:buChar char="w"/>
              <a:tabLst/>
              <a:defRPr/>
            </a:pPr>
            <a:endParaRPr kumimoji="0" lang="en-US" altLang="en-US" sz="2800" b="0" i="0" u="none" strike="noStrike" kern="0" cap="none" spc="0" normalizeH="0" baseline="0" noProof="0" dirty="0">
              <a:ln>
                <a:noFill/>
              </a:ln>
              <a:solidFill>
                <a:srgbClr val="000000"/>
              </a:solidFill>
              <a:effectLst/>
              <a:uLnTx/>
              <a:uFillTx/>
              <a:latin typeface="Times New Roman"/>
              <a:ea typeface="+mn-ea"/>
              <a:cs typeface="+mn-cs"/>
            </a:endParaRPr>
          </a:p>
        </p:txBody>
      </p:sp>
      <p:sp>
        <p:nvSpPr>
          <p:cNvPr id="7" name="TextBox 6">
            <a:extLst>
              <a:ext uri="{FF2B5EF4-FFF2-40B4-BE49-F238E27FC236}">
                <a16:creationId xmlns:a16="http://schemas.microsoft.com/office/drawing/2014/main" xmlns="" id="{8F0FD7BA-1379-3787-FD96-632BA4C39924}"/>
              </a:ext>
            </a:extLst>
          </p:cNvPr>
          <p:cNvSpPr txBox="1"/>
          <p:nvPr/>
        </p:nvSpPr>
        <p:spPr>
          <a:xfrm>
            <a:off x="-188168" y="1375271"/>
            <a:ext cx="12568334" cy="5528052"/>
          </a:xfrm>
          <a:prstGeom prst="rect">
            <a:avLst/>
          </a:prstGeom>
          <a:noFill/>
        </p:spPr>
        <p:txBody>
          <a:bodyPr wrap="square" rtlCol="0">
            <a:spAutoFit/>
          </a:bodyPr>
          <a:lstStyle/>
          <a:p>
            <a:pPr algn="just"/>
            <a:r>
              <a:rPr lang="en-US" sz="2100" b="1" dirty="0">
                <a:solidFill>
                  <a:srgbClr val="0070C0"/>
                </a:solidFill>
                <a:latin typeface="Times New Roman" panose="02020603050405020304" pitchFamily="18" charset="0"/>
                <a:cs typeface="Times New Roman" panose="02020603050405020304" pitchFamily="18" charset="0"/>
              </a:rPr>
              <a:t>1.1 Applications of Embedded Systems</a:t>
            </a:r>
          </a:p>
          <a:p>
            <a:pPr algn="just"/>
            <a:endParaRPr lang="en-US" sz="800" b="1" dirty="0">
              <a:latin typeface="Times New Roman" panose="02020603050405020304" pitchFamily="18" charset="0"/>
              <a:cs typeface="Times New Roman" panose="02020603050405020304" pitchFamily="18" charset="0"/>
            </a:endParaRPr>
          </a:p>
          <a:p>
            <a:pPr algn="just">
              <a:lnSpc>
                <a:spcPct val="150000"/>
              </a:lnSpc>
            </a:pPr>
            <a:r>
              <a:rPr lang="en-US" sz="2100" dirty="0">
                <a:latin typeface="Times New Roman" panose="02020603050405020304" pitchFamily="18" charset="0"/>
                <a:cs typeface="Times New Roman" panose="02020603050405020304" pitchFamily="18" charset="0"/>
              </a:rPr>
              <a:t>The application domain of embedded systems percolates every element of modern life it will be easier to understand its features once we take a tour of the world of embedded systems. The following is a list: </a:t>
            </a:r>
          </a:p>
          <a:p>
            <a:pPr marL="514350" indent="-51435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Consumer electronics: </a:t>
            </a:r>
            <a:r>
              <a:rPr lang="en-US" sz="2100" dirty="0">
                <a:latin typeface="Times New Roman" panose="02020603050405020304" pitchFamily="18" charset="0"/>
                <a:cs typeface="Times New Roman" panose="02020603050405020304" pitchFamily="18" charset="0"/>
              </a:rPr>
              <a:t>Cameras, music players, TVs, DVD players, microwave ovens, washing machines, refrigerators and remote controls. </a:t>
            </a:r>
          </a:p>
          <a:p>
            <a:pPr marL="514350" indent="-51435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Household appliances/home security systems: </a:t>
            </a:r>
            <a:r>
              <a:rPr lang="en-US" sz="2100" dirty="0">
                <a:latin typeface="Times New Roman" panose="02020603050405020304" pitchFamily="18" charset="0"/>
                <a:cs typeface="Times New Roman" panose="02020603050405020304" pitchFamily="18" charset="0"/>
              </a:rPr>
              <a:t>Air conditioners, intruders and fire alarm systems. </a:t>
            </a:r>
          </a:p>
          <a:p>
            <a:pPr marL="514350" indent="-51435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Automobile controls</a:t>
            </a:r>
            <a:r>
              <a:rPr lang="en-US" sz="2100" dirty="0">
                <a:latin typeface="Times New Roman" panose="02020603050405020304" pitchFamily="18" charset="0"/>
                <a:cs typeface="Times New Roman" panose="02020603050405020304" pitchFamily="18" charset="0"/>
              </a:rPr>
              <a:t>: Anti-lock braking system, engine and transmission control, door and wiper control, etc. </a:t>
            </a:r>
          </a:p>
          <a:p>
            <a:pPr marL="514350" indent="-51435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Handheld devices: </a:t>
            </a:r>
            <a:r>
              <a:rPr lang="en-US" sz="2100" dirty="0">
                <a:latin typeface="Times New Roman" panose="02020603050405020304" pitchFamily="18" charset="0"/>
                <a:cs typeface="Times New Roman" panose="02020603050405020304" pitchFamily="18" charset="0"/>
              </a:rPr>
              <a:t>Mobile phones, PDAs, MP3 players, digicams, etc. </a:t>
            </a:r>
          </a:p>
          <a:p>
            <a:pPr marL="514350" indent="-51435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Medical </a:t>
            </a:r>
            <a:r>
              <a:rPr lang="en-US" sz="2100" b="1" dirty="0" err="1">
                <a:latin typeface="Times New Roman" panose="02020603050405020304" pitchFamily="18" charset="0"/>
                <a:cs typeface="Times New Roman" panose="02020603050405020304" pitchFamily="18" charset="0"/>
              </a:rPr>
              <a:t>equipments</a:t>
            </a:r>
            <a:r>
              <a:rPr lang="en-US" sz="2100" b="1" dirty="0">
                <a:latin typeface="Times New Roman" panose="02020603050405020304" pitchFamily="18" charset="0"/>
                <a:cs typeface="Times New Roman" panose="02020603050405020304" pitchFamily="18" charset="0"/>
              </a:rPr>
              <a:t>: </a:t>
            </a:r>
            <a:r>
              <a:rPr lang="en-US" sz="2100" dirty="0">
                <a:latin typeface="Times New Roman" panose="02020603050405020304" pitchFamily="18" charset="0"/>
                <a:cs typeface="Times New Roman" panose="02020603050405020304" pitchFamily="18" charset="0"/>
              </a:rPr>
              <a:t>Scanners, ECG and EEG units, testing and monitoring </a:t>
            </a:r>
            <a:r>
              <a:rPr lang="en-US" sz="2100" dirty="0" err="1">
                <a:latin typeface="Times New Roman" panose="02020603050405020304" pitchFamily="18" charset="0"/>
                <a:cs typeface="Times New Roman" panose="02020603050405020304" pitchFamily="18" charset="0"/>
              </a:rPr>
              <a:t>equipments</a:t>
            </a:r>
            <a:r>
              <a:rPr lang="en-US" sz="2100" dirty="0">
                <a:latin typeface="Times New Roman" panose="02020603050405020304" pitchFamily="18" charset="0"/>
                <a:cs typeface="Times New Roman" panose="02020603050405020304" pitchFamily="18" charset="0"/>
              </a:rPr>
              <a:t>. </a:t>
            </a:r>
          </a:p>
          <a:p>
            <a:pPr marL="514350" indent="-51435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Banking: </a:t>
            </a:r>
            <a:r>
              <a:rPr lang="en-US" sz="2100" dirty="0">
                <a:latin typeface="Times New Roman" panose="02020603050405020304" pitchFamily="18" charset="0"/>
                <a:cs typeface="Times New Roman" panose="02020603050405020304" pitchFamily="18" charset="0"/>
              </a:rPr>
              <a:t>ATMs, currency counters, etc. </a:t>
            </a:r>
          </a:p>
          <a:p>
            <a:pPr marL="514350" indent="-51435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Computer peripherals: </a:t>
            </a:r>
            <a:r>
              <a:rPr lang="en-US" sz="2100" dirty="0">
                <a:latin typeface="Times New Roman" panose="02020603050405020304" pitchFamily="18" charset="0"/>
                <a:cs typeface="Times New Roman" panose="02020603050405020304" pitchFamily="18" charset="0"/>
              </a:rPr>
              <a:t>Printers, scanners, webcams, etc.</a:t>
            </a:r>
          </a:p>
        </p:txBody>
      </p:sp>
    </p:spTree>
    <p:extLst>
      <p:ext uri="{BB962C8B-B14F-4D97-AF65-F5344CB8AC3E}">
        <p14:creationId xmlns:p14="http://schemas.microsoft.com/office/powerpoint/2010/main" val="7118945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6</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20" y="1754270"/>
            <a:ext cx="12350620" cy="523220"/>
          </a:xfrm>
          <a:prstGeom prst="rect">
            <a:avLst/>
          </a:prstGeom>
          <a:noFill/>
        </p:spPr>
        <p:txBody>
          <a:bodyPr wrap="square">
            <a:spAutoFit/>
          </a:bodyPr>
          <a:lstStyle/>
          <a:p>
            <a:pPr marL="342900" marR="0" lvl="0" indent="-342900" algn="just" defTabSz="914400" rtl="0" eaLnBrk="1" fontAlgn="base" latinLnBrk="0" hangingPunct="1">
              <a:lnSpc>
                <a:spcPct val="100000"/>
              </a:lnSpc>
              <a:spcBef>
                <a:spcPct val="20000"/>
              </a:spcBef>
              <a:spcAft>
                <a:spcPct val="0"/>
              </a:spcAft>
              <a:buClr>
                <a:srgbClr val="996600"/>
              </a:buClr>
              <a:buSzTx/>
              <a:buFont typeface="Wingdings" panose="05000000000000000000" pitchFamily="2" charset="2"/>
              <a:buChar char="w"/>
              <a:tabLst/>
              <a:defRPr/>
            </a:pPr>
            <a:endParaRPr kumimoji="0" lang="en-US" altLang="en-US" sz="2800" b="0" i="0" u="none" strike="noStrike" kern="0" cap="none" spc="0" normalizeH="0" baseline="0" noProof="0" dirty="0">
              <a:ln>
                <a:noFill/>
              </a:ln>
              <a:solidFill>
                <a:srgbClr val="000000"/>
              </a:solidFill>
              <a:effectLst/>
              <a:uLnTx/>
              <a:uFillTx/>
              <a:latin typeface="Times New Roman"/>
              <a:ea typeface="+mn-ea"/>
              <a:cs typeface="+mn-cs"/>
            </a:endParaRPr>
          </a:p>
        </p:txBody>
      </p:sp>
      <p:sp>
        <p:nvSpPr>
          <p:cNvPr id="7" name="TextBox 6">
            <a:extLst>
              <a:ext uri="{FF2B5EF4-FFF2-40B4-BE49-F238E27FC236}">
                <a16:creationId xmlns:a16="http://schemas.microsoft.com/office/drawing/2014/main" xmlns="" id="{8F0FD7BA-1379-3787-FD96-632BA4C39924}"/>
              </a:ext>
            </a:extLst>
          </p:cNvPr>
          <p:cNvSpPr txBox="1"/>
          <p:nvPr/>
        </p:nvSpPr>
        <p:spPr>
          <a:xfrm>
            <a:off x="-188168" y="1375271"/>
            <a:ext cx="12568334" cy="2962349"/>
          </a:xfrm>
          <a:prstGeom prst="rect">
            <a:avLst/>
          </a:prstGeom>
          <a:noFill/>
        </p:spPr>
        <p:txBody>
          <a:bodyPr wrap="square" rtlCol="0">
            <a:spAutoFit/>
          </a:bodyPr>
          <a:lstStyle/>
          <a:p>
            <a:pPr algn="just"/>
            <a:r>
              <a:rPr lang="en-US" sz="2100" b="1" dirty="0">
                <a:solidFill>
                  <a:srgbClr val="0070C0"/>
                </a:solidFill>
                <a:latin typeface="Times New Roman" panose="02020603050405020304" pitchFamily="18" charset="0"/>
                <a:cs typeface="Times New Roman" panose="02020603050405020304" pitchFamily="18" charset="0"/>
              </a:rPr>
              <a:t>1.1 Applications of Embedded Systems</a:t>
            </a:r>
          </a:p>
          <a:p>
            <a:pPr algn="just"/>
            <a:endParaRPr lang="en-US" sz="800" b="1"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Networking: </a:t>
            </a:r>
            <a:r>
              <a:rPr lang="en-US" sz="2100" dirty="0">
                <a:latin typeface="Times New Roman" panose="02020603050405020304" pitchFamily="18" charset="0"/>
                <a:cs typeface="Times New Roman" panose="02020603050405020304" pitchFamily="18" charset="0"/>
              </a:rPr>
              <a:t>Routers, switches, hubs, etc. </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Factories: </a:t>
            </a:r>
            <a:r>
              <a:rPr lang="en-US" sz="2100" dirty="0">
                <a:latin typeface="Times New Roman" panose="02020603050405020304" pitchFamily="18" charset="0"/>
                <a:cs typeface="Times New Roman" panose="02020603050405020304" pitchFamily="18" charset="0"/>
              </a:rPr>
              <a:t>Control, automation, instrumentation and alarm systems. </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Aviation: </a:t>
            </a:r>
            <a:r>
              <a:rPr lang="en-US" sz="2100" dirty="0">
                <a:latin typeface="Times New Roman" panose="02020603050405020304" pitchFamily="18" charset="0"/>
                <a:cs typeface="Times New Roman" panose="02020603050405020304" pitchFamily="18" charset="0"/>
              </a:rPr>
              <a:t>Airplane controls, guidance and instrumentation systems. </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Military: </a:t>
            </a:r>
            <a:r>
              <a:rPr lang="en-US" sz="2100" dirty="0">
                <a:latin typeface="Times New Roman" panose="02020603050405020304" pitchFamily="18" charset="0"/>
                <a:cs typeface="Times New Roman" panose="02020603050405020304" pitchFamily="18" charset="0"/>
              </a:rPr>
              <a:t>Control and monitoring of military </a:t>
            </a:r>
            <a:r>
              <a:rPr lang="en-US" sz="2100" dirty="0" smtClean="0">
                <a:latin typeface="Times New Roman" panose="02020603050405020304" pitchFamily="18" charset="0"/>
                <a:cs typeface="Times New Roman" panose="02020603050405020304" pitchFamily="18" charset="0"/>
              </a:rPr>
              <a:t>equipment's. </a:t>
            </a:r>
            <a:endParaRPr lang="en-US" sz="21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Robotics: </a:t>
            </a:r>
            <a:r>
              <a:rPr lang="en-US" sz="2100" dirty="0">
                <a:latin typeface="Times New Roman" panose="02020603050405020304" pitchFamily="18" charset="0"/>
                <a:cs typeface="Times New Roman" panose="02020603050405020304" pitchFamily="18" charset="0"/>
              </a:rPr>
              <a:t>Used in factories, household, toys and hobby-related activities.</a:t>
            </a:r>
          </a:p>
        </p:txBody>
      </p:sp>
    </p:spTree>
    <p:extLst>
      <p:ext uri="{BB962C8B-B14F-4D97-AF65-F5344CB8AC3E}">
        <p14:creationId xmlns:p14="http://schemas.microsoft.com/office/powerpoint/2010/main" val="28735612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7</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20" y="1754270"/>
            <a:ext cx="12350620" cy="523220"/>
          </a:xfrm>
          <a:prstGeom prst="rect">
            <a:avLst/>
          </a:prstGeom>
          <a:noFill/>
        </p:spPr>
        <p:txBody>
          <a:bodyPr wrap="square">
            <a:spAutoFit/>
          </a:bodyPr>
          <a:lstStyle/>
          <a:p>
            <a:pPr marL="342900" marR="0" lvl="0" indent="-342900" algn="just" defTabSz="914400" rtl="0" eaLnBrk="1" fontAlgn="base" latinLnBrk="0" hangingPunct="1">
              <a:lnSpc>
                <a:spcPct val="100000"/>
              </a:lnSpc>
              <a:spcBef>
                <a:spcPct val="20000"/>
              </a:spcBef>
              <a:spcAft>
                <a:spcPct val="0"/>
              </a:spcAft>
              <a:buClr>
                <a:srgbClr val="996600"/>
              </a:buClr>
              <a:buSzTx/>
              <a:buFont typeface="Wingdings" panose="05000000000000000000" pitchFamily="2" charset="2"/>
              <a:buChar char="w"/>
              <a:tabLst/>
              <a:defRPr/>
            </a:pPr>
            <a:endParaRPr kumimoji="0" lang="en-US" altLang="en-US" sz="2800" b="0" i="0" u="none" strike="noStrike" kern="0" cap="none" spc="0" normalizeH="0" baseline="0" noProof="0" dirty="0">
              <a:ln>
                <a:noFill/>
              </a:ln>
              <a:solidFill>
                <a:srgbClr val="000000"/>
              </a:solidFill>
              <a:effectLst/>
              <a:uLnTx/>
              <a:uFillTx/>
              <a:latin typeface="Times New Roman"/>
              <a:ea typeface="+mn-ea"/>
              <a:cs typeface="+mn-cs"/>
            </a:endParaRPr>
          </a:p>
        </p:txBody>
      </p:sp>
      <p:sp>
        <p:nvSpPr>
          <p:cNvPr id="7" name="TextBox 6">
            <a:extLst>
              <a:ext uri="{FF2B5EF4-FFF2-40B4-BE49-F238E27FC236}">
                <a16:creationId xmlns:a16="http://schemas.microsoft.com/office/drawing/2014/main" xmlns="" id="{8F0FD7BA-1379-3787-FD96-632BA4C39924}"/>
              </a:ext>
            </a:extLst>
          </p:cNvPr>
          <p:cNvSpPr txBox="1"/>
          <p:nvPr/>
        </p:nvSpPr>
        <p:spPr>
          <a:xfrm>
            <a:off x="-188168" y="1375271"/>
            <a:ext cx="12568334" cy="4358501"/>
          </a:xfrm>
          <a:prstGeom prst="rect">
            <a:avLst/>
          </a:prstGeom>
          <a:noFill/>
        </p:spPr>
        <p:txBody>
          <a:bodyPr wrap="square" rtlCol="0">
            <a:spAutoFit/>
          </a:bodyPr>
          <a:lstStyle/>
          <a:p>
            <a:pPr algn="just"/>
            <a:r>
              <a:rPr lang="en-US" sz="2100" b="1" dirty="0">
                <a:solidFill>
                  <a:srgbClr val="0070C0"/>
                </a:solidFill>
                <a:latin typeface="Times New Roman" panose="02020603050405020304" pitchFamily="18" charset="0"/>
                <a:cs typeface="Times New Roman" panose="02020603050405020304" pitchFamily="18" charset="0"/>
              </a:rPr>
              <a:t>2. Features &amp; Characteristics of Embedded Systems</a:t>
            </a:r>
          </a:p>
          <a:p>
            <a:pPr algn="just"/>
            <a:endParaRPr lang="en-US" sz="800" b="1"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It should have one or a small set of functions which it is expected to perform efficiently.</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It should be designed for low-power dissipation, because many systems are battery powered.</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It has limited memory and limited number of peripherals.</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Applications are not meant to be alterable by the user.</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Many of them are not accessible directly, that is, they may be part of the control unit of a larger system, so no interference in operation is possible.</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They need to be highly reliable.</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Many of them need to operate with time constraints.</a:t>
            </a:r>
          </a:p>
        </p:txBody>
      </p:sp>
    </p:spTree>
    <p:extLst>
      <p:ext uri="{BB962C8B-B14F-4D97-AF65-F5344CB8AC3E}">
        <p14:creationId xmlns:p14="http://schemas.microsoft.com/office/powerpoint/2010/main" val="6262031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8</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20" y="1754270"/>
            <a:ext cx="12350620" cy="523220"/>
          </a:xfrm>
          <a:prstGeom prst="rect">
            <a:avLst/>
          </a:prstGeom>
          <a:noFill/>
        </p:spPr>
        <p:txBody>
          <a:bodyPr wrap="square">
            <a:spAutoFit/>
          </a:bodyPr>
          <a:lstStyle/>
          <a:p>
            <a:pPr marL="342900" marR="0" lvl="0" indent="-342900" algn="just" defTabSz="914400" rtl="0" eaLnBrk="1" fontAlgn="base" latinLnBrk="0" hangingPunct="1">
              <a:lnSpc>
                <a:spcPct val="100000"/>
              </a:lnSpc>
              <a:spcBef>
                <a:spcPct val="20000"/>
              </a:spcBef>
              <a:spcAft>
                <a:spcPct val="0"/>
              </a:spcAft>
              <a:buClr>
                <a:srgbClr val="996600"/>
              </a:buClr>
              <a:buSzTx/>
              <a:buFont typeface="Wingdings" panose="05000000000000000000" pitchFamily="2" charset="2"/>
              <a:buChar char="w"/>
              <a:tabLst/>
              <a:defRPr/>
            </a:pPr>
            <a:endParaRPr kumimoji="0" lang="en-US" altLang="en-US" sz="2800" b="0" i="0" u="none" strike="noStrike" kern="0" cap="none" spc="0" normalizeH="0" baseline="0" noProof="0" dirty="0">
              <a:ln>
                <a:noFill/>
              </a:ln>
              <a:solidFill>
                <a:srgbClr val="000000"/>
              </a:solidFill>
              <a:effectLst/>
              <a:uLnTx/>
              <a:uFillTx/>
              <a:latin typeface="Times New Roman"/>
              <a:ea typeface="+mn-ea"/>
              <a:cs typeface="+mn-cs"/>
            </a:endParaRPr>
          </a:p>
        </p:txBody>
      </p:sp>
      <p:sp>
        <p:nvSpPr>
          <p:cNvPr id="7" name="TextBox 6">
            <a:extLst>
              <a:ext uri="{FF2B5EF4-FFF2-40B4-BE49-F238E27FC236}">
                <a16:creationId xmlns:a16="http://schemas.microsoft.com/office/drawing/2014/main" xmlns="" id="{8F0FD7BA-1379-3787-FD96-632BA4C39924}"/>
              </a:ext>
            </a:extLst>
          </p:cNvPr>
          <p:cNvSpPr txBox="1"/>
          <p:nvPr/>
        </p:nvSpPr>
        <p:spPr>
          <a:xfrm>
            <a:off x="-188168" y="1375271"/>
            <a:ext cx="12568334" cy="3873753"/>
          </a:xfrm>
          <a:prstGeom prst="rect">
            <a:avLst/>
          </a:prstGeom>
          <a:noFill/>
        </p:spPr>
        <p:txBody>
          <a:bodyPr wrap="square" rtlCol="0">
            <a:spAutoFit/>
          </a:bodyPr>
          <a:lstStyle/>
          <a:p>
            <a:pPr algn="just"/>
            <a:r>
              <a:rPr lang="en-US" sz="2100" b="1" dirty="0">
                <a:solidFill>
                  <a:srgbClr val="0070C0"/>
                </a:solidFill>
                <a:latin typeface="Times New Roman" panose="02020603050405020304" pitchFamily="18" charset="0"/>
                <a:cs typeface="Times New Roman" panose="02020603050405020304" pitchFamily="18" charset="0"/>
              </a:rPr>
              <a:t>2.1 Constraints of Embedded Systems</a:t>
            </a:r>
          </a:p>
          <a:p>
            <a:endParaRPr lang="en-US" sz="800" dirty="0">
              <a:latin typeface="Times New Roman" panose="02020603050405020304" pitchFamily="18" charset="0"/>
              <a:cs typeface="Times New Roman" panose="02020603050405020304" pitchFamily="18" charset="0"/>
            </a:endParaRPr>
          </a:p>
          <a:p>
            <a:pPr>
              <a:lnSpc>
                <a:spcPct val="150000"/>
              </a:lnSpc>
            </a:pPr>
            <a:r>
              <a:rPr lang="en-US" sz="2100" dirty="0">
                <a:latin typeface="Times New Roman" panose="02020603050405020304" pitchFamily="18" charset="0"/>
                <a:cs typeface="Times New Roman" panose="02020603050405020304" pitchFamily="18" charset="0"/>
              </a:rPr>
              <a:t>An embedded system is designed with three main constraints in mind:</a:t>
            </a:r>
          </a:p>
          <a:p>
            <a:pPr marL="800100" lvl="1" indent="-342900">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Available System Memory</a:t>
            </a:r>
            <a:endParaRPr lang="en-US" sz="2100" dirty="0">
              <a:latin typeface="Times New Roman" panose="02020603050405020304" pitchFamily="18" charset="0"/>
              <a:cs typeface="Times New Roman" panose="02020603050405020304" pitchFamily="18" charset="0"/>
            </a:endParaRPr>
          </a:p>
          <a:p>
            <a:pPr marL="800100" lvl="1" indent="-342900">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Available Processor Speed</a:t>
            </a:r>
            <a:endParaRPr lang="en-US" sz="2100" dirty="0">
              <a:latin typeface="Times New Roman" panose="02020603050405020304" pitchFamily="18" charset="0"/>
              <a:cs typeface="Times New Roman" panose="02020603050405020304" pitchFamily="18" charset="0"/>
            </a:endParaRPr>
          </a:p>
          <a:p>
            <a:pPr marL="800100" lvl="1" indent="-342900">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Need to Limit Power Dissipation</a:t>
            </a:r>
            <a:r>
              <a:rPr lang="en-US" sz="2100" dirty="0">
                <a:latin typeface="Times New Roman" panose="02020603050405020304" pitchFamily="18" charset="0"/>
                <a:cs typeface="Times New Roman" panose="02020603050405020304" pitchFamily="18" charset="0"/>
              </a:rPr>
              <a:t>: This is crucial when the system runs continuously in cycles of 'wait for events', 'run', 'stop', 'wake-up', and 'sleep'.</a:t>
            </a:r>
          </a:p>
          <a:p>
            <a:pPr>
              <a:lnSpc>
                <a:spcPct val="150000"/>
              </a:lnSpc>
            </a:pPr>
            <a:r>
              <a:rPr lang="en-US" sz="2100" dirty="0">
                <a:latin typeface="Times New Roman" panose="02020603050405020304" pitchFamily="18" charset="0"/>
                <a:cs typeface="Times New Roman" panose="02020603050405020304" pitchFamily="18" charset="0"/>
              </a:rPr>
              <a:t>The system design of an embedded system also has constraints regarding performance, power, size, and design and manufacturing costs.</a:t>
            </a:r>
          </a:p>
        </p:txBody>
      </p:sp>
    </p:spTree>
    <p:extLst>
      <p:ext uri="{BB962C8B-B14F-4D97-AF65-F5344CB8AC3E}">
        <p14:creationId xmlns:p14="http://schemas.microsoft.com/office/powerpoint/2010/main" val="19329145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9</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608"/>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20" y="1754270"/>
            <a:ext cx="12350620" cy="523220"/>
          </a:xfrm>
          <a:prstGeom prst="rect">
            <a:avLst/>
          </a:prstGeom>
          <a:noFill/>
        </p:spPr>
        <p:txBody>
          <a:bodyPr wrap="square">
            <a:spAutoFit/>
          </a:bodyPr>
          <a:lstStyle/>
          <a:p>
            <a:pPr marL="342900" marR="0" lvl="0" indent="-342900" algn="just" defTabSz="914400" rtl="0" eaLnBrk="1" fontAlgn="base" latinLnBrk="0" hangingPunct="1">
              <a:lnSpc>
                <a:spcPct val="100000"/>
              </a:lnSpc>
              <a:spcBef>
                <a:spcPct val="20000"/>
              </a:spcBef>
              <a:spcAft>
                <a:spcPct val="0"/>
              </a:spcAft>
              <a:buClr>
                <a:srgbClr val="996600"/>
              </a:buClr>
              <a:buSzTx/>
              <a:buFont typeface="Wingdings" panose="05000000000000000000" pitchFamily="2" charset="2"/>
              <a:buChar char="w"/>
              <a:tabLst/>
              <a:defRPr/>
            </a:pPr>
            <a:endParaRPr kumimoji="0" lang="en-US" altLang="en-US" sz="2800" b="0" i="0" u="none" strike="noStrike" kern="0" cap="none" spc="0" normalizeH="0" baseline="0" noProof="0" dirty="0">
              <a:ln>
                <a:noFill/>
              </a:ln>
              <a:solidFill>
                <a:srgbClr val="000000"/>
              </a:solidFill>
              <a:effectLst/>
              <a:uLnTx/>
              <a:uFillTx/>
              <a:latin typeface="Times New Roman"/>
              <a:ea typeface="+mn-ea"/>
              <a:cs typeface="+mn-cs"/>
            </a:endParaRPr>
          </a:p>
        </p:txBody>
      </p:sp>
      <p:sp>
        <p:nvSpPr>
          <p:cNvPr id="7" name="TextBox 6">
            <a:extLst>
              <a:ext uri="{FF2B5EF4-FFF2-40B4-BE49-F238E27FC236}">
                <a16:creationId xmlns:a16="http://schemas.microsoft.com/office/drawing/2014/main" xmlns="" id="{8F0FD7BA-1379-3787-FD96-632BA4C39924}"/>
              </a:ext>
            </a:extLst>
          </p:cNvPr>
          <p:cNvSpPr txBox="1"/>
          <p:nvPr/>
        </p:nvSpPr>
        <p:spPr>
          <a:xfrm>
            <a:off x="-188168" y="1272630"/>
            <a:ext cx="7260772" cy="5528052"/>
          </a:xfrm>
          <a:prstGeom prst="rect">
            <a:avLst/>
          </a:prstGeom>
          <a:noFill/>
        </p:spPr>
        <p:txBody>
          <a:bodyPr wrap="square" rtlCol="0">
            <a:spAutoFit/>
          </a:bodyPr>
          <a:lstStyle/>
          <a:p>
            <a:pPr algn="just"/>
            <a:r>
              <a:rPr lang="en-US" sz="2100" b="1" dirty="0">
                <a:solidFill>
                  <a:srgbClr val="0070C0"/>
                </a:solidFill>
                <a:latin typeface="Times New Roman" panose="02020603050405020304" pitchFamily="18" charset="0"/>
                <a:cs typeface="Times New Roman" panose="02020603050405020304" pitchFamily="18" charset="0"/>
              </a:rPr>
              <a:t>2.2 Model of an Embedded System</a:t>
            </a:r>
          </a:p>
          <a:p>
            <a:pPr algn="just"/>
            <a:endParaRPr lang="en-US" sz="800" dirty="0">
              <a:latin typeface="Times New Roman" panose="02020603050405020304" pitchFamily="18" charset="0"/>
              <a:cs typeface="Times New Roman" panose="02020603050405020304" pitchFamily="18" charset="0"/>
            </a:endParaRPr>
          </a:p>
          <a:p>
            <a:pPr algn="just">
              <a:lnSpc>
                <a:spcPct val="150000"/>
              </a:lnSpc>
            </a:pPr>
            <a:r>
              <a:rPr lang="en-US" sz="2100" dirty="0">
                <a:latin typeface="Times New Roman" panose="02020603050405020304" pitchFamily="18" charset="0"/>
                <a:cs typeface="Times New Roman" panose="02020603050405020304" pitchFamily="18" charset="0"/>
              </a:rPr>
              <a:t>An embedded system is a specialized computing system designed to perform specific tasks. At its core, it has four main components:</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Processor: </a:t>
            </a:r>
            <a:r>
              <a:rPr lang="en-US" sz="2100" dirty="0">
                <a:latin typeface="Times New Roman" panose="02020603050405020304" pitchFamily="18" charset="0"/>
                <a:cs typeface="Times New Roman" panose="02020603050405020304" pitchFamily="18" charset="0"/>
              </a:rPr>
              <a:t>The central part of the system that handles calculations and executes instructions. It processes the data received from sensors and makes decisions based on that data.</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Sensors: </a:t>
            </a:r>
            <a:r>
              <a:rPr lang="en-US" sz="2100" dirty="0">
                <a:latin typeface="Times New Roman" panose="02020603050405020304" pitchFamily="18" charset="0"/>
                <a:cs typeface="Times New Roman" panose="02020603050405020304" pitchFamily="18" charset="0"/>
              </a:rPr>
              <a:t>These are devices that collect data from the environment. For example, a temperature sensor measures temperature, or a camera captures images. The sensors provide the input data that the system needs to function.</a:t>
            </a:r>
          </a:p>
        </p:txBody>
      </p:sp>
      <p:pic>
        <p:nvPicPr>
          <p:cNvPr id="13" name="Picture 12">
            <a:extLst>
              <a:ext uri="{FF2B5EF4-FFF2-40B4-BE49-F238E27FC236}">
                <a16:creationId xmlns:a16="http://schemas.microsoft.com/office/drawing/2014/main" xmlns="" id="{CE663575-D701-3C78-F17C-1CE3934825C9}"/>
              </a:ext>
            </a:extLst>
          </p:cNvPr>
          <p:cNvPicPr>
            <a:picLocks noChangeAspect="1"/>
          </p:cNvPicPr>
          <p:nvPr/>
        </p:nvPicPr>
        <p:blipFill>
          <a:blip r:embed="rId3"/>
          <a:stretch>
            <a:fillRect/>
          </a:stretch>
        </p:blipFill>
        <p:spPr>
          <a:xfrm>
            <a:off x="7313721" y="2052901"/>
            <a:ext cx="4452181" cy="4025727"/>
          </a:xfrm>
          <a:prstGeom prst="rect">
            <a:avLst/>
          </a:prstGeom>
        </p:spPr>
      </p:pic>
    </p:spTree>
    <p:extLst>
      <p:ext uri="{BB962C8B-B14F-4D97-AF65-F5344CB8AC3E}">
        <p14:creationId xmlns:p14="http://schemas.microsoft.com/office/powerpoint/2010/main" val="36022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10</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20" y="1754270"/>
            <a:ext cx="12350620" cy="523220"/>
          </a:xfrm>
          <a:prstGeom prst="rect">
            <a:avLst/>
          </a:prstGeom>
          <a:noFill/>
        </p:spPr>
        <p:txBody>
          <a:bodyPr wrap="square">
            <a:spAutoFit/>
          </a:bodyPr>
          <a:lstStyle/>
          <a:p>
            <a:pPr marL="342900" marR="0" lvl="0" indent="-342900" algn="just" defTabSz="914400" rtl="0" eaLnBrk="1" fontAlgn="base" latinLnBrk="0" hangingPunct="1">
              <a:lnSpc>
                <a:spcPct val="100000"/>
              </a:lnSpc>
              <a:spcBef>
                <a:spcPct val="20000"/>
              </a:spcBef>
              <a:spcAft>
                <a:spcPct val="0"/>
              </a:spcAft>
              <a:buClr>
                <a:srgbClr val="996600"/>
              </a:buClr>
              <a:buSzTx/>
              <a:buFont typeface="Wingdings" panose="05000000000000000000" pitchFamily="2" charset="2"/>
              <a:buChar char="w"/>
              <a:tabLst/>
              <a:defRPr/>
            </a:pPr>
            <a:endParaRPr kumimoji="0" lang="en-US" altLang="en-US" sz="2800" b="0" i="0" u="none" strike="noStrike" kern="0" cap="none" spc="0" normalizeH="0" baseline="0" noProof="0" dirty="0">
              <a:ln>
                <a:noFill/>
              </a:ln>
              <a:solidFill>
                <a:srgbClr val="000000"/>
              </a:solidFill>
              <a:effectLst/>
              <a:uLnTx/>
              <a:uFillTx/>
              <a:latin typeface="Times New Roman"/>
              <a:ea typeface="+mn-ea"/>
              <a:cs typeface="+mn-cs"/>
            </a:endParaRPr>
          </a:p>
        </p:txBody>
      </p:sp>
      <p:sp>
        <p:nvSpPr>
          <p:cNvPr id="7" name="TextBox 6">
            <a:extLst>
              <a:ext uri="{FF2B5EF4-FFF2-40B4-BE49-F238E27FC236}">
                <a16:creationId xmlns:a16="http://schemas.microsoft.com/office/drawing/2014/main" xmlns="" id="{8F0FD7BA-1379-3787-FD96-632BA4C39924}"/>
              </a:ext>
            </a:extLst>
          </p:cNvPr>
          <p:cNvSpPr txBox="1"/>
          <p:nvPr/>
        </p:nvSpPr>
        <p:spPr>
          <a:xfrm>
            <a:off x="-188168" y="1375271"/>
            <a:ext cx="6756902" cy="5528052"/>
          </a:xfrm>
          <a:prstGeom prst="rect">
            <a:avLst/>
          </a:prstGeom>
          <a:noFill/>
        </p:spPr>
        <p:txBody>
          <a:bodyPr wrap="square" rtlCol="0">
            <a:spAutoFit/>
          </a:bodyPr>
          <a:lstStyle/>
          <a:p>
            <a:pPr algn="just"/>
            <a:r>
              <a:rPr lang="en-US" sz="2100" b="1" dirty="0">
                <a:solidFill>
                  <a:srgbClr val="0070C0"/>
                </a:solidFill>
                <a:latin typeface="Times New Roman" panose="02020603050405020304" pitchFamily="18" charset="0"/>
                <a:cs typeface="Times New Roman" panose="02020603050405020304" pitchFamily="18" charset="0"/>
              </a:rPr>
              <a:t>2.2 Model of an Embedded System</a:t>
            </a:r>
          </a:p>
          <a:p>
            <a:endParaRPr lang="en-US" sz="8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Actuators: </a:t>
            </a:r>
            <a:r>
              <a:rPr lang="en-US" sz="2100" dirty="0">
                <a:latin typeface="Times New Roman" panose="02020603050405020304" pitchFamily="18" charset="0"/>
                <a:cs typeface="Times New Roman" panose="02020603050405020304" pitchFamily="18" charset="0"/>
              </a:rPr>
              <a:t>These are components that perform actions based on the processor’s instructions. For example, if a sensor detects that a room is too hot, the actuator might turn on a fan to cool the room. Actuators convert the processed data into physical actions.</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Memory: </a:t>
            </a:r>
            <a:r>
              <a:rPr lang="en-US" sz="2100" dirty="0">
                <a:latin typeface="Times New Roman" panose="02020603050405020304" pitchFamily="18" charset="0"/>
                <a:cs typeface="Times New Roman" panose="02020603050405020304" pitchFamily="18" charset="0"/>
              </a:rPr>
              <a:t>This is used to store both the data from sensors and the instructions for the processor. It holds the program that controls how the system operates and processes the data.</a:t>
            </a:r>
          </a:p>
          <a:p>
            <a:pPr marL="342900" indent="-342900">
              <a:lnSpc>
                <a:spcPct val="150000"/>
              </a:lnSpc>
              <a:buFont typeface="Arial" panose="020B0604020202020204" pitchFamily="34" charset="0"/>
              <a:buChar char="•"/>
            </a:pPr>
            <a:endParaRPr lang="en-US" sz="21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xmlns="" id="{34A29B16-29E5-C90E-8DB6-3493AA32AA0E}"/>
              </a:ext>
            </a:extLst>
          </p:cNvPr>
          <p:cNvPicPr>
            <a:picLocks noChangeAspect="1"/>
          </p:cNvPicPr>
          <p:nvPr/>
        </p:nvPicPr>
        <p:blipFill>
          <a:blip r:embed="rId3"/>
          <a:stretch>
            <a:fillRect/>
          </a:stretch>
        </p:blipFill>
        <p:spPr>
          <a:xfrm>
            <a:off x="6859576" y="1975934"/>
            <a:ext cx="4785066" cy="4326726"/>
          </a:xfrm>
          <a:prstGeom prst="rect">
            <a:avLst/>
          </a:prstGeom>
        </p:spPr>
      </p:pic>
    </p:spTree>
    <p:extLst>
      <p:ext uri="{BB962C8B-B14F-4D97-AF65-F5344CB8AC3E}">
        <p14:creationId xmlns:p14="http://schemas.microsoft.com/office/powerpoint/2010/main" val="8746111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11</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20" y="1754270"/>
            <a:ext cx="12350620" cy="523220"/>
          </a:xfrm>
          <a:prstGeom prst="rect">
            <a:avLst/>
          </a:prstGeom>
          <a:noFill/>
        </p:spPr>
        <p:txBody>
          <a:bodyPr wrap="square">
            <a:spAutoFit/>
          </a:bodyPr>
          <a:lstStyle/>
          <a:p>
            <a:pPr marL="342900" marR="0" lvl="0" indent="-342900" algn="just" defTabSz="914400" rtl="0" eaLnBrk="1" fontAlgn="base" latinLnBrk="0" hangingPunct="1">
              <a:lnSpc>
                <a:spcPct val="100000"/>
              </a:lnSpc>
              <a:spcBef>
                <a:spcPct val="20000"/>
              </a:spcBef>
              <a:spcAft>
                <a:spcPct val="0"/>
              </a:spcAft>
              <a:buClr>
                <a:srgbClr val="996600"/>
              </a:buClr>
              <a:buSzTx/>
              <a:buFont typeface="Wingdings" panose="05000000000000000000" pitchFamily="2" charset="2"/>
              <a:buChar char="w"/>
              <a:tabLst/>
              <a:defRPr/>
            </a:pPr>
            <a:endParaRPr kumimoji="0" lang="en-US" altLang="en-US" sz="2800" b="0" i="0" u="none" strike="noStrike" kern="0" cap="none" spc="0" normalizeH="0" baseline="0" noProof="0" dirty="0">
              <a:ln>
                <a:noFill/>
              </a:ln>
              <a:solidFill>
                <a:srgbClr val="000000"/>
              </a:solidFill>
              <a:effectLst/>
              <a:uLnTx/>
              <a:uFillTx/>
              <a:latin typeface="Times New Roman"/>
              <a:ea typeface="+mn-ea"/>
              <a:cs typeface="+mn-cs"/>
            </a:endParaRPr>
          </a:p>
        </p:txBody>
      </p:sp>
      <p:sp>
        <p:nvSpPr>
          <p:cNvPr id="7" name="TextBox 6">
            <a:extLst>
              <a:ext uri="{FF2B5EF4-FFF2-40B4-BE49-F238E27FC236}">
                <a16:creationId xmlns:a16="http://schemas.microsoft.com/office/drawing/2014/main" xmlns="" id="{8F0FD7BA-1379-3787-FD96-632BA4C39924}"/>
              </a:ext>
            </a:extLst>
          </p:cNvPr>
          <p:cNvSpPr txBox="1"/>
          <p:nvPr/>
        </p:nvSpPr>
        <p:spPr>
          <a:xfrm>
            <a:off x="-188168" y="1375271"/>
            <a:ext cx="7186127" cy="5528052"/>
          </a:xfrm>
          <a:prstGeom prst="rect">
            <a:avLst/>
          </a:prstGeom>
          <a:noFill/>
        </p:spPr>
        <p:txBody>
          <a:bodyPr wrap="square" rtlCol="0">
            <a:spAutoFit/>
          </a:bodyPr>
          <a:lstStyle/>
          <a:p>
            <a:pPr algn="just"/>
            <a:r>
              <a:rPr lang="en-US" sz="2100" b="1" dirty="0">
                <a:solidFill>
                  <a:srgbClr val="0070C0"/>
                </a:solidFill>
                <a:latin typeface="Times New Roman" panose="02020603050405020304" pitchFamily="18" charset="0"/>
                <a:cs typeface="Times New Roman" panose="02020603050405020304" pitchFamily="18" charset="0"/>
              </a:rPr>
              <a:t>2.2 Model of an Embedded System</a:t>
            </a:r>
          </a:p>
          <a:p>
            <a:endParaRPr lang="en-US" sz="800" dirty="0">
              <a:latin typeface="Times New Roman" panose="02020603050405020304" pitchFamily="18" charset="0"/>
              <a:cs typeface="Times New Roman" panose="02020603050405020304" pitchFamily="18" charset="0"/>
            </a:endParaRPr>
          </a:p>
          <a:p>
            <a:pPr>
              <a:lnSpc>
                <a:spcPct val="150000"/>
              </a:lnSpc>
            </a:pPr>
            <a:r>
              <a:rPr lang="en-US" sz="2100" b="1" dirty="0">
                <a:latin typeface="Times New Roman" panose="02020603050405020304" pitchFamily="18" charset="0"/>
                <a:cs typeface="Times New Roman" panose="02020603050405020304" pitchFamily="18" charset="0"/>
              </a:rPr>
              <a:t>How It Works:</a:t>
            </a:r>
          </a:p>
          <a:p>
            <a:pPr marL="342900" indent="-342900">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Data Collection: </a:t>
            </a:r>
            <a:r>
              <a:rPr lang="en-US" sz="2100" dirty="0">
                <a:latin typeface="Times New Roman" panose="02020603050405020304" pitchFamily="18" charset="0"/>
                <a:cs typeface="Times New Roman" panose="02020603050405020304" pitchFamily="18" charset="0"/>
              </a:rPr>
              <a:t>Sensors gather data from the environment.</a:t>
            </a:r>
          </a:p>
          <a:p>
            <a:pPr marL="342900" indent="-342900">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Data Processing: </a:t>
            </a:r>
            <a:r>
              <a:rPr lang="en-US" sz="2100" dirty="0">
                <a:latin typeface="Times New Roman" panose="02020603050405020304" pitchFamily="18" charset="0"/>
                <a:cs typeface="Times New Roman" panose="02020603050405020304" pitchFamily="18" charset="0"/>
              </a:rPr>
              <a:t>The processor takes this data and processes it according to the instructions in its program.</a:t>
            </a:r>
          </a:p>
          <a:p>
            <a:pPr marL="342900" indent="-342900">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Action Execution: </a:t>
            </a:r>
            <a:r>
              <a:rPr lang="en-US" sz="2100" dirty="0">
                <a:latin typeface="Times New Roman" panose="02020603050405020304" pitchFamily="18" charset="0"/>
                <a:cs typeface="Times New Roman" panose="02020603050405020304" pitchFamily="18" charset="0"/>
              </a:rPr>
              <a:t>Based on the processed data, the processor sends commands to actuators, which then perform actions to address the real-world problem.</a:t>
            </a:r>
          </a:p>
          <a:p>
            <a:pPr>
              <a:lnSpc>
                <a:spcPct val="150000"/>
              </a:lnSpc>
            </a:pPr>
            <a:r>
              <a:rPr lang="en-US" sz="2100" dirty="0">
                <a:latin typeface="Times New Roman" panose="02020603050405020304" pitchFamily="18" charset="0"/>
                <a:cs typeface="Times New Roman" panose="02020603050405020304" pitchFamily="18" charset="0"/>
              </a:rPr>
              <a:t>In summary, an embedded system uses sensors to collect data, processes this data with its processor, and uses actuators to carry out actions based on the processed information.</a:t>
            </a:r>
          </a:p>
        </p:txBody>
      </p:sp>
      <p:pic>
        <p:nvPicPr>
          <p:cNvPr id="8" name="Picture 7">
            <a:extLst>
              <a:ext uri="{FF2B5EF4-FFF2-40B4-BE49-F238E27FC236}">
                <a16:creationId xmlns:a16="http://schemas.microsoft.com/office/drawing/2014/main" xmlns="" id="{2CF2F645-DD50-8714-85F8-AE23923E80E5}"/>
              </a:ext>
            </a:extLst>
          </p:cNvPr>
          <p:cNvPicPr>
            <a:picLocks noChangeAspect="1"/>
          </p:cNvPicPr>
          <p:nvPr/>
        </p:nvPicPr>
        <p:blipFill>
          <a:blip r:embed="rId3"/>
          <a:stretch>
            <a:fillRect/>
          </a:stretch>
        </p:blipFill>
        <p:spPr>
          <a:xfrm>
            <a:off x="7202476" y="2015880"/>
            <a:ext cx="4785066" cy="4326726"/>
          </a:xfrm>
          <a:prstGeom prst="rect">
            <a:avLst/>
          </a:prstGeom>
        </p:spPr>
      </p:pic>
    </p:spTree>
    <p:extLst>
      <p:ext uri="{BB962C8B-B14F-4D97-AF65-F5344CB8AC3E}">
        <p14:creationId xmlns:p14="http://schemas.microsoft.com/office/powerpoint/2010/main" val="9018661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12</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20" y="1754270"/>
            <a:ext cx="12350620" cy="523220"/>
          </a:xfrm>
          <a:prstGeom prst="rect">
            <a:avLst/>
          </a:prstGeom>
          <a:noFill/>
        </p:spPr>
        <p:txBody>
          <a:bodyPr wrap="square">
            <a:spAutoFit/>
          </a:bodyPr>
          <a:lstStyle/>
          <a:p>
            <a:pPr marL="342900" marR="0" lvl="0" indent="-342900" algn="just" defTabSz="914400" rtl="0" eaLnBrk="1" fontAlgn="base" latinLnBrk="0" hangingPunct="1">
              <a:lnSpc>
                <a:spcPct val="100000"/>
              </a:lnSpc>
              <a:spcBef>
                <a:spcPct val="20000"/>
              </a:spcBef>
              <a:spcAft>
                <a:spcPct val="0"/>
              </a:spcAft>
              <a:buClr>
                <a:srgbClr val="996600"/>
              </a:buClr>
              <a:buSzTx/>
              <a:buFont typeface="Wingdings" panose="05000000000000000000" pitchFamily="2" charset="2"/>
              <a:buChar char="w"/>
              <a:tabLst/>
              <a:defRPr/>
            </a:pPr>
            <a:endParaRPr kumimoji="0" lang="en-US" altLang="en-US" sz="2800" b="0" i="0" u="none" strike="noStrike" kern="0" cap="none" spc="0" normalizeH="0" baseline="0" noProof="0" dirty="0">
              <a:ln>
                <a:noFill/>
              </a:ln>
              <a:solidFill>
                <a:srgbClr val="000000"/>
              </a:solidFill>
              <a:effectLst/>
              <a:uLnTx/>
              <a:uFillTx/>
              <a:latin typeface="Times New Roman"/>
              <a:ea typeface="+mn-ea"/>
              <a:cs typeface="+mn-cs"/>
            </a:endParaRPr>
          </a:p>
        </p:txBody>
      </p:sp>
      <p:sp>
        <p:nvSpPr>
          <p:cNvPr id="7" name="TextBox 6">
            <a:extLst>
              <a:ext uri="{FF2B5EF4-FFF2-40B4-BE49-F238E27FC236}">
                <a16:creationId xmlns:a16="http://schemas.microsoft.com/office/drawing/2014/main" xmlns="" id="{8F0FD7BA-1379-3787-FD96-632BA4C39924}"/>
              </a:ext>
            </a:extLst>
          </p:cNvPr>
          <p:cNvSpPr txBox="1"/>
          <p:nvPr/>
        </p:nvSpPr>
        <p:spPr>
          <a:xfrm>
            <a:off x="-188168" y="843431"/>
            <a:ext cx="12568334" cy="5909310"/>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3. Simple Embedded System</a:t>
            </a:r>
          </a:p>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3.1 Components of Computer System</a:t>
            </a:r>
          </a:p>
          <a:p>
            <a:pPr algn="just">
              <a:lnSpc>
                <a:spcPct val="150000"/>
              </a:lnSpc>
            </a:pPr>
            <a:r>
              <a:rPr lang="en-US" sz="2100" dirty="0">
                <a:latin typeface="Times New Roman" panose="02020603050405020304" pitchFamily="18" charset="0"/>
                <a:cs typeface="Times New Roman" panose="02020603050405020304" pitchFamily="18" charset="0"/>
              </a:rPr>
              <a:t>A computer is a system that has the following or more components:</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A microprocessor</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A large memory of the following two kinds:</a:t>
            </a:r>
          </a:p>
          <a:p>
            <a:pPr marL="800100" lvl="1"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(a) Primary memory (semiconductor memories: Random Access Memory (RAM), Read Only Memory (ROM), and fast accessible caches)</a:t>
            </a:r>
          </a:p>
          <a:p>
            <a:pPr marL="800100" lvl="1"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(b) Secondary memory (magnetic memory located in hard disks, </a:t>
            </a:r>
            <a:r>
              <a:rPr lang="en-US" sz="2100" dirty="0" smtClean="0">
                <a:latin typeface="Times New Roman" panose="02020603050405020304" pitchFamily="18" charset="0"/>
                <a:cs typeface="Times New Roman" panose="02020603050405020304" pitchFamily="18" charset="0"/>
              </a:rPr>
              <a:t> </a:t>
            </a:r>
            <a:r>
              <a:rPr lang="en-US" sz="2100" dirty="0">
                <a:latin typeface="Times New Roman" panose="02020603050405020304" pitchFamily="18" charset="0"/>
                <a:cs typeface="Times New Roman" panose="02020603050405020304" pitchFamily="18" charset="0"/>
              </a:rPr>
              <a:t>and cartridge tapes, optical memory in CD-ROMs or memory sticks in mobile computers), using which different user programs can be loaded into the primary memory and run</a:t>
            </a:r>
          </a:p>
          <a:p>
            <a:pPr marL="342900" indent="-342900" algn="just">
              <a:lnSpc>
                <a:spcPct val="150000"/>
              </a:lnSpc>
              <a:buFont typeface="Arial" panose="020B0604020202020204" pitchFamily="34" charset="0"/>
              <a:buChar char="•"/>
            </a:pPr>
            <a:r>
              <a:rPr lang="en-US" sz="2100" dirty="0" smtClean="0">
                <a:latin typeface="Times New Roman" panose="02020603050405020304" pitchFamily="18" charset="0"/>
                <a:cs typeface="Times New Roman" panose="02020603050405020304" pitchFamily="18" charset="0"/>
              </a:rPr>
              <a:t>Input </a:t>
            </a:r>
            <a:r>
              <a:rPr lang="en-US" sz="2100" dirty="0">
                <a:latin typeface="Times New Roman" panose="02020603050405020304" pitchFamily="18" charset="0"/>
                <a:cs typeface="Times New Roman" panose="02020603050405020304" pitchFamily="18" charset="0"/>
              </a:rPr>
              <a:t>units such as keyboard, mice, digitizer, scanner, etc</a:t>
            </a:r>
            <a:r>
              <a:rPr lang="en-US" sz="2100" dirty="0" smtClean="0">
                <a:latin typeface="Times New Roman" panose="02020603050405020304" pitchFamily="18" charset="0"/>
                <a:cs typeface="Times New Roman" panose="02020603050405020304" pitchFamily="18" charset="0"/>
              </a:rPr>
              <a:t>.</a:t>
            </a:r>
          </a:p>
          <a:p>
            <a:pPr marL="342900" indent="-342900" algn="just">
              <a:lnSpc>
                <a:spcPct val="150000"/>
              </a:lnSpc>
              <a:buFont typeface="Arial" panose="020B0604020202020204" pitchFamily="34" charset="0"/>
              <a:buChar char="•"/>
            </a:pPr>
            <a:r>
              <a:rPr lang="en-US" sz="2100" dirty="0" smtClean="0">
                <a:latin typeface="Times New Roman" panose="02020603050405020304" pitchFamily="18" charset="0"/>
                <a:cs typeface="Times New Roman" panose="02020603050405020304" pitchFamily="18" charset="0"/>
              </a:rPr>
              <a:t>Output </a:t>
            </a:r>
            <a:r>
              <a:rPr lang="en-US" sz="2100" dirty="0">
                <a:latin typeface="Times New Roman" panose="02020603050405020304" pitchFamily="18" charset="0"/>
                <a:cs typeface="Times New Roman" panose="02020603050405020304" pitchFamily="18" charset="0"/>
              </a:rPr>
              <a:t>units such as an LCD screen, video monitor, printer, etc.</a:t>
            </a:r>
          </a:p>
        </p:txBody>
      </p:sp>
    </p:spTree>
    <p:extLst>
      <p:ext uri="{BB962C8B-B14F-4D97-AF65-F5344CB8AC3E}">
        <p14:creationId xmlns:p14="http://schemas.microsoft.com/office/powerpoint/2010/main" val="13144493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13</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20" y="1754270"/>
            <a:ext cx="12350620" cy="523220"/>
          </a:xfrm>
          <a:prstGeom prst="rect">
            <a:avLst/>
          </a:prstGeom>
          <a:noFill/>
        </p:spPr>
        <p:txBody>
          <a:bodyPr wrap="square">
            <a:spAutoFit/>
          </a:bodyPr>
          <a:lstStyle/>
          <a:p>
            <a:pPr marL="342900" marR="0" lvl="0" indent="-342900" algn="just" defTabSz="914400" rtl="0" eaLnBrk="1" fontAlgn="base" latinLnBrk="0" hangingPunct="1">
              <a:lnSpc>
                <a:spcPct val="100000"/>
              </a:lnSpc>
              <a:spcBef>
                <a:spcPct val="20000"/>
              </a:spcBef>
              <a:spcAft>
                <a:spcPct val="0"/>
              </a:spcAft>
              <a:buClr>
                <a:srgbClr val="996600"/>
              </a:buClr>
              <a:buSzTx/>
              <a:buFont typeface="Wingdings" panose="05000000000000000000" pitchFamily="2" charset="2"/>
              <a:buChar char="w"/>
              <a:tabLst/>
              <a:defRPr/>
            </a:pPr>
            <a:endParaRPr kumimoji="0" lang="en-US" altLang="en-US" sz="2800" b="0" i="0" u="none" strike="noStrike" kern="0" cap="none" spc="0" normalizeH="0" baseline="0" noProof="0" dirty="0">
              <a:ln>
                <a:noFill/>
              </a:ln>
              <a:solidFill>
                <a:srgbClr val="000000"/>
              </a:solidFill>
              <a:effectLst/>
              <a:uLnTx/>
              <a:uFillTx/>
              <a:latin typeface="Times New Roman"/>
              <a:ea typeface="+mn-ea"/>
              <a:cs typeface="+mn-cs"/>
            </a:endParaRPr>
          </a:p>
        </p:txBody>
      </p:sp>
      <p:sp>
        <p:nvSpPr>
          <p:cNvPr id="7" name="TextBox 6">
            <a:extLst>
              <a:ext uri="{FF2B5EF4-FFF2-40B4-BE49-F238E27FC236}">
                <a16:creationId xmlns:a16="http://schemas.microsoft.com/office/drawing/2014/main" xmlns="" id="{8F0FD7BA-1379-3787-FD96-632BA4C39924}"/>
              </a:ext>
            </a:extLst>
          </p:cNvPr>
          <p:cNvSpPr txBox="1"/>
          <p:nvPr/>
        </p:nvSpPr>
        <p:spPr>
          <a:xfrm>
            <a:off x="-188168" y="1375271"/>
            <a:ext cx="12568334" cy="1973232"/>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3. Simple Embedded System</a:t>
            </a:r>
          </a:p>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3.1 Components of Computer System</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Networking units such as an Ethernet card, front-end processor-based server, bus drivers, etc.</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An operating system (OS) that has general-purpose user and application software in the secondary memory.</a:t>
            </a:r>
          </a:p>
        </p:txBody>
      </p:sp>
    </p:spTree>
    <p:extLst>
      <p:ext uri="{BB962C8B-B14F-4D97-AF65-F5344CB8AC3E}">
        <p14:creationId xmlns:p14="http://schemas.microsoft.com/office/powerpoint/2010/main" val="41513311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14</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20" y="1754270"/>
            <a:ext cx="12350620" cy="523220"/>
          </a:xfrm>
          <a:prstGeom prst="rect">
            <a:avLst/>
          </a:prstGeom>
          <a:noFill/>
        </p:spPr>
        <p:txBody>
          <a:bodyPr wrap="square">
            <a:spAutoFit/>
          </a:bodyPr>
          <a:lstStyle/>
          <a:p>
            <a:pPr marL="342900" marR="0" lvl="0" indent="-342900" algn="just" defTabSz="914400" rtl="0" eaLnBrk="1" fontAlgn="base" latinLnBrk="0" hangingPunct="1">
              <a:lnSpc>
                <a:spcPct val="100000"/>
              </a:lnSpc>
              <a:spcBef>
                <a:spcPct val="20000"/>
              </a:spcBef>
              <a:spcAft>
                <a:spcPct val="0"/>
              </a:spcAft>
              <a:buClr>
                <a:srgbClr val="996600"/>
              </a:buClr>
              <a:buSzTx/>
              <a:buFont typeface="Wingdings" panose="05000000000000000000" pitchFamily="2" charset="2"/>
              <a:buChar char="w"/>
              <a:tabLst/>
              <a:defRPr/>
            </a:pPr>
            <a:endParaRPr kumimoji="0" lang="en-US" altLang="en-US" sz="2800" b="0" i="0" u="none" strike="noStrike" kern="0" cap="none" spc="0" normalizeH="0" baseline="0" noProof="0" dirty="0">
              <a:ln>
                <a:noFill/>
              </a:ln>
              <a:solidFill>
                <a:srgbClr val="000000"/>
              </a:solidFill>
              <a:effectLst/>
              <a:uLnTx/>
              <a:uFillTx/>
              <a:latin typeface="Times New Roman"/>
              <a:ea typeface="+mn-ea"/>
              <a:cs typeface="+mn-cs"/>
            </a:endParaRPr>
          </a:p>
        </p:txBody>
      </p:sp>
      <p:sp>
        <p:nvSpPr>
          <p:cNvPr id="7" name="TextBox 6">
            <a:extLst>
              <a:ext uri="{FF2B5EF4-FFF2-40B4-BE49-F238E27FC236}">
                <a16:creationId xmlns:a16="http://schemas.microsoft.com/office/drawing/2014/main" xmlns="" id="{8F0FD7BA-1379-3787-FD96-632BA4C39924}"/>
              </a:ext>
            </a:extLst>
          </p:cNvPr>
          <p:cNvSpPr txBox="1"/>
          <p:nvPr/>
        </p:nvSpPr>
        <p:spPr>
          <a:xfrm>
            <a:off x="-188169" y="973355"/>
            <a:ext cx="6535195" cy="5851217"/>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3. Simple Embedded System</a:t>
            </a:r>
          </a:p>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3.2 Components of Embedded System</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An embedded system is a system that has three main components embedded into it:</a:t>
            </a:r>
          </a:p>
          <a:p>
            <a:pPr marL="800100" lvl="1"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It embeds hardware similar to a computer. Figure shows the units in the hardware of an embedded system.</a:t>
            </a:r>
          </a:p>
          <a:p>
            <a:pPr marL="800100" lvl="1"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As its software usually embeds in the ROM or flash memory, it usually does not need a secondary hard disk and CD memory as in a computer.</a:t>
            </a:r>
          </a:p>
          <a:p>
            <a:pPr marL="800100" lvl="1" indent="-342900" algn="just">
              <a:lnSpc>
                <a:spcPct val="150000"/>
              </a:lnSpc>
              <a:buFont typeface="Arial" panose="020B0604020202020204" pitchFamily="34" charset="0"/>
              <a:buChar char="•"/>
            </a:pPr>
            <a:endParaRPr lang="en-US" sz="2100" dirty="0">
              <a:latin typeface="Times New Roman" panose="02020603050405020304" pitchFamily="18" charset="0"/>
              <a:cs typeface="Times New Roman" panose="02020603050405020304" pitchFamily="18" charset="0"/>
            </a:endParaRPr>
          </a:p>
          <a:p>
            <a:pPr marL="800100" lvl="1" indent="-342900" algn="just">
              <a:lnSpc>
                <a:spcPct val="150000"/>
              </a:lnSpc>
              <a:buFont typeface="Arial" panose="020B0604020202020204" pitchFamily="34" charset="0"/>
              <a:buChar char="•"/>
            </a:pPr>
            <a:endParaRPr lang="en-US" sz="21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xmlns="" id="{E6A702AF-75CD-82E8-822E-F241E848EC7E}"/>
              </a:ext>
            </a:extLst>
          </p:cNvPr>
          <p:cNvPicPr>
            <a:picLocks noChangeAspect="1"/>
          </p:cNvPicPr>
          <p:nvPr/>
        </p:nvPicPr>
        <p:blipFill>
          <a:blip r:embed="rId3"/>
          <a:stretch>
            <a:fillRect/>
          </a:stretch>
        </p:blipFill>
        <p:spPr>
          <a:xfrm>
            <a:off x="6766126" y="2105699"/>
            <a:ext cx="5006774" cy="4282811"/>
          </a:xfrm>
          <a:prstGeom prst="rect">
            <a:avLst/>
          </a:prstGeom>
        </p:spPr>
      </p:pic>
    </p:spTree>
    <p:extLst>
      <p:ext uri="{BB962C8B-B14F-4D97-AF65-F5344CB8AC3E}">
        <p14:creationId xmlns:p14="http://schemas.microsoft.com/office/powerpoint/2010/main" val="1067685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15</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20" y="1754270"/>
            <a:ext cx="12350620" cy="523220"/>
          </a:xfrm>
          <a:prstGeom prst="rect">
            <a:avLst/>
          </a:prstGeom>
          <a:noFill/>
        </p:spPr>
        <p:txBody>
          <a:bodyPr wrap="square">
            <a:spAutoFit/>
          </a:bodyPr>
          <a:lstStyle/>
          <a:p>
            <a:pPr marL="342900" marR="0" lvl="0" indent="-342900" algn="just" defTabSz="914400" rtl="0" eaLnBrk="1" fontAlgn="base" latinLnBrk="0" hangingPunct="1">
              <a:lnSpc>
                <a:spcPct val="100000"/>
              </a:lnSpc>
              <a:spcBef>
                <a:spcPct val="20000"/>
              </a:spcBef>
              <a:spcAft>
                <a:spcPct val="0"/>
              </a:spcAft>
              <a:buClr>
                <a:srgbClr val="996600"/>
              </a:buClr>
              <a:buSzTx/>
              <a:buFont typeface="Wingdings" panose="05000000000000000000" pitchFamily="2" charset="2"/>
              <a:buChar char="w"/>
              <a:tabLst/>
              <a:defRPr/>
            </a:pPr>
            <a:endParaRPr kumimoji="0" lang="en-US" altLang="en-US" sz="2800" b="0" i="0" u="none" strike="noStrike" kern="0" cap="none" spc="0" normalizeH="0" baseline="0" noProof="0" dirty="0">
              <a:ln>
                <a:noFill/>
              </a:ln>
              <a:solidFill>
                <a:srgbClr val="000000"/>
              </a:solidFill>
              <a:effectLst/>
              <a:uLnTx/>
              <a:uFillTx/>
              <a:latin typeface="Times New Roman"/>
              <a:ea typeface="+mn-ea"/>
              <a:cs typeface="+mn-cs"/>
            </a:endParaRPr>
          </a:p>
        </p:txBody>
      </p:sp>
      <p:sp>
        <p:nvSpPr>
          <p:cNvPr id="7" name="TextBox 6">
            <a:extLst>
              <a:ext uri="{FF2B5EF4-FFF2-40B4-BE49-F238E27FC236}">
                <a16:creationId xmlns:a16="http://schemas.microsoft.com/office/drawing/2014/main" xmlns="" id="{8F0FD7BA-1379-3787-FD96-632BA4C39924}"/>
              </a:ext>
            </a:extLst>
          </p:cNvPr>
          <p:cNvSpPr txBox="1"/>
          <p:nvPr/>
        </p:nvSpPr>
        <p:spPr>
          <a:xfrm>
            <a:off x="-188168" y="1095347"/>
            <a:ext cx="6644951" cy="5851217"/>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3. Simple Embedded System</a:t>
            </a:r>
          </a:p>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3.2 Components of Embedded System</a:t>
            </a:r>
          </a:p>
          <a:p>
            <a:pPr marL="800100" lvl="1"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It embeds main application software. The application software may concurrently perform a series of tasks, processes, or threads.</a:t>
            </a:r>
          </a:p>
          <a:p>
            <a:pPr marL="800100" lvl="1"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It embeds a real-time operating system (RTOS) that supervises the application software running on hardware and organizes access to a resource according to the priorities of tasks in the system. </a:t>
            </a:r>
          </a:p>
          <a:p>
            <a:pPr marL="800100" lvl="1"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It provides a mechanism to let the processor run a process as scheduled and context-switch between the various processes. </a:t>
            </a:r>
          </a:p>
        </p:txBody>
      </p:sp>
      <p:pic>
        <p:nvPicPr>
          <p:cNvPr id="8" name="Picture 7">
            <a:extLst>
              <a:ext uri="{FF2B5EF4-FFF2-40B4-BE49-F238E27FC236}">
                <a16:creationId xmlns:a16="http://schemas.microsoft.com/office/drawing/2014/main" xmlns="" id="{A6BE7E4C-8AD9-DECD-319B-76C7569187C4}"/>
              </a:ext>
            </a:extLst>
          </p:cNvPr>
          <p:cNvPicPr>
            <a:picLocks noChangeAspect="1"/>
          </p:cNvPicPr>
          <p:nvPr/>
        </p:nvPicPr>
        <p:blipFill>
          <a:blip r:embed="rId3"/>
          <a:stretch>
            <a:fillRect/>
          </a:stretch>
        </p:blipFill>
        <p:spPr>
          <a:xfrm>
            <a:off x="6781801" y="2109516"/>
            <a:ext cx="5006774" cy="4282811"/>
          </a:xfrm>
          <a:prstGeom prst="rect">
            <a:avLst/>
          </a:prstGeom>
        </p:spPr>
      </p:pic>
    </p:spTree>
    <p:extLst>
      <p:ext uri="{BB962C8B-B14F-4D97-AF65-F5344CB8AC3E}">
        <p14:creationId xmlns:p14="http://schemas.microsoft.com/office/powerpoint/2010/main" val="42654828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16</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20" y="1754270"/>
            <a:ext cx="12350620" cy="523220"/>
          </a:xfrm>
          <a:prstGeom prst="rect">
            <a:avLst/>
          </a:prstGeom>
          <a:noFill/>
        </p:spPr>
        <p:txBody>
          <a:bodyPr wrap="square">
            <a:spAutoFit/>
          </a:bodyPr>
          <a:lstStyle/>
          <a:p>
            <a:pPr marL="342900" marR="0" lvl="0" indent="-342900" algn="just" defTabSz="914400" rtl="0" eaLnBrk="1" fontAlgn="base" latinLnBrk="0" hangingPunct="1">
              <a:lnSpc>
                <a:spcPct val="100000"/>
              </a:lnSpc>
              <a:spcBef>
                <a:spcPct val="20000"/>
              </a:spcBef>
              <a:spcAft>
                <a:spcPct val="0"/>
              </a:spcAft>
              <a:buClr>
                <a:srgbClr val="996600"/>
              </a:buClr>
              <a:buSzTx/>
              <a:buFont typeface="Wingdings" panose="05000000000000000000" pitchFamily="2" charset="2"/>
              <a:buChar char="w"/>
              <a:tabLst/>
              <a:defRPr/>
            </a:pPr>
            <a:endParaRPr kumimoji="0" lang="en-US" altLang="en-US" sz="2800" b="0" i="0" u="none" strike="noStrike" kern="0" cap="none" spc="0" normalizeH="0" baseline="0" noProof="0" dirty="0">
              <a:ln>
                <a:noFill/>
              </a:ln>
              <a:solidFill>
                <a:srgbClr val="000000"/>
              </a:solidFill>
              <a:effectLst/>
              <a:uLnTx/>
              <a:uFillTx/>
              <a:latin typeface="Times New Roman"/>
              <a:ea typeface="+mn-ea"/>
              <a:cs typeface="+mn-cs"/>
            </a:endParaRPr>
          </a:p>
        </p:txBody>
      </p:sp>
      <p:sp>
        <p:nvSpPr>
          <p:cNvPr id="7" name="TextBox 6">
            <a:extLst>
              <a:ext uri="{FF2B5EF4-FFF2-40B4-BE49-F238E27FC236}">
                <a16:creationId xmlns:a16="http://schemas.microsoft.com/office/drawing/2014/main" xmlns="" id="{8F0FD7BA-1379-3787-FD96-632BA4C39924}"/>
              </a:ext>
            </a:extLst>
          </p:cNvPr>
          <p:cNvSpPr txBox="1"/>
          <p:nvPr/>
        </p:nvSpPr>
        <p:spPr>
          <a:xfrm>
            <a:off x="-188167" y="1375271"/>
            <a:ext cx="6284168" cy="2457981"/>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3. Simple Embedded System</a:t>
            </a:r>
          </a:p>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3.2 Components of Embedded System</a:t>
            </a:r>
          </a:p>
          <a:p>
            <a:pPr marL="800100" lvl="1"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It sets the rules during the execution of the application software. (A small-scale embedded system may not embed the RTOS.)</a:t>
            </a:r>
          </a:p>
        </p:txBody>
      </p:sp>
      <p:pic>
        <p:nvPicPr>
          <p:cNvPr id="8" name="Picture 7">
            <a:extLst>
              <a:ext uri="{FF2B5EF4-FFF2-40B4-BE49-F238E27FC236}">
                <a16:creationId xmlns:a16="http://schemas.microsoft.com/office/drawing/2014/main" xmlns="" id="{A6BE7E4C-8AD9-DECD-319B-76C7569187C4}"/>
              </a:ext>
            </a:extLst>
          </p:cNvPr>
          <p:cNvPicPr>
            <a:picLocks noChangeAspect="1"/>
          </p:cNvPicPr>
          <p:nvPr/>
        </p:nvPicPr>
        <p:blipFill>
          <a:blip r:embed="rId3"/>
          <a:stretch>
            <a:fillRect/>
          </a:stretch>
        </p:blipFill>
        <p:spPr>
          <a:xfrm>
            <a:off x="6781801" y="2109516"/>
            <a:ext cx="5006774" cy="4282811"/>
          </a:xfrm>
          <a:prstGeom prst="rect">
            <a:avLst/>
          </a:prstGeom>
        </p:spPr>
      </p:pic>
    </p:spTree>
    <p:extLst>
      <p:ext uri="{BB962C8B-B14F-4D97-AF65-F5344CB8AC3E}">
        <p14:creationId xmlns:p14="http://schemas.microsoft.com/office/powerpoint/2010/main" val="41221955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17</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20" y="1754270"/>
            <a:ext cx="12350620" cy="523220"/>
          </a:xfrm>
          <a:prstGeom prst="rect">
            <a:avLst/>
          </a:prstGeom>
          <a:noFill/>
        </p:spPr>
        <p:txBody>
          <a:bodyPr wrap="square">
            <a:spAutoFit/>
          </a:bodyPr>
          <a:lstStyle/>
          <a:p>
            <a:pPr marL="342900" marR="0" lvl="0" indent="-342900" algn="just" defTabSz="914400" rtl="0" eaLnBrk="1" fontAlgn="base" latinLnBrk="0" hangingPunct="1">
              <a:lnSpc>
                <a:spcPct val="100000"/>
              </a:lnSpc>
              <a:spcBef>
                <a:spcPct val="20000"/>
              </a:spcBef>
              <a:spcAft>
                <a:spcPct val="0"/>
              </a:spcAft>
              <a:buClr>
                <a:srgbClr val="996600"/>
              </a:buClr>
              <a:buSzTx/>
              <a:buFont typeface="Wingdings" panose="05000000000000000000" pitchFamily="2" charset="2"/>
              <a:buChar char="w"/>
              <a:tabLst/>
              <a:defRPr/>
            </a:pPr>
            <a:endParaRPr kumimoji="0" lang="en-US" altLang="en-US" sz="2800" b="0" i="0" u="none" strike="noStrike" kern="0" cap="none" spc="0" normalizeH="0" baseline="0" noProof="0" dirty="0">
              <a:ln>
                <a:noFill/>
              </a:ln>
              <a:solidFill>
                <a:srgbClr val="000000"/>
              </a:solidFill>
              <a:effectLst/>
              <a:uLnTx/>
              <a:uFillTx/>
              <a:latin typeface="Times New Roman"/>
              <a:ea typeface="+mn-ea"/>
              <a:cs typeface="+mn-cs"/>
            </a:endParaRPr>
          </a:p>
        </p:txBody>
      </p:sp>
      <p:sp>
        <p:nvSpPr>
          <p:cNvPr id="7" name="TextBox 6">
            <a:extLst>
              <a:ext uri="{FF2B5EF4-FFF2-40B4-BE49-F238E27FC236}">
                <a16:creationId xmlns:a16="http://schemas.microsoft.com/office/drawing/2014/main" xmlns="" id="{8F0FD7BA-1379-3787-FD96-632BA4C39924}"/>
              </a:ext>
            </a:extLst>
          </p:cNvPr>
          <p:cNvSpPr txBox="1"/>
          <p:nvPr/>
        </p:nvSpPr>
        <p:spPr>
          <a:xfrm>
            <a:off x="-188168" y="1375271"/>
            <a:ext cx="12350619" cy="5366469"/>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3. Simple Embedded System</a:t>
            </a:r>
          </a:p>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3.3 Why a PC is Not Considered an Embedded System?</a:t>
            </a:r>
          </a:p>
          <a:p>
            <a:pPr marL="800100" lvl="1"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Broad Application Range: </a:t>
            </a:r>
            <a:r>
              <a:rPr lang="en-US" sz="2100" dirty="0">
                <a:latin typeface="Times New Roman" panose="02020603050405020304" pitchFamily="18" charset="0"/>
                <a:cs typeface="Times New Roman" panose="02020603050405020304" pitchFamily="18" charset="0"/>
              </a:rPr>
              <a:t>A PC supports a wide variety of applications, such as word processing, communication, printing, and more. This versatility means it’s designed to handle many different tasks, unlike an embedded system, which is designed for a specific application.</a:t>
            </a:r>
          </a:p>
          <a:p>
            <a:pPr marL="800100" lvl="1"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Power Consumption: </a:t>
            </a:r>
            <a:r>
              <a:rPr lang="en-US" sz="2100" dirty="0">
                <a:latin typeface="Times New Roman" panose="02020603050405020304" pitchFamily="18" charset="0"/>
                <a:cs typeface="Times New Roman" panose="02020603050405020304" pitchFamily="18" charset="0"/>
              </a:rPr>
              <a:t>While low power consumption is important for embedded systems, it is not the primary design focus for PCs. PCs are designed for performance and versatility rather than minimizing power usage.</a:t>
            </a:r>
          </a:p>
          <a:p>
            <a:pPr marL="800100" lvl="1"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Memory Flexibility: </a:t>
            </a:r>
            <a:r>
              <a:rPr lang="en-US" sz="2100" dirty="0">
                <a:latin typeface="Times New Roman" panose="02020603050405020304" pitchFamily="18" charset="0"/>
                <a:cs typeface="Times New Roman" panose="02020603050405020304" pitchFamily="18" charset="0"/>
              </a:rPr>
              <a:t>PCs have various types of memory, including RAM, ROM, and large secondary storage devices like hard disks and CD-ROMs. Users can upgrade or expand this memory as needed. In contrast, embedded systems have fixed memory tailored to their specific application.</a:t>
            </a:r>
          </a:p>
        </p:txBody>
      </p:sp>
    </p:spTree>
    <p:extLst>
      <p:ext uri="{BB962C8B-B14F-4D97-AF65-F5344CB8AC3E}">
        <p14:creationId xmlns:p14="http://schemas.microsoft.com/office/powerpoint/2010/main" val="9900452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18</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20" y="1754270"/>
            <a:ext cx="12350620" cy="523220"/>
          </a:xfrm>
          <a:prstGeom prst="rect">
            <a:avLst/>
          </a:prstGeom>
          <a:noFill/>
        </p:spPr>
        <p:txBody>
          <a:bodyPr wrap="square">
            <a:spAutoFit/>
          </a:bodyPr>
          <a:lstStyle/>
          <a:p>
            <a:pPr marL="342900" marR="0" lvl="0" indent="-342900" algn="just" defTabSz="914400" rtl="0" eaLnBrk="1" fontAlgn="base" latinLnBrk="0" hangingPunct="1">
              <a:lnSpc>
                <a:spcPct val="100000"/>
              </a:lnSpc>
              <a:spcBef>
                <a:spcPct val="20000"/>
              </a:spcBef>
              <a:spcAft>
                <a:spcPct val="0"/>
              </a:spcAft>
              <a:buClr>
                <a:srgbClr val="996600"/>
              </a:buClr>
              <a:buSzTx/>
              <a:buFont typeface="Wingdings" panose="05000000000000000000" pitchFamily="2" charset="2"/>
              <a:buChar char="w"/>
              <a:tabLst/>
              <a:defRPr/>
            </a:pPr>
            <a:endParaRPr kumimoji="0" lang="en-US" altLang="en-US" sz="2800" b="0" i="0" u="none" strike="noStrike" kern="0" cap="none" spc="0" normalizeH="0" baseline="0" noProof="0" dirty="0">
              <a:ln>
                <a:noFill/>
              </a:ln>
              <a:solidFill>
                <a:srgbClr val="000000"/>
              </a:solidFill>
              <a:effectLst/>
              <a:uLnTx/>
              <a:uFillTx/>
              <a:latin typeface="Times New Roman"/>
              <a:ea typeface="+mn-ea"/>
              <a:cs typeface="+mn-cs"/>
            </a:endParaRPr>
          </a:p>
        </p:txBody>
      </p:sp>
      <p:sp>
        <p:nvSpPr>
          <p:cNvPr id="7" name="TextBox 6">
            <a:extLst>
              <a:ext uri="{FF2B5EF4-FFF2-40B4-BE49-F238E27FC236}">
                <a16:creationId xmlns:a16="http://schemas.microsoft.com/office/drawing/2014/main" xmlns="" id="{8F0FD7BA-1379-3787-FD96-632BA4C39924}"/>
              </a:ext>
            </a:extLst>
          </p:cNvPr>
          <p:cNvSpPr txBox="1"/>
          <p:nvPr/>
        </p:nvSpPr>
        <p:spPr>
          <a:xfrm>
            <a:off x="-188168" y="1375271"/>
            <a:ext cx="12350619" cy="4881721"/>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3. Simple Embedded System</a:t>
            </a:r>
          </a:p>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3.3 Why a PC is Not Considered an Embedded System?</a:t>
            </a:r>
          </a:p>
          <a:p>
            <a:pPr marL="800100" lvl="1"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Application Flexibility: </a:t>
            </a:r>
            <a:r>
              <a:rPr lang="en-US" sz="2100" dirty="0">
                <a:latin typeface="Times New Roman" panose="02020603050405020304" pitchFamily="18" charset="0"/>
                <a:cs typeface="Times New Roman" panose="02020603050405020304" pitchFamily="18" charset="0"/>
              </a:rPr>
              <a:t>PCs can run multiple applications, and users can install new ones as needed. Embedded systems, however, are typically designed to run a specific application or set of tasks, with limited ability to change or add applications.</a:t>
            </a:r>
          </a:p>
          <a:p>
            <a:pPr marL="800100" lvl="1"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Input Devices: </a:t>
            </a:r>
            <a:r>
              <a:rPr lang="en-US" sz="2100" dirty="0">
                <a:latin typeface="Times New Roman" panose="02020603050405020304" pitchFamily="18" charset="0"/>
                <a:cs typeface="Times New Roman" panose="02020603050405020304" pitchFamily="18" charset="0"/>
              </a:rPr>
              <a:t>PCs are used with a range of input devices like keyboards, mice, and modems. Embedded systems usually have more specialized or limited input options tailored to their specific functions.</a:t>
            </a:r>
          </a:p>
          <a:p>
            <a:pPr marL="800100" lvl="1"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Reliability and Critical Use: </a:t>
            </a:r>
            <a:r>
              <a:rPr lang="en-US" sz="2100" dirty="0">
                <a:latin typeface="Times New Roman" panose="02020603050405020304" pitchFamily="18" charset="0"/>
                <a:cs typeface="Times New Roman" panose="02020603050405020304" pitchFamily="18" charset="0"/>
              </a:rPr>
              <a:t>While PCs need to be reliable, they are not usually part of critical systems where failure could have serious consequences. Embedded systems are often used in critical applications where high reliability is crucial.</a:t>
            </a:r>
          </a:p>
        </p:txBody>
      </p:sp>
    </p:spTree>
    <p:extLst>
      <p:ext uri="{BB962C8B-B14F-4D97-AF65-F5344CB8AC3E}">
        <p14:creationId xmlns:p14="http://schemas.microsoft.com/office/powerpoint/2010/main" val="4954548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19</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20" y="1754270"/>
            <a:ext cx="12350620" cy="523220"/>
          </a:xfrm>
          <a:prstGeom prst="rect">
            <a:avLst/>
          </a:prstGeom>
          <a:noFill/>
        </p:spPr>
        <p:txBody>
          <a:bodyPr wrap="square">
            <a:spAutoFit/>
          </a:bodyPr>
          <a:lstStyle/>
          <a:p>
            <a:pPr marL="342900" marR="0" lvl="0" indent="-342900" algn="just" defTabSz="914400" rtl="0" eaLnBrk="1" fontAlgn="base" latinLnBrk="0" hangingPunct="1">
              <a:lnSpc>
                <a:spcPct val="100000"/>
              </a:lnSpc>
              <a:spcBef>
                <a:spcPct val="20000"/>
              </a:spcBef>
              <a:spcAft>
                <a:spcPct val="0"/>
              </a:spcAft>
              <a:buClr>
                <a:srgbClr val="996600"/>
              </a:buClr>
              <a:buSzTx/>
              <a:buFont typeface="Wingdings" panose="05000000000000000000" pitchFamily="2" charset="2"/>
              <a:buChar char="w"/>
              <a:tabLst/>
              <a:defRPr/>
            </a:pPr>
            <a:endParaRPr kumimoji="0" lang="en-US" altLang="en-US" sz="2800" b="0" i="0" u="none" strike="noStrike" kern="0" cap="none" spc="0" normalizeH="0" baseline="0" noProof="0" dirty="0">
              <a:ln>
                <a:noFill/>
              </a:ln>
              <a:solidFill>
                <a:srgbClr val="000000"/>
              </a:solidFill>
              <a:effectLst/>
              <a:uLnTx/>
              <a:uFillTx/>
              <a:latin typeface="Times New Roman"/>
              <a:ea typeface="+mn-ea"/>
              <a:cs typeface="+mn-cs"/>
            </a:endParaRPr>
          </a:p>
        </p:txBody>
      </p:sp>
      <p:sp>
        <p:nvSpPr>
          <p:cNvPr id="7" name="TextBox 6">
            <a:extLst>
              <a:ext uri="{FF2B5EF4-FFF2-40B4-BE49-F238E27FC236}">
                <a16:creationId xmlns:a16="http://schemas.microsoft.com/office/drawing/2014/main" xmlns="" id="{8F0FD7BA-1379-3787-FD96-632BA4C39924}"/>
              </a:ext>
            </a:extLst>
          </p:cNvPr>
          <p:cNvSpPr txBox="1"/>
          <p:nvPr/>
        </p:nvSpPr>
        <p:spPr>
          <a:xfrm>
            <a:off x="-188168" y="1375271"/>
            <a:ext cx="12350619" cy="6335965"/>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3. Simple Embedded System</a:t>
            </a:r>
          </a:p>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3.3 Why a PC is Not Considered an Embedded System?</a:t>
            </a:r>
          </a:p>
          <a:p>
            <a:pPr marL="800100" lvl="1"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Performance and Timing: </a:t>
            </a:r>
            <a:r>
              <a:rPr lang="en-US" sz="2100" dirty="0">
                <a:latin typeface="Times New Roman" panose="02020603050405020304" pitchFamily="18" charset="0"/>
                <a:cs typeface="Times New Roman" panose="02020603050405020304" pitchFamily="18" charset="0"/>
              </a:rPr>
              <a:t>PCs are designed for high performance but usually do not have strict timing requirements. Embedded systems often have time-critical requirements and are designed to meet specific performance constraints related to their dedicated functions.</a:t>
            </a:r>
          </a:p>
          <a:p>
            <a:endParaRPr lang="en-US" sz="2100" b="1" dirty="0">
              <a:latin typeface="Times New Roman" panose="02020603050405020304" pitchFamily="18" charset="0"/>
              <a:cs typeface="Times New Roman" panose="02020603050405020304" pitchFamily="18" charset="0"/>
            </a:endParaRPr>
          </a:p>
          <a:p>
            <a:pPr>
              <a:lnSpc>
                <a:spcPct val="150000"/>
              </a:lnSpc>
            </a:pPr>
            <a:r>
              <a:rPr lang="en-US" sz="2100" b="1" dirty="0">
                <a:latin typeface="Times New Roman" panose="02020603050405020304" pitchFamily="18" charset="0"/>
                <a:cs typeface="Times New Roman" panose="02020603050405020304" pitchFamily="18" charset="0"/>
              </a:rPr>
              <a:t>Considering Handheld Devices</a:t>
            </a:r>
            <a:endParaRPr lang="en-US" sz="21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Handheld devices like advanced mobile phones </a:t>
            </a:r>
            <a:r>
              <a:rPr lang="en-US" sz="2100" dirty="0" smtClean="0">
                <a:latin typeface="Times New Roman" panose="02020603050405020304" pitchFamily="18" charset="0"/>
                <a:cs typeface="Times New Roman" panose="02020603050405020304" pitchFamily="18" charset="0"/>
              </a:rPr>
              <a:t>are </a:t>
            </a:r>
            <a:r>
              <a:rPr lang="en-US" sz="2100" dirty="0">
                <a:latin typeface="Times New Roman" panose="02020603050405020304" pitchFamily="18" charset="0"/>
                <a:cs typeface="Times New Roman" panose="02020603050405020304" pitchFamily="18" charset="0"/>
              </a:rPr>
              <a:t>increasingly used for general purposes, similar to PCs. However, their design shares similarities with embedded systems. </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They are built with constraints on processor power, memory, size, and timing. </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Despite supporting multiple applications, their core design principles align more closely with embedded systems.</a:t>
            </a:r>
          </a:p>
          <a:p>
            <a:pPr marL="800100" lvl="1" indent="-342900" algn="just">
              <a:lnSpc>
                <a:spcPct val="150000"/>
              </a:lnSpc>
              <a:buFont typeface="Arial" panose="020B0604020202020204" pitchFamily="34" charset="0"/>
              <a:buChar char="•"/>
            </a:pPr>
            <a:endParaRPr lang="en-US"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26248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20</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20" y="1754270"/>
            <a:ext cx="12350620" cy="523220"/>
          </a:xfrm>
          <a:prstGeom prst="rect">
            <a:avLst/>
          </a:prstGeom>
          <a:noFill/>
        </p:spPr>
        <p:txBody>
          <a:bodyPr wrap="square">
            <a:spAutoFit/>
          </a:bodyPr>
          <a:lstStyle/>
          <a:p>
            <a:pPr marL="342900" marR="0" lvl="0" indent="-342900" algn="just" defTabSz="914400" rtl="0" eaLnBrk="1" fontAlgn="base" latinLnBrk="0" hangingPunct="1">
              <a:lnSpc>
                <a:spcPct val="100000"/>
              </a:lnSpc>
              <a:spcBef>
                <a:spcPct val="20000"/>
              </a:spcBef>
              <a:spcAft>
                <a:spcPct val="0"/>
              </a:spcAft>
              <a:buClr>
                <a:srgbClr val="996600"/>
              </a:buClr>
              <a:buSzTx/>
              <a:buFont typeface="Wingdings" panose="05000000000000000000" pitchFamily="2" charset="2"/>
              <a:buChar char="w"/>
              <a:tabLst/>
              <a:defRPr/>
            </a:pPr>
            <a:endParaRPr kumimoji="0" lang="en-US" altLang="en-US" sz="2800" b="0" i="0" u="none" strike="noStrike" kern="0" cap="none" spc="0" normalizeH="0" baseline="0" noProof="0" dirty="0">
              <a:ln>
                <a:noFill/>
              </a:ln>
              <a:solidFill>
                <a:srgbClr val="000000"/>
              </a:solidFill>
              <a:effectLst/>
              <a:uLnTx/>
              <a:uFillTx/>
              <a:latin typeface="Times New Roman"/>
              <a:ea typeface="+mn-ea"/>
              <a:cs typeface="+mn-cs"/>
            </a:endParaRPr>
          </a:p>
        </p:txBody>
      </p:sp>
      <p:sp>
        <p:nvSpPr>
          <p:cNvPr id="7" name="TextBox 6">
            <a:extLst>
              <a:ext uri="{FF2B5EF4-FFF2-40B4-BE49-F238E27FC236}">
                <a16:creationId xmlns:a16="http://schemas.microsoft.com/office/drawing/2014/main" xmlns="" id="{8F0FD7BA-1379-3787-FD96-632BA4C39924}"/>
              </a:ext>
            </a:extLst>
          </p:cNvPr>
          <p:cNvSpPr txBox="1"/>
          <p:nvPr/>
        </p:nvSpPr>
        <p:spPr>
          <a:xfrm>
            <a:off x="166403" y="1365940"/>
            <a:ext cx="6616959" cy="2942729"/>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3. Simple Embedded System</a:t>
            </a:r>
          </a:p>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3.4 Example of a Simple Embedded System</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We'll consider a very simple example, as shown in Figure. In this system, a Microcontroller Unit (MCU) acts as the brain, functioning as a temperature monitor and controller.</a:t>
            </a:r>
          </a:p>
        </p:txBody>
      </p:sp>
      <p:pic>
        <p:nvPicPr>
          <p:cNvPr id="9" name="Picture 8">
            <a:extLst>
              <a:ext uri="{FF2B5EF4-FFF2-40B4-BE49-F238E27FC236}">
                <a16:creationId xmlns:a16="http://schemas.microsoft.com/office/drawing/2014/main" xmlns="" id="{51CEDF23-E7AB-5225-6BBE-D78B3CDD3341}"/>
              </a:ext>
            </a:extLst>
          </p:cNvPr>
          <p:cNvPicPr>
            <a:picLocks noChangeAspect="1"/>
          </p:cNvPicPr>
          <p:nvPr/>
        </p:nvPicPr>
        <p:blipFill>
          <a:blip r:embed="rId3"/>
          <a:stretch>
            <a:fillRect/>
          </a:stretch>
        </p:blipFill>
        <p:spPr>
          <a:xfrm>
            <a:off x="6885211" y="2448436"/>
            <a:ext cx="4951445" cy="2246119"/>
          </a:xfrm>
          <a:prstGeom prst="rect">
            <a:avLst/>
          </a:prstGeom>
        </p:spPr>
      </p:pic>
      <p:sp>
        <p:nvSpPr>
          <p:cNvPr id="11" name="TextBox 10">
            <a:extLst>
              <a:ext uri="{FF2B5EF4-FFF2-40B4-BE49-F238E27FC236}">
                <a16:creationId xmlns:a16="http://schemas.microsoft.com/office/drawing/2014/main" xmlns="" id="{F2DA6B6E-F95F-8C8E-D80A-D7A4169EB7C8}"/>
              </a:ext>
            </a:extLst>
          </p:cNvPr>
          <p:cNvSpPr txBox="1"/>
          <p:nvPr/>
        </p:nvSpPr>
        <p:spPr>
          <a:xfrm>
            <a:off x="166402" y="4394642"/>
            <a:ext cx="11860757" cy="1973232"/>
          </a:xfrm>
          <a:prstGeom prst="rect">
            <a:avLst/>
          </a:prstGeom>
          <a:noFill/>
        </p:spPr>
        <p:txBody>
          <a:bodyPr wrap="square" rtlCol="0">
            <a:spAutoFit/>
          </a:bodyPr>
          <a:lstStyle/>
          <a:p>
            <a:pPr algn="just">
              <a:lnSpc>
                <a:spcPct val="150000"/>
              </a:lnSpc>
            </a:pPr>
            <a:r>
              <a:rPr lang="en-US" sz="2100" b="1" dirty="0">
                <a:latin typeface="Times New Roman" panose="02020603050405020304" pitchFamily="18" charset="0"/>
                <a:cs typeface="Times New Roman" panose="02020603050405020304" pitchFamily="18" charset="0"/>
              </a:rPr>
              <a:t>System Flow</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Temperature Reading: </a:t>
            </a:r>
            <a:r>
              <a:rPr lang="en-US" sz="2100" dirty="0">
                <a:latin typeface="Times New Roman" panose="02020603050405020304" pitchFamily="18" charset="0"/>
                <a:cs typeface="Times New Roman" panose="02020603050405020304" pitchFamily="18" charset="0"/>
              </a:rPr>
              <a:t>A sensor reads the temperature.</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Analog to Digital Conversion: </a:t>
            </a:r>
            <a:r>
              <a:rPr lang="en-US" sz="2100" dirty="0">
                <a:latin typeface="Times New Roman" panose="02020603050405020304" pitchFamily="18" charset="0"/>
                <a:cs typeface="Times New Roman" panose="02020603050405020304" pitchFamily="18" charset="0"/>
              </a:rPr>
              <a:t>The MCU has an Analog-to-Digital Converter (ADC) that converts the temperature data to digital form.</a:t>
            </a:r>
          </a:p>
        </p:txBody>
      </p:sp>
    </p:spTree>
    <p:extLst>
      <p:ext uri="{BB962C8B-B14F-4D97-AF65-F5344CB8AC3E}">
        <p14:creationId xmlns:p14="http://schemas.microsoft.com/office/powerpoint/2010/main" val="34873370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21</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20" y="1754270"/>
            <a:ext cx="12350620" cy="523220"/>
          </a:xfrm>
          <a:prstGeom prst="rect">
            <a:avLst/>
          </a:prstGeom>
          <a:noFill/>
        </p:spPr>
        <p:txBody>
          <a:bodyPr wrap="square">
            <a:spAutoFit/>
          </a:bodyPr>
          <a:lstStyle/>
          <a:p>
            <a:pPr marL="342900" marR="0" lvl="0" indent="-342900" algn="just" defTabSz="914400" rtl="0" eaLnBrk="1" fontAlgn="base" latinLnBrk="0" hangingPunct="1">
              <a:lnSpc>
                <a:spcPct val="100000"/>
              </a:lnSpc>
              <a:spcBef>
                <a:spcPct val="20000"/>
              </a:spcBef>
              <a:spcAft>
                <a:spcPct val="0"/>
              </a:spcAft>
              <a:buClr>
                <a:srgbClr val="996600"/>
              </a:buClr>
              <a:buSzTx/>
              <a:buFont typeface="Wingdings" panose="05000000000000000000" pitchFamily="2" charset="2"/>
              <a:buChar char="w"/>
              <a:tabLst/>
              <a:defRPr/>
            </a:pPr>
            <a:endParaRPr kumimoji="0" lang="en-US" altLang="en-US" sz="2800" b="0" i="0" u="none" strike="noStrike" kern="0" cap="none" spc="0" normalizeH="0" baseline="0" noProof="0" dirty="0">
              <a:ln>
                <a:noFill/>
              </a:ln>
              <a:solidFill>
                <a:srgbClr val="000000"/>
              </a:solidFill>
              <a:effectLst/>
              <a:uLnTx/>
              <a:uFillTx/>
              <a:latin typeface="Times New Roman"/>
              <a:ea typeface="+mn-ea"/>
              <a:cs typeface="+mn-cs"/>
            </a:endParaRPr>
          </a:p>
        </p:txBody>
      </p:sp>
      <p:sp>
        <p:nvSpPr>
          <p:cNvPr id="7" name="TextBox 6">
            <a:extLst>
              <a:ext uri="{FF2B5EF4-FFF2-40B4-BE49-F238E27FC236}">
                <a16:creationId xmlns:a16="http://schemas.microsoft.com/office/drawing/2014/main" xmlns="" id="{8F0FD7BA-1379-3787-FD96-632BA4C39924}"/>
              </a:ext>
            </a:extLst>
          </p:cNvPr>
          <p:cNvSpPr txBox="1"/>
          <p:nvPr/>
        </p:nvSpPr>
        <p:spPr>
          <a:xfrm>
            <a:off x="166403" y="1365940"/>
            <a:ext cx="6616959" cy="2457981"/>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3. Simple Embedded System</a:t>
            </a:r>
          </a:p>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3.4 Example of a Simple Embedded System</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Comparison and Control</a:t>
            </a:r>
            <a:r>
              <a:rPr lang="en-US" sz="2100" dirty="0">
                <a:latin typeface="Times New Roman" panose="02020603050405020304" pitchFamily="18" charset="0"/>
                <a:cs typeface="Times New Roman" panose="02020603050405020304" pitchFamily="18" charset="0"/>
              </a:rPr>
              <a:t>: </a:t>
            </a:r>
          </a:p>
          <a:p>
            <a:pPr marL="800100" lvl="1"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The digital temperature data is compared to a reference temperature. </a:t>
            </a:r>
          </a:p>
        </p:txBody>
      </p:sp>
      <p:pic>
        <p:nvPicPr>
          <p:cNvPr id="9" name="Picture 8">
            <a:extLst>
              <a:ext uri="{FF2B5EF4-FFF2-40B4-BE49-F238E27FC236}">
                <a16:creationId xmlns:a16="http://schemas.microsoft.com/office/drawing/2014/main" xmlns="" id="{51CEDF23-E7AB-5225-6BBE-D78B3CDD3341}"/>
              </a:ext>
            </a:extLst>
          </p:cNvPr>
          <p:cNvPicPr>
            <a:picLocks noChangeAspect="1"/>
          </p:cNvPicPr>
          <p:nvPr/>
        </p:nvPicPr>
        <p:blipFill>
          <a:blip r:embed="rId3"/>
          <a:stretch>
            <a:fillRect/>
          </a:stretch>
        </p:blipFill>
        <p:spPr>
          <a:xfrm>
            <a:off x="7129696" y="1770649"/>
            <a:ext cx="5062304" cy="2296408"/>
          </a:xfrm>
          <a:prstGeom prst="rect">
            <a:avLst/>
          </a:prstGeom>
        </p:spPr>
      </p:pic>
      <p:sp>
        <p:nvSpPr>
          <p:cNvPr id="11" name="TextBox 10">
            <a:extLst>
              <a:ext uri="{FF2B5EF4-FFF2-40B4-BE49-F238E27FC236}">
                <a16:creationId xmlns:a16="http://schemas.microsoft.com/office/drawing/2014/main" xmlns="" id="{F2DA6B6E-F95F-8C8E-D80A-D7A4169EB7C8}"/>
              </a:ext>
            </a:extLst>
          </p:cNvPr>
          <p:cNvSpPr txBox="1"/>
          <p:nvPr/>
        </p:nvSpPr>
        <p:spPr>
          <a:xfrm>
            <a:off x="166403" y="3729108"/>
            <a:ext cx="11860757" cy="3658309"/>
          </a:xfrm>
          <a:prstGeom prst="rect">
            <a:avLst/>
          </a:prstGeom>
          <a:noFill/>
        </p:spPr>
        <p:txBody>
          <a:bodyPr wrap="square" rtlCol="0">
            <a:spAutoFit/>
          </a:bodyPr>
          <a:lstStyle/>
          <a:p>
            <a:pPr marL="800100" lvl="1"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If the temperature exceeds the allowed value, an alarm is triggered. </a:t>
            </a:r>
          </a:p>
          <a:p>
            <a:pPr marL="800100" lvl="1"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The MCU also activates a cooling fan to reduce the temperature.</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Temperature Display: </a:t>
            </a:r>
            <a:r>
              <a:rPr lang="en-US" sz="2100" dirty="0">
                <a:latin typeface="Times New Roman" panose="02020603050405020304" pitchFamily="18" charset="0"/>
                <a:cs typeface="Times New Roman" panose="02020603050405020304" pitchFamily="18" charset="0"/>
              </a:rPr>
              <a:t>The temperature is shown on a digital display.</a:t>
            </a:r>
          </a:p>
          <a:p>
            <a:pPr algn="just">
              <a:lnSpc>
                <a:spcPct val="150000"/>
              </a:lnSpc>
            </a:pPr>
            <a:endParaRPr lang="en-US" sz="500" dirty="0">
              <a:latin typeface="Times New Roman" panose="02020603050405020304" pitchFamily="18" charset="0"/>
              <a:cs typeface="Times New Roman" panose="02020603050405020304" pitchFamily="18" charset="0"/>
            </a:endParaRPr>
          </a:p>
          <a:p>
            <a:pPr algn="just">
              <a:lnSpc>
                <a:spcPct val="150000"/>
              </a:lnSpc>
            </a:pPr>
            <a:r>
              <a:rPr lang="en-US" sz="2100" dirty="0">
                <a:solidFill>
                  <a:srgbClr val="C00000"/>
                </a:solidFill>
                <a:latin typeface="Times New Roman" panose="02020603050405020304" pitchFamily="18" charset="0"/>
                <a:cs typeface="Times New Roman" panose="02020603050405020304" pitchFamily="18" charset="0"/>
              </a:rPr>
              <a:t>Thus, the outputs of the system include:</a:t>
            </a:r>
          </a:p>
          <a:p>
            <a:pPr marL="800100" lvl="1" indent="-342900" algn="just">
              <a:lnSpc>
                <a:spcPct val="150000"/>
              </a:lnSpc>
              <a:buFont typeface="Arial" panose="020B0604020202020204" pitchFamily="34" charset="0"/>
              <a:buChar char="•"/>
            </a:pPr>
            <a:r>
              <a:rPr lang="en-US" sz="2100" b="1" i="1" dirty="0">
                <a:solidFill>
                  <a:srgbClr val="C00000"/>
                </a:solidFill>
                <a:latin typeface="Times New Roman" panose="02020603050405020304" pitchFamily="18" charset="0"/>
                <a:cs typeface="Times New Roman" panose="02020603050405020304" pitchFamily="18" charset="0"/>
              </a:rPr>
              <a:t>Display of the temperature value, Activation of an alarm, Control of a cooling fan motor. </a:t>
            </a:r>
            <a:r>
              <a:rPr lang="en-US" sz="2100" b="1" dirty="0">
                <a:solidFill>
                  <a:schemeClr val="accent6">
                    <a:lumMod val="75000"/>
                  </a:schemeClr>
                </a:solidFill>
                <a:latin typeface="Times New Roman" panose="02020603050405020304" pitchFamily="18" charset="0"/>
                <a:cs typeface="Times New Roman" panose="02020603050405020304" pitchFamily="18" charset="0"/>
              </a:rPr>
              <a:t>The input is simply the temperature sensor.</a:t>
            </a:r>
          </a:p>
          <a:p>
            <a:pPr marL="342900" indent="-342900" algn="just">
              <a:lnSpc>
                <a:spcPct val="150000"/>
              </a:lnSpc>
              <a:buFont typeface="Arial" panose="020B0604020202020204" pitchFamily="34" charset="0"/>
              <a:buChar char="•"/>
            </a:pPr>
            <a:endParaRPr lang="en-US"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51064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22</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20" y="1754270"/>
            <a:ext cx="12350620" cy="523220"/>
          </a:xfrm>
          <a:prstGeom prst="rect">
            <a:avLst/>
          </a:prstGeom>
          <a:noFill/>
        </p:spPr>
        <p:txBody>
          <a:bodyPr wrap="square">
            <a:spAutoFit/>
          </a:bodyPr>
          <a:lstStyle/>
          <a:p>
            <a:pPr marL="342900" marR="0" lvl="0" indent="-342900" algn="just" defTabSz="914400" rtl="0" eaLnBrk="1" fontAlgn="base" latinLnBrk="0" hangingPunct="1">
              <a:lnSpc>
                <a:spcPct val="100000"/>
              </a:lnSpc>
              <a:spcBef>
                <a:spcPct val="20000"/>
              </a:spcBef>
              <a:spcAft>
                <a:spcPct val="0"/>
              </a:spcAft>
              <a:buClr>
                <a:srgbClr val="996600"/>
              </a:buClr>
              <a:buSzTx/>
              <a:buFont typeface="Wingdings" panose="05000000000000000000" pitchFamily="2" charset="2"/>
              <a:buChar char="w"/>
              <a:tabLst/>
              <a:defRPr/>
            </a:pPr>
            <a:endParaRPr kumimoji="0" lang="en-US" altLang="en-US" sz="2800" b="0" i="0" u="none" strike="noStrike" kern="0" cap="none" spc="0" normalizeH="0" baseline="0" noProof="0" dirty="0">
              <a:ln>
                <a:noFill/>
              </a:ln>
              <a:solidFill>
                <a:srgbClr val="000000"/>
              </a:solidFill>
              <a:effectLst/>
              <a:uLnTx/>
              <a:uFillTx/>
              <a:latin typeface="Times New Roman"/>
              <a:ea typeface="+mn-ea"/>
              <a:cs typeface="+mn-cs"/>
            </a:endParaRPr>
          </a:p>
        </p:txBody>
      </p:sp>
      <p:sp>
        <p:nvSpPr>
          <p:cNvPr id="7" name="TextBox 6">
            <a:extLst>
              <a:ext uri="{FF2B5EF4-FFF2-40B4-BE49-F238E27FC236}">
                <a16:creationId xmlns:a16="http://schemas.microsoft.com/office/drawing/2014/main" xmlns="" id="{8F0FD7BA-1379-3787-FD96-632BA4C39924}"/>
              </a:ext>
            </a:extLst>
          </p:cNvPr>
          <p:cNvSpPr txBox="1"/>
          <p:nvPr/>
        </p:nvSpPr>
        <p:spPr>
          <a:xfrm>
            <a:off x="166403" y="876648"/>
            <a:ext cx="8235917" cy="1003736"/>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3. Simple Embedded System</a:t>
            </a:r>
          </a:p>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3.4 Example of a Simple Embedded System - </a:t>
            </a:r>
            <a:r>
              <a:rPr lang="en-US" sz="2100" b="1" dirty="0">
                <a:latin typeface="Times New Roman" panose="02020603050405020304" pitchFamily="18" charset="0"/>
                <a:cs typeface="Times New Roman" panose="02020603050405020304" pitchFamily="18" charset="0"/>
              </a:rPr>
              <a:t>Working: </a:t>
            </a:r>
          </a:p>
        </p:txBody>
      </p:sp>
      <p:pic>
        <p:nvPicPr>
          <p:cNvPr id="9" name="Picture 8">
            <a:extLst>
              <a:ext uri="{FF2B5EF4-FFF2-40B4-BE49-F238E27FC236}">
                <a16:creationId xmlns:a16="http://schemas.microsoft.com/office/drawing/2014/main" xmlns="" id="{51CEDF23-E7AB-5225-6BBE-D78B3CDD3341}"/>
              </a:ext>
            </a:extLst>
          </p:cNvPr>
          <p:cNvPicPr>
            <a:picLocks noChangeAspect="1"/>
          </p:cNvPicPr>
          <p:nvPr/>
        </p:nvPicPr>
        <p:blipFill>
          <a:blip r:embed="rId3"/>
          <a:stretch>
            <a:fillRect/>
          </a:stretch>
        </p:blipFill>
        <p:spPr>
          <a:xfrm>
            <a:off x="7095426" y="1763830"/>
            <a:ext cx="4951445" cy="2246119"/>
          </a:xfrm>
          <a:prstGeom prst="rect">
            <a:avLst/>
          </a:prstGeom>
        </p:spPr>
      </p:pic>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xmlns="" id="{7319737B-4CE7-240A-7310-671EE11A6293}"/>
              </a:ext>
            </a:extLst>
          </p:cNvPr>
          <p:cNvSpPr txBox="1"/>
          <p:nvPr/>
        </p:nvSpPr>
        <p:spPr>
          <a:xfrm>
            <a:off x="153451" y="3883026"/>
            <a:ext cx="11859194" cy="2942729"/>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The ADC inside the MCU converts the analog temperature to a digital number. </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The display is refreshed at the same rate as the temperature readings.</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The program is written, tested, and stored in the ROM (usually flash ROM) of the MCU. It runs continuously. </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The entire circuitry is mounted on a Printed Circuit Board (PCB), enclosed in a casing, and becomes a product. The user places this product in the desired area to measure temperature.</a:t>
            </a:r>
          </a:p>
        </p:txBody>
      </p:sp>
      <p:sp>
        <p:nvSpPr>
          <p:cNvPr id="23" name="TextBox 22">
            <a:extLst>
              <a:ext uri="{FF2B5EF4-FFF2-40B4-BE49-F238E27FC236}">
                <a16:creationId xmlns:a16="http://schemas.microsoft.com/office/drawing/2014/main" xmlns="" id="{229001E4-1FDE-9254-B35B-E1C562E062B5}"/>
              </a:ext>
            </a:extLst>
          </p:cNvPr>
          <p:cNvSpPr txBox="1"/>
          <p:nvPr/>
        </p:nvSpPr>
        <p:spPr>
          <a:xfrm>
            <a:off x="166403" y="1899889"/>
            <a:ext cx="6604000" cy="1973232"/>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The system's program continuously measures the temperature at the sensor with a delay, T, between readings. </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This delay is managed by a timer inside the MCU. </a:t>
            </a:r>
          </a:p>
        </p:txBody>
      </p:sp>
    </p:spTree>
    <p:extLst>
      <p:ext uri="{BB962C8B-B14F-4D97-AF65-F5344CB8AC3E}">
        <p14:creationId xmlns:p14="http://schemas.microsoft.com/office/powerpoint/2010/main" val="7229975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23</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20" y="1754270"/>
            <a:ext cx="12350620" cy="523220"/>
          </a:xfrm>
          <a:prstGeom prst="rect">
            <a:avLst/>
          </a:prstGeom>
          <a:noFill/>
        </p:spPr>
        <p:txBody>
          <a:bodyPr wrap="square">
            <a:spAutoFit/>
          </a:bodyPr>
          <a:lstStyle/>
          <a:p>
            <a:pPr marL="342900" marR="0" lvl="0" indent="-342900" algn="just" defTabSz="914400" rtl="0" eaLnBrk="1" fontAlgn="base" latinLnBrk="0" hangingPunct="1">
              <a:lnSpc>
                <a:spcPct val="100000"/>
              </a:lnSpc>
              <a:spcBef>
                <a:spcPct val="20000"/>
              </a:spcBef>
              <a:spcAft>
                <a:spcPct val="0"/>
              </a:spcAft>
              <a:buClr>
                <a:srgbClr val="996600"/>
              </a:buClr>
              <a:buSzTx/>
              <a:buFont typeface="Wingdings" panose="05000000000000000000" pitchFamily="2" charset="2"/>
              <a:buChar char="w"/>
              <a:tabLst/>
              <a:defRPr/>
            </a:pPr>
            <a:endParaRPr kumimoji="0" lang="en-US" altLang="en-US" sz="2800" b="0" i="0" u="none" strike="noStrike" kern="0" cap="none" spc="0" normalizeH="0" baseline="0" noProof="0" dirty="0">
              <a:ln>
                <a:noFill/>
              </a:ln>
              <a:solidFill>
                <a:srgbClr val="000000"/>
              </a:solidFill>
              <a:effectLst/>
              <a:uLnTx/>
              <a:uFillTx/>
              <a:latin typeface="Times New Roman"/>
              <a:ea typeface="+mn-ea"/>
              <a:cs typeface="+mn-cs"/>
            </a:endParaRPr>
          </a:p>
        </p:txBody>
      </p:sp>
      <p:sp>
        <p:nvSpPr>
          <p:cNvPr id="7" name="TextBox 6">
            <a:extLst>
              <a:ext uri="{FF2B5EF4-FFF2-40B4-BE49-F238E27FC236}">
                <a16:creationId xmlns:a16="http://schemas.microsoft.com/office/drawing/2014/main" xmlns="" id="{8F0FD7BA-1379-3787-FD96-632BA4C39924}"/>
              </a:ext>
            </a:extLst>
          </p:cNvPr>
          <p:cNvSpPr txBox="1"/>
          <p:nvPr/>
        </p:nvSpPr>
        <p:spPr>
          <a:xfrm>
            <a:off x="166403" y="876648"/>
            <a:ext cx="8235917" cy="1003736"/>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3. Simple Embedded System</a:t>
            </a:r>
          </a:p>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3.4 Example of a Simple Embedded System - </a:t>
            </a:r>
            <a:r>
              <a:rPr lang="en-US" sz="2100" b="1" dirty="0">
                <a:latin typeface="Times New Roman" panose="02020603050405020304" pitchFamily="18" charset="0"/>
                <a:cs typeface="Times New Roman" panose="02020603050405020304" pitchFamily="18" charset="0"/>
              </a:rPr>
              <a:t>Updating the Program: </a:t>
            </a:r>
          </a:p>
        </p:txBody>
      </p:sp>
      <p:pic>
        <p:nvPicPr>
          <p:cNvPr id="9" name="Picture 8">
            <a:extLst>
              <a:ext uri="{FF2B5EF4-FFF2-40B4-BE49-F238E27FC236}">
                <a16:creationId xmlns:a16="http://schemas.microsoft.com/office/drawing/2014/main" xmlns="" id="{51CEDF23-E7AB-5225-6BBE-D78B3CDD3341}"/>
              </a:ext>
            </a:extLst>
          </p:cNvPr>
          <p:cNvPicPr>
            <a:picLocks noChangeAspect="1"/>
          </p:cNvPicPr>
          <p:nvPr/>
        </p:nvPicPr>
        <p:blipFill>
          <a:blip r:embed="rId3"/>
          <a:stretch>
            <a:fillRect/>
          </a:stretch>
        </p:blipFill>
        <p:spPr>
          <a:xfrm>
            <a:off x="7142915" y="2164739"/>
            <a:ext cx="4951445" cy="2246119"/>
          </a:xfrm>
          <a:prstGeom prst="rect">
            <a:avLst/>
          </a:prstGeom>
        </p:spPr>
      </p:pic>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xmlns="" id="{7319737B-4CE7-240A-7310-671EE11A6293}"/>
              </a:ext>
            </a:extLst>
          </p:cNvPr>
          <p:cNvSpPr txBox="1"/>
          <p:nvPr/>
        </p:nvSpPr>
        <p:spPr>
          <a:xfrm>
            <a:off x="166403" y="4795722"/>
            <a:ext cx="11859194" cy="1973232"/>
          </a:xfrm>
          <a:prstGeom prst="rect">
            <a:avLst/>
          </a:prstGeom>
          <a:noFill/>
        </p:spPr>
        <p:txBody>
          <a:bodyPr wrap="square">
            <a:spAutoFit/>
          </a:bodyPr>
          <a:lstStyle/>
          <a:p>
            <a:pPr algn="just">
              <a:lnSpc>
                <a:spcPct val="150000"/>
              </a:lnSpc>
            </a:pPr>
            <a:r>
              <a:rPr lang="en-US" sz="2100" b="1" dirty="0">
                <a:latin typeface="Times New Roman" panose="02020603050405020304" pitchFamily="18" charset="0"/>
                <a:cs typeface="Times New Roman" panose="02020603050405020304" pitchFamily="18" charset="0"/>
              </a:rPr>
              <a:t>Interrupt Handling:</a:t>
            </a:r>
            <a:r>
              <a:rPr lang="en-US" sz="2100" dirty="0">
                <a:latin typeface="Times New Roman" panose="02020603050405020304" pitchFamily="18" charset="0"/>
                <a:cs typeface="Times New Roman" panose="02020603050405020304" pitchFamily="18" charset="0"/>
              </a:rPr>
              <a:t> When a key is pressed on the keyboard, an Interrupt Service Routine (ISR) is activated to check the password and allow the user to change the reference temperature settings. This programming method, where a program continually runs in memory, is called the "</a:t>
            </a:r>
            <a:r>
              <a:rPr lang="en-US" sz="2100" dirty="0" err="1">
                <a:latin typeface="Times New Roman" panose="02020603050405020304" pitchFamily="18" charset="0"/>
                <a:cs typeface="Times New Roman" panose="02020603050405020304" pitchFamily="18" charset="0"/>
              </a:rPr>
              <a:t>superloop</a:t>
            </a:r>
            <a:r>
              <a:rPr lang="en-US" sz="2100" dirty="0">
                <a:latin typeface="Times New Roman" panose="02020603050405020304" pitchFamily="18" charset="0"/>
                <a:cs typeface="Times New Roman" panose="02020603050405020304" pitchFamily="18" charset="0"/>
              </a:rPr>
              <a:t> approach." The system accepts any aperiodic input through interrupts.</a:t>
            </a:r>
          </a:p>
        </p:txBody>
      </p:sp>
      <p:sp>
        <p:nvSpPr>
          <p:cNvPr id="23" name="TextBox 22">
            <a:extLst>
              <a:ext uri="{FF2B5EF4-FFF2-40B4-BE49-F238E27FC236}">
                <a16:creationId xmlns:a16="http://schemas.microsoft.com/office/drawing/2014/main" xmlns="" id="{229001E4-1FDE-9254-B35B-E1C562E062B5}"/>
              </a:ext>
            </a:extLst>
          </p:cNvPr>
          <p:cNvSpPr txBox="1"/>
          <p:nvPr/>
        </p:nvSpPr>
        <p:spPr>
          <a:xfrm>
            <a:off x="166403" y="1899889"/>
            <a:ext cx="6604000" cy="2942729"/>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If the program needs to be updated, the designer has to intervene; the user cannot change the finished product. However, the product can have a user interface, such as a keyboard, allowing the user to change the reference temperature. This keyboard input can be used with a password (optional) to change settings.</a:t>
            </a:r>
          </a:p>
        </p:txBody>
      </p:sp>
    </p:spTree>
    <p:extLst>
      <p:ext uri="{BB962C8B-B14F-4D97-AF65-F5344CB8AC3E}">
        <p14:creationId xmlns:p14="http://schemas.microsoft.com/office/powerpoint/2010/main" val="19100483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24</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20" y="1754270"/>
            <a:ext cx="12350620" cy="523220"/>
          </a:xfrm>
          <a:prstGeom prst="rect">
            <a:avLst/>
          </a:prstGeom>
          <a:noFill/>
        </p:spPr>
        <p:txBody>
          <a:bodyPr wrap="square">
            <a:spAutoFit/>
          </a:bodyPr>
          <a:lstStyle/>
          <a:p>
            <a:pPr marL="342900" marR="0" lvl="0" indent="-342900" algn="just" defTabSz="914400" rtl="0" eaLnBrk="1" fontAlgn="base" latinLnBrk="0" hangingPunct="1">
              <a:lnSpc>
                <a:spcPct val="100000"/>
              </a:lnSpc>
              <a:spcBef>
                <a:spcPct val="20000"/>
              </a:spcBef>
              <a:spcAft>
                <a:spcPct val="0"/>
              </a:spcAft>
              <a:buClr>
                <a:srgbClr val="996600"/>
              </a:buClr>
              <a:buSzTx/>
              <a:buFont typeface="Wingdings" panose="05000000000000000000" pitchFamily="2" charset="2"/>
              <a:buChar char="w"/>
              <a:tabLst/>
              <a:defRPr/>
            </a:pPr>
            <a:endParaRPr kumimoji="0" lang="en-US" altLang="en-US" sz="2800" b="0" i="0" u="none" strike="noStrike" kern="0" cap="none" spc="0" normalizeH="0" baseline="0" noProof="0" dirty="0">
              <a:ln>
                <a:noFill/>
              </a:ln>
              <a:solidFill>
                <a:srgbClr val="000000"/>
              </a:solidFill>
              <a:effectLst/>
              <a:uLnTx/>
              <a:uFillTx/>
              <a:latin typeface="Times New Roman"/>
              <a:ea typeface="+mn-ea"/>
              <a:cs typeface="+mn-cs"/>
            </a:endParaRPr>
          </a:p>
        </p:txBody>
      </p:sp>
      <p:sp>
        <p:nvSpPr>
          <p:cNvPr id="7" name="TextBox 6">
            <a:extLst>
              <a:ext uri="{FF2B5EF4-FFF2-40B4-BE49-F238E27FC236}">
                <a16:creationId xmlns:a16="http://schemas.microsoft.com/office/drawing/2014/main" xmlns="" id="{8F0FD7BA-1379-3787-FD96-632BA4C39924}"/>
              </a:ext>
            </a:extLst>
          </p:cNvPr>
          <p:cNvSpPr txBox="1"/>
          <p:nvPr/>
        </p:nvSpPr>
        <p:spPr>
          <a:xfrm>
            <a:off x="166403" y="876648"/>
            <a:ext cx="8723597" cy="1003736"/>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3. Simple Embedded System</a:t>
            </a:r>
          </a:p>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3.4 Example of a Simple Embedded System - </a:t>
            </a:r>
            <a:r>
              <a:rPr lang="en-US" sz="2100" b="1" dirty="0">
                <a:latin typeface="Times New Roman" panose="02020603050405020304" pitchFamily="18" charset="0"/>
                <a:cs typeface="Times New Roman" panose="02020603050405020304" pitchFamily="18" charset="0"/>
              </a:rPr>
              <a:t>More Complex Systems: </a:t>
            </a:r>
          </a:p>
        </p:txBody>
      </p:sp>
      <p:pic>
        <p:nvPicPr>
          <p:cNvPr id="9" name="Picture 8">
            <a:extLst>
              <a:ext uri="{FF2B5EF4-FFF2-40B4-BE49-F238E27FC236}">
                <a16:creationId xmlns:a16="http://schemas.microsoft.com/office/drawing/2014/main" xmlns="" id="{51CEDF23-E7AB-5225-6BBE-D78B3CDD3341}"/>
              </a:ext>
            </a:extLst>
          </p:cNvPr>
          <p:cNvPicPr>
            <a:picLocks noChangeAspect="1"/>
          </p:cNvPicPr>
          <p:nvPr/>
        </p:nvPicPr>
        <p:blipFill>
          <a:blip r:embed="rId3"/>
          <a:stretch>
            <a:fillRect/>
          </a:stretch>
        </p:blipFill>
        <p:spPr>
          <a:xfrm>
            <a:off x="7056531" y="1817412"/>
            <a:ext cx="4951445" cy="2246119"/>
          </a:xfrm>
          <a:prstGeom prst="rect">
            <a:avLst/>
          </a:prstGeom>
        </p:spPr>
      </p:pic>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xmlns="" id="{7319737B-4CE7-240A-7310-671EE11A6293}"/>
              </a:ext>
            </a:extLst>
          </p:cNvPr>
          <p:cNvSpPr txBox="1"/>
          <p:nvPr/>
        </p:nvSpPr>
        <p:spPr>
          <a:xfrm>
            <a:off x="148782" y="4199665"/>
            <a:ext cx="11859194" cy="2942729"/>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Such complex systems require a "manager," typically an operating system (OS), to handle the various tasks and response times. Popular mobile phone operating systems include Symbian and Android. </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Other complex systems, such as PDAs, telecom networks, and wireless sensor networks, also use operating systems. </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Operating systems are necessary when system complexity, due to multiple tasks and critical response times, dictates their need.</a:t>
            </a:r>
          </a:p>
        </p:txBody>
      </p:sp>
      <p:sp>
        <p:nvSpPr>
          <p:cNvPr id="23" name="TextBox 22">
            <a:extLst>
              <a:ext uri="{FF2B5EF4-FFF2-40B4-BE49-F238E27FC236}">
                <a16:creationId xmlns:a16="http://schemas.microsoft.com/office/drawing/2014/main" xmlns="" id="{229001E4-1FDE-9254-B35B-E1C562E062B5}"/>
              </a:ext>
            </a:extLst>
          </p:cNvPr>
          <p:cNvSpPr txBox="1"/>
          <p:nvPr/>
        </p:nvSpPr>
        <p:spPr>
          <a:xfrm>
            <a:off x="166403" y="1899889"/>
            <a:ext cx="6604000" cy="2457981"/>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Fore more complex systems, like a mobile phone, multiple functions are performed, such as handling voice calls, messaging, internet access, and media playback. Some applications are time-critical, while others are not. </a:t>
            </a:r>
          </a:p>
        </p:txBody>
      </p:sp>
    </p:spTree>
    <p:extLst>
      <p:ext uri="{BB962C8B-B14F-4D97-AF65-F5344CB8AC3E}">
        <p14:creationId xmlns:p14="http://schemas.microsoft.com/office/powerpoint/2010/main" val="11774323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25</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20" y="1754270"/>
            <a:ext cx="12350620" cy="523220"/>
          </a:xfrm>
          <a:prstGeom prst="rect">
            <a:avLst/>
          </a:prstGeom>
          <a:noFill/>
        </p:spPr>
        <p:txBody>
          <a:bodyPr wrap="square">
            <a:spAutoFit/>
          </a:bodyPr>
          <a:lstStyle/>
          <a:p>
            <a:pPr marL="342900" marR="0" lvl="0" indent="-342900" algn="just" defTabSz="914400" rtl="0" eaLnBrk="1" fontAlgn="base" latinLnBrk="0" hangingPunct="1">
              <a:lnSpc>
                <a:spcPct val="100000"/>
              </a:lnSpc>
              <a:spcBef>
                <a:spcPct val="20000"/>
              </a:spcBef>
              <a:spcAft>
                <a:spcPct val="0"/>
              </a:spcAft>
              <a:buClr>
                <a:srgbClr val="996600"/>
              </a:buClr>
              <a:buSzTx/>
              <a:buFont typeface="Wingdings" panose="05000000000000000000" pitchFamily="2" charset="2"/>
              <a:buChar char="w"/>
              <a:tabLst/>
              <a:defRPr/>
            </a:pPr>
            <a:endParaRPr kumimoji="0" lang="en-US" altLang="en-US" sz="2800" b="0" i="0" u="none" strike="noStrike" kern="0" cap="none" spc="0" normalizeH="0" baseline="0" noProof="0" dirty="0">
              <a:ln>
                <a:noFill/>
              </a:ln>
              <a:solidFill>
                <a:srgbClr val="000000"/>
              </a:solidFill>
              <a:effectLst/>
              <a:uLnTx/>
              <a:uFillTx/>
              <a:latin typeface="Times New Roman"/>
              <a:ea typeface="+mn-ea"/>
              <a:cs typeface="+mn-cs"/>
            </a:endParaRPr>
          </a:p>
        </p:txBody>
      </p:sp>
      <p:sp>
        <p:nvSpPr>
          <p:cNvPr id="7" name="TextBox 6">
            <a:extLst>
              <a:ext uri="{FF2B5EF4-FFF2-40B4-BE49-F238E27FC236}">
                <a16:creationId xmlns:a16="http://schemas.microsoft.com/office/drawing/2014/main" xmlns="" id="{8F0FD7BA-1379-3787-FD96-632BA4C39924}"/>
              </a:ext>
            </a:extLst>
          </p:cNvPr>
          <p:cNvSpPr txBox="1"/>
          <p:nvPr/>
        </p:nvSpPr>
        <p:spPr>
          <a:xfrm>
            <a:off x="166403" y="876648"/>
            <a:ext cx="8723597" cy="518988"/>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4. Microprocessor vs Microcontroller</a:t>
            </a: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xmlns="" id="{DA37526C-6BA8-F4F4-7EB7-F7098BE7EB5C}"/>
              </a:ext>
            </a:extLst>
          </p:cNvPr>
          <p:cNvPicPr>
            <a:picLocks noChangeAspect="1"/>
          </p:cNvPicPr>
          <p:nvPr/>
        </p:nvPicPr>
        <p:blipFill>
          <a:blip r:embed="rId3"/>
          <a:stretch>
            <a:fillRect/>
          </a:stretch>
        </p:blipFill>
        <p:spPr>
          <a:xfrm>
            <a:off x="1094716" y="1779463"/>
            <a:ext cx="4461551" cy="4523174"/>
          </a:xfrm>
          <a:prstGeom prst="rect">
            <a:avLst/>
          </a:prstGeom>
        </p:spPr>
      </p:pic>
      <p:pic>
        <p:nvPicPr>
          <p:cNvPr id="14" name="Picture 13">
            <a:extLst>
              <a:ext uri="{FF2B5EF4-FFF2-40B4-BE49-F238E27FC236}">
                <a16:creationId xmlns:a16="http://schemas.microsoft.com/office/drawing/2014/main" xmlns="" id="{D1B9BA91-A349-844C-9B31-3AA3D1EF676C}"/>
              </a:ext>
            </a:extLst>
          </p:cNvPr>
          <p:cNvPicPr>
            <a:picLocks noChangeAspect="1"/>
          </p:cNvPicPr>
          <p:nvPr/>
        </p:nvPicPr>
        <p:blipFill>
          <a:blip r:embed="rId4"/>
          <a:stretch>
            <a:fillRect/>
          </a:stretch>
        </p:blipFill>
        <p:spPr>
          <a:xfrm>
            <a:off x="6195791" y="1779463"/>
            <a:ext cx="5158009" cy="4360236"/>
          </a:xfrm>
          <a:prstGeom prst="rect">
            <a:avLst/>
          </a:prstGeom>
        </p:spPr>
      </p:pic>
      <p:cxnSp>
        <p:nvCxnSpPr>
          <p:cNvPr id="16" name="Straight Connector 15">
            <a:extLst>
              <a:ext uri="{FF2B5EF4-FFF2-40B4-BE49-F238E27FC236}">
                <a16:creationId xmlns:a16="http://schemas.microsoft.com/office/drawing/2014/main" xmlns="" id="{A66B59AA-6F37-D34B-3CFC-8BBF72965D47}"/>
              </a:ext>
            </a:extLst>
          </p:cNvPr>
          <p:cNvCxnSpPr/>
          <p:nvPr/>
        </p:nvCxnSpPr>
        <p:spPr>
          <a:xfrm>
            <a:off x="5906277" y="1485515"/>
            <a:ext cx="0" cy="5124802"/>
          </a:xfrm>
          <a:prstGeom prst="line">
            <a:avLst/>
          </a:prstGeom>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12549984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26</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20" y="1754270"/>
            <a:ext cx="12350620" cy="523220"/>
          </a:xfrm>
          <a:prstGeom prst="rect">
            <a:avLst/>
          </a:prstGeom>
          <a:noFill/>
        </p:spPr>
        <p:txBody>
          <a:bodyPr wrap="square">
            <a:spAutoFit/>
          </a:bodyPr>
          <a:lstStyle/>
          <a:p>
            <a:pPr marL="342900" marR="0" lvl="0" indent="-342900" algn="just" defTabSz="914400" rtl="0" eaLnBrk="1" fontAlgn="base" latinLnBrk="0" hangingPunct="1">
              <a:lnSpc>
                <a:spcPct val="100000"/>
              </a:lnSpc>
              <a:spcBef>
                <a:spcPct val="20000"/>
              </a:spcBef>
              <a:spcAft>
                <a:spcPct val="0"/>
              </a:spcAft>
              <a:buClr>
                <a:srgbClr val="996600"/>
              </a:buClr>
              <a:buSzTx/>
              <a:buFont typeface="Wingdings" panose="05000000000000000000" pitchFamily="2" charset="2"/>
              <a:buChar char="w"/>
              <a:tabLst/>
              <a:defRPr/>
            </a:pPr>
            <a:endParaRPr kumimoji="0" lang="en-US" altLang="en-US" sz="2800" b="0" i="0" u="none" strike="noStrike" kern="0" cap="none" spc="0" normalizeH="0" baseline="0" noProof="0" dirty="0">
              <a:ln>
                <a:noFill/>
              </a:ln>
              <a:solidFill>
                <a:srgbClr val="000000"/>
              </a:solidFill>
              <a:effectLst/>
              <a:uLnTx/>
              <a:uFillTx/>
              <a:latin typeface="Times New Roman"/>
              <a:ea typeface="+mn-ea"/>
              <a:cs typeface="+mn-cs"/>
            </a:endParaRPr>
          </a:p>
        </p:txBody>
      </p:sp>
      <p:sp>
        <p:nvSpPr>
          <p:cNvPr id="7" name="TextBox 6">
            <a:extLst>
              <a:ext uri="{FF2B5EF4-FFF2-40B4-BE49-F238E27FC236}">
                <a16:creationId xmlns:a16="http://schemas.microsoft.com/office/drawing/2014/main" xmlns="" id="{8F0FD7BA-1379-3787-FD96-632BA4C39924}"/>
              </a:ext>
            </a:extLst>
          </p:cNvPr>
          <p:cNvSpPr txBox="1"/>
          <p:nvPr/>
        </p:nvSpPr>
        <p:spPr>
          <a:xfrm>
            <a:off x="166403" y="876648"/>
            <a:ext cx="8723597" cy="518988"/>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4. Microprocessor vs Microcontroller</a:t>
            </a: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xmlns="" id="{229001E4-1FDE-9254-B35B-E1C562E062B5}"/>
              </a:ext>
            </a:extLst>
          </p:cNvPr>
          <p:cNvSpPr txBox="1"/>
          <p:nvPr/>
        </p:nvSpPr>
        <p:spPr>
          <a:xfrm>
            <a:off x="166403" y="1515916"/>
            <a:ext cx="12025597" cy="5366469"/>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Processor serves as the brain of an embedded system. This simply means there should be a computational engine at the core of the system to make it intelligent. Two types of processor units are there-</a:t>
            </a:r>
          </a:p>
          <a:p>
            <a:pPr marL="800100" lvl="1"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Microprocessor</a:t>
            </a:r>
          </a:p>
          <a:p>
            <a:pPr marL="800100" lvl="1"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Microcontroller</a:t>
            </a:r>
          </a:p>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4.1 Microprocessor Unit (MPU)</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A processor like the 8086, or its advanced version, the Pentium, has very high computational capability but lacks the pins or internal architecture to interface with the external world. </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For such microprocessors, external chips act as peripheral controllers. For example, to connect an LCD display to an MPU, an external parallel port IC is required. </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For serial transmission, an external serial controller is necessary. External timers are needed for timing and counting, and memory can also be connected externally.</a:t>
            </a:r>
          </a:p>
        </p:txBody>
      </p:sp>
    </p:spTree>
    <p:extLst>
      <p:ext uri="{BB962C8B-B14F-4D97-AF65-F5344CB8AC3E}">
        <p14:creationId xmlns:p14="http://schemas.microsoft.com/office/powerpoint/2010/main" val="37146440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27</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20" y="1754270"/>
            <a:ext cx="12350620" cy="523220"/>
          </a:xfrm>
          <a:prstGeom prst="rect">
            <a:avLst/>
          </a:prstGeom>
          <a:noFill/>
        </p:spPr>
        <p:txBody>
          <a:bodyPr wrap="square">
            <a:spAutoFit/>
          </a:bodyPr>
          <a:lstStyle/>
          <a:p>
            <a:pPr marL="342900" marR="0" lvl="0" indent="-342900" algn="just" defTabSz="914400" rtl="0" eaLnBrk="1" fontAlgn="base" latinLnBrk="0" hangingPunct="1">
              <a:lnSpc>
                <a:spcPct val="100000"/>
              </a:lnSpc>
              <a:spcBef>
                <a:spcPct val="20000"/>
              </a:spcBef>
              <a:spcAft>
                <a:spcPct val="0"/>
              </a:spcAft>
              <a:buClr>
                <a:srgbClr val="996600"/>
              </a:buClr>
              <a:buSzTx/>
              <a:buFont typeface="Wingdings" panose="05000000000000000000" pitchFamily="2" charset="2"/>
              <a:buChar char="w"/>
              <a:tabLst/>
              <a:defRPr/>
            </a:pPr>
            <a:endParaRPr kumimoji="0" lang="en-US" altLang="en-US" sz="2800" b="0" i="0" u="none" strike="noStrike" kern="0" cap="none" spc="0" normalizeH="0" baseline="0" noProof="0" dirty="0">
              <a:ln>
                <a:noFill/>
              </a:ln>
              <a:solidFill>
                <a:srgbClr val="000000"/>
              </a:solidFill>
              <a:effectLst/>
              <a:uLnTx/>
              <a:uFillTx/>
              <a:latin typeface="Times New Roman"/>
              <a:ea typeface="+mn-ea"/>
              <a:cs typeface="+mn-cs"/>
            </a:endParaRPr>
          </a:p>
        </p:txBody>
      </p:sp>
      <p:sp>
        <p:nvSpPr>
          <p:cNvPr id="7" name="TextBox 6">
            <a:extLst>
              <a:ext uri="{FF2B5EF4-FFF2-40B4-BE49-F238E27FC236}">
                <a16:creationId xmlns:a16="http://schemas.microsoft.com/office/drawing/2014/main" xmlns="" id="{8F0FD7BA-1379-3787-FD96-632BA4C39924}"/>
              </a:ext>
            </a:extLst>
          </p:cNvPr>
          <p:cNvSpPr txBox="1"/>
          <p:nvPr/>
        </p:nvSpPr>
        <p:spPr>
          <a:xfrm>
            <a:off x="166403" y="876648"/>
            <a:ext cx="8723597" cy="518988"/>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4. Microprocessor vs Microcontroller</a:t>
            </a: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xmlns="" id="{229001E4-1FDE-9254-B35B-E1C562E062B5}"/>
              </a:ext>
            </a:extLst>
          </p:cNvPr>
          <p:cNvSpPr txBox="1"/>
          <p:nvPr/>
        </p:nvSpPr>
        <p:spPr>
          <a:xfrm>
            <a:off x="166404" y="1286675"/>
            <a:ext cx="6122430" cy="5366469"/>
          </a:xfrm>
          <a:prstGeom prst="rect">
            <a:avLst/>
          </a:prstGeom>
          <a:noFill/>
        </p:spPr>
        <p:txBody>
          <a:bodyPr wrap="square">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4.1 Microprocessor Unit (MPU)</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Figure shows an MPU chip connected to peripherals and memory, which are physically external to the chip. </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MPUs are used as the core of general-purpose computation systems, where the emphasis is on computational power rather than interfacing capability. </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A PC uses an MPU and a number of external chips together as a chipset, which acts as controllers for various peripherals.</a:t>
            </a:r>
          </a:p>
        </p:txBody>
      </p:sp>
      <p:pic>
        <p:nvPicPr>
          <p:cNvPr id="8" name="Picture 7">
            <a:extLst>
              <a:ext uri="{FF2B5EF4-FFF2-40B4-BE49-F238E27FC236}">
                <a16:creationId xmlns:a16="http://schemas.microsoft.com/office/drawing/2014/main" xmlns="" id="{3CADC783-3ED0-AA4D-AE97-7106BC11709A}"/>
              </a:ext>
            </a:extLst>
          </p:cNvPr>
          <p:cNvPicPr>
            <a:picLocks noChangeAspect="1"/>
          </p:cNvPicPr>
          <p:nvPr/>
        </p:nvPicPr>
        <p:blipFill>
          <a:blip r:embed="rId3"/>
          <a:stretch>
            <a:fillRect/>
          </a:stretch>
        </p:blipFill>
        <p:spPr>
          <a:xfrm>
            <a:off x="6549349" y="1779463"/>
            <a:ext cx="4461551" cy="4523174"/>
          </a:xfrm>
          <a:prstGeom prst="rect">
            <a:avLst/>
          </a:prstGeom>
        </p:spPr>
      </p:pic>
    </p:spTree>
    <p:extLst>
      <p:ext uri="{BB962C8B-B14F-4D97-AF65-F5344CB8AC3E}">
        <p14:creationId xmlns:p14="http://schemas.microsoft.com/office/powerpoint/2010/main" val="13542385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28</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20" y="1754270"/>
            <a:ext cx="12350620" cy="523220"/>
          </a:xfrm>
          <a:prstGeom prst="rect">
            <a:avLst/>
          </a:prstGeom>
          <a:noFill/>
        </p:spPr>
        <p:txBody>
          <a:bodyPr wrap="square">
            <a:spAutoFit/>
          </a:bodyPr>
          <a:lstStyle/>
          <a:p>
            <a:pPr marL="342900" marR="0" lvl="0" indent="-342900" algn="just" defTabSz="914400" rtl="0" eaLnBrk="1" fontAlgn="base" latinLnBrk="0" hangingPunct="1">
              <a:lnSpc>
                <a:spcPct val="100000"/>
              </a:lnSpc>
              <a:spcBef>
                <a:spcPct val="20000"/>
              </a:spcBef>
              <a:spcAft>
                <a:spcPct val="0"/>
              </a:spcAft>
              <a:buClr>
                <a:srgbClr val="996600"/>
              </a:buClr>
              <a:buSzTx/>
              <a:buFont typeface="Wingdings" panose="05000000000000000000" pitchFamily="2" charset="2"/>
              <a:buChar char="w"/>
              <a:tabLst/>
              <a:defRPr/>
            </a:pPr>
            <a:endParaRPr kumimoji="0" lang="en-US" altLang="en-US" sz="2800" b="0" i="0" u="none" strike="noStrike" kern="0" cap="none" spc="0" normalizeH="0" baseline="0" noProof="0" dirty="0">
              <a:ln>
                <a:noFill/>
              </a:ln>
              <a:solidFill>
                <a:srgbClr val="000000"/>
              </a:solidFill>
              <a:effectLst/>
              <a:uLnTx/>
              <a:uFillTx/>
              <a:latin typeface="Times New Roman"/>
              <a:ea typeface="+mn-ea"/>
              <a:cs typeface="+mn-cs"/>
            </a:endParaRPr>
          </a:p>
        </p:txBody>
      </p:sp>
      <p:sp>
        <p:nvSpPr>
          <p:cNvPr id="7" name="TextBox 6">
            <a:extLst>
              <a:ext uri="{FF2B5EF4-FFF2-40B4-BE49-F238E27FC236}">
                <a16:creationId xmlns:a16="http://schemas.microsoft.com/office/drawing/2014/main" xmlns="" id="{8F0FD7BA-1379-3787-FD96-632BA4C39924}"/>
              </a:ext>
            </a:extLst>
          </p:cNvPr>
          <p:cNvSpPr txBox="1"/>
          <p:nvPr/>
        </p:nvSpPr>
        <p:spPr>
          <a:xfrm>
            <a:off x="166403" y="876648"/>
            <a:ext cx="8723597" cy="518988"/>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4. Microprocessor vs Microcontroller</a:t>
            </a: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xmlns="" id="{229001E4-1FDE-9254-B35B-E1C562E062B5}"/>
              </a:ext>
            </a:extLst>
          </p:cNvPr>
          <p:cNvSpPr txBox="1"/>
          <p:nvPr/>
        </p:nvSpPr>
        <p:spPr>
          <a:xfrm>
            <a:off x="166404" y="1286675"/>
            <a:ext cx="6066445" cy="4881721"/>
          </a:xfrm>
          <a:prstGeom prst="rect">
            <a:avLst/>
          </a:prstGeom>
          <a:noFill/>
        </p:spPr>
        <p:txBody>
          <a:bodyPr wrap="square">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4.2 Microcontroller Unit (MCU)</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See Figure. Here, the processing unit includes timers, parallel ports, serial ports, RAM, ROM, etc., within the same chip. </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Thus, no external controller chips are needed. </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Memory is also available inside the chip—the program code is burned into the internal ROM, and application code is run with the help of internal RAM. Therefore, this is essentially a self-contained single-chip computer.</a:t>
            </a:r>
          </a:p>
        </p:txBody>
      </p:sp>
      <p:pic>
        <p:nvPicPr>
          <p:cNvPr id="9" name="Picture 8">
            <a:extLst>
              <a:ext uri="{FF2B5EF4-FFF2-40B4-BE49-F238E27FC236}">
                <a16:creationId xmlns:a16="http://schemas.microsoft.com/office/drawing/2014/main" xmlns="" id="{BBD6C29E-EDA1-2E18-6BF8-5B41B560DE27}"/>
              </a:ext>
            </a:extLst>
          </p:cNvPr>
          <p:cNvPicPr>
            <a:picLocks noChangeAspect="1"/>
          </p:cNvPicPr>
          <p:nvPr/>
        </p:nvPicPr>
        <p:blipFill>
          <a:blip r:embed="rId3"/>
          <a:stretch>
            <a:fillRect/>
          </a:stretch>
        </p:blipFill>
        <p:spPr>
          <a:xfrm>
            <a:off x="6385285" y="1754270"/>
            <a:ext cx="5158009" cy="4360236"/>
          </a:xfrm>
          <a:prstGeom prst="rect">
            <a:avLst/>
          </a:prstGeom>
        </p:spPr>
      </p:pic>
    </p:spTree>
    <p:extLst>
      <p:ext uri="{BB962C8B-B14F-4D97-AF65-F5344CB8AC3E}">
        <p14:creationId xmlns:p14="http://schemas.microsoft.com/office/powerpoint/2010/main" val="33118912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29</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20" y="1754270"/>
            <a:ext cx="12350620" cy="523220"/>
          </a:xfrm>
          <a:prstGeom prst="rect">
            <a:avLst/>
          </a:prstGeom>
          <a:noFill/>
        </p:spPr>
        <p:txBody>
          <a:bodyPr wrap="square">
            <a:spAutoFit/>
          </a:bodyPr>
          <a:lstStyle/>
          <a:p>
            <a:pPr marL="342900" marR="0" lvl="0" indent="-342900" algn="just" defTabSz="914400" rtl="0" eaLnBrk="1" fontAlgn="base" latinLnBrk="0" hangingPunct="1">
              <a:lnSpc>
                <a:spcPct val="100000"/>
              </a:lnSpc>
              <a:spcBef>
                <a:spcPct val="20000"/>
              </a:spcBef>
              <a:spcAft>
                <a:spcPct val="0"/>
              </a:spcAft>
              <a:buClr>
                <a:srgbClr val="996600"/>
              </a:buClr>
              <a:buSzTx/>
              <a:buFont typeface="Wingdings" panose="05000000000000000000" pitchFamily="2" charset="2"/>
              <a:buChar char="w"/>
              <a:tabLst/>
              <a:defRPr/>
            </a:pPr>
            <a:endParaRPr kumimoji="0" lang="en-US" altLang="en-US" sz="2800" b="0" i="0" u="none" strike="noStrike" kern="0" cap="none" spc="0" normalizeH="0" baseline="0" noProof="0" dirty="0">
              <a:ln>
                <a:noFill/>
              </a:ln>
              <a:solidFill>
                <a:srgbClr val="000000"/>
              </a:solidFill>
              <a:effectLst/>
              <a:uLnTx/>
              <a:uFillTx/>
              <a:latin typeface="Times New Roman"/>
              <a:ea typeface="+mn-ea"/>
              <a:cs typeface="+mn-cs"/>
            </a:endParaRPr>
          </a:p>
        </p:txBody>
      </p:sp>
      <p:sp>
        <p:nvSpPr>
          <p:cNvPr id="7" name="TextBox 6">
            <a:extLst>
              <a:ext uri="{FF2B5EF4-FFF2-40B4-BE49-F238E27FC236}">
                <a16:creationId xmlns:a16="http://schemas.microsoft.com/office/drawing/2014/main" xmlns="" id="{8F0FD7BA-1379-3787-FD96-632BA4C39924}"/>
              </a:ext>
            </a:extLst>
          </p:cNvPr>
          <p:cNvSpPr txBox="1"/>
          <p:nvPr/>
        </p:nvSpPr>
        <p:spPr>
          <a:xfrm>
            <a:off x="166403" y="876648"/>
            <a:ext cx="8723597" cy="518988"/>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4. Microprocessor vs Microcontroller</a:t>
            </a: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xmlns="" id="{229001E4-1FDE-9254-B35B-E1C562E062B5}"/>
              </a:ext>
            </a:extLst>
          </p:cNvPr>
          <p:cNvSpPr txBox="1"/>
          <p:nvPr/>
        </p:nvSpPr>
        <p:spPr>
          <a:xfrm>
            <a:off x="166404" y="1286675"/>
            <a:ext cx="6066445" cy="5366469"/>
          </a:xfrm>
          <a:prstGeom prst="rect">
            <a:avLst/>
          </a:prstGeom>
          <a:noFill/>
        </p:spPr>
        <p:txBody>
          <a:bodyPr wrap="square">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4.2 Microcontroller Unit (MCU)</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Popular microcontrollers include 8051, PIC, AVR, ARM, etc. </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When an MCU includes many peripherals, allowing the design of a large system with these peripheral controllers, the chip is called a System on Chip (SoC). </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Terms like ARM SoC and Cypress’s </a:t>
            </a:r>
            <a:r>
              <a:rPr lang="en-US" sz="2100" dirty="0" err="1">
                <a:latin typeface="Times New Roman" panose="02020603050405020304" pitchFamily="18" charset="0"/>
                <a:cs typeface="Times New Roman" panose="02020603050405020304" pitchFamily="18" charset="0"/>
              </a:rPr>
              <a:t>PSoC</a:t>
            </a:r>
            <a:r>
              <a:rPr lang="en-US" sz="2100" dirty="0">
                <a:latin typeface="Times New Roman" panose="02020603050405020304" pitchFamily="18" charset="0"/>
                <a:cs typeface="Times New Roman" panose="02020603050405020304" pitchFamily="18" charset="0"/>
              </a:rPr>
              <a:t> (Programmable System on Chip) are very popular in the embedded system market. Figure shows a photograph of a few MCU chips.</a:t>
            </a:r>
          </a:p>
        </p:txBody>
      </p:sp>
      <p:pic>
        <p:nvPicPr>
          <p:cNvPr id="11" name="Picture 10">
            <a:extLst>
              <a:ext uri="{FF2B5EF4-FFF2-40B4-BE49-F238E27FC236}">
                <a16:creationId xmlns:a16="http://schemas.microsoft.com/office/drawing/2014/main" xmlns="" id="{404DC1F9-4A5D-C8AD-6719-73C2E715905D}"/>
              </a:ext>
            </a:extLst>
          </p:cNvPr>
          <p:cNvPicPr>
            <a:picLocks noChangeAspect="1"/>
          </p:cNvPicPr>
          <p:nvPr/>
        </p:nvPicPr>
        <p:blipFill>
          <a:blip r:embed="rId3"/>
          <a:stretch>
            <a:fillRect/>
          </a:stretch>
        </p:blipFill>
        <p:spPr>
          <a:xfrm>
            <a:off x="6273430" y="2167942"/>
            <a:ext cx="5918570" cy="3075129"/>
          </a:xfrm>
          <a:prstGeom prst="rect">
            <a:avLst/>
          </a:prstGeom>
        </p:spPr>
      </p:pic>
    </p:spTree>
    <p:extLst>
      <p:ext uri="{BB962C8B-B14F-4D97-AF65-F5344CB8AC3E}">
        <p14:creationId xmlns:p14="http://schemas.microsoft.com/office/powerpoint/2010/main" val="14186202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30</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20" y="1754270"/>
            <a:ext cx="12350620" cy="523220"/>
          </a:xfrm>
          <a:prstGeom prst="rect">
            <a:avLst/>
          </a:prstGeom>
          <a:noFill/>
        </p:spPr>
        <p:txBody>
          <a:bodyPr wrap="square">
            <a:spAutoFit/>
          </a:bodyPr>
          <a:lstStyle/>
          <a:p>
            <a:pPr marL="342900" marR="0" lvl="0" indent="-342900" algn="just" defTabSz="914400" rtl="0" eaLnBrk="1" fontAlgn="base" latinLnBrk="0" hangingPunct="1">
              <a:lnSpc>
                <a:spcPct val="100000"/>
              </a:lnSpc>
              <a:spcBef>
                <a:spcPct val="20000"/>
              </a:spcBef>
              <a:spcAft>
                <a:spcPct val="0"/>
              </a:spcAft>
              <a:buClr>
                <a:srgbClr val="996600"/>
              </a:buClr>
              <a:buSzTx/>
              <a:buFont typeface="Wingdings" panose="05000000000000000000" pitchFamily="2" charset="2"/>
              <a:buChar char="w"/>
              <a:tabLst/>
              <a:defRPr/>
            </a:pPr>
            <a:endParaRPr kumimoji="0" lang="en-US" altLang="en-US" sz="2800" b="0" i="0" u="none" strike="noStrike" kern="0" cap="none" spc="0" normalizeH="0" baseline="0" noProof="0" dirty="0">
              <a:ln>
                <a:noFill/>
              </a:ln>
              <a:solidFill>
                <a:srgbClr val="000000"/>
              </a:solidFill>
              <a:effectLst/>
              <a:uLnTx/>
              <a:uFillTx/>
              <a:latin typeface="Times New Roman"/>
              <a:ea typeface="+mn-ea"/>
              <a:cs typeface="+mn-cs"/>
            </a:endParaRPr>
          </a:p>
        </p:txBody>
      </p:sp>
      <p:sp>
        <p:nvSpPr>
          <p:cNvPr id="7" name="TextBox 6">
            <a:extLst>
              <a:ext uri="{FF2B5EF4-FFF2-40B4-BE49-F238E27FC236}">
                <a16:creationId xmlns:a16="http://schemas.microsoft.com/office/drawing/2014/main" xmlns="" id="{8F0FD7BA-1379-3787-FD96-632BA4C39924}"/>
              </a:ext>
            </a:extLst>
          </p:cNvPr>
          <p:cNvSpPr txBox="1"/>
          <p:nvPr/>
        </p:nvSpPr>
        <p:spPr>
          <a:xfrm>
            <a:off x="166403" y="876648"/>
            <a:ext cx="8723597" cy="518988"/>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4. Microprocessor vs Microcontroller</a:t>
            </a: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xmlns="" id="{229001E4-1FDE-9254-B35B-E1C562E062B5}"/>
              </a:ext>
            </a:extLst>
          </p:cNvPr>
          <p:cNvSpPr txBox="1"/>
          <p:nvPr/>
        </p:nvSpPr>
        <p:spPr>
          <a:xfrm>
            <a:off x="166404" y="1286675"/>
            <a:ext cx="11300918" cy="5366469"/>
          </a:xfrm>
          <a:prstGeom prst="rect">
            <a:avLst/>
          </a:prstGeom>
          <a:noFill/>
        </p:spPr>
        <p:txBody>
          <a:bodyPr wrap="square">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4.3 Microprocessor vs. Microcontroller: A Comparative Overview</a:t>
            </a:r>
          </a:p>
          <a:p>
            <a:pPr>
              <a:lnSpc>
                <a:spcPct val="150000"/>
              </a:lnSpc>
            </a:pPr>
            <a:r>
              <a:rPr lang="en-US" sz="2100" b="1" dirty="0">
                <a:latin typeface="Times New Roman" panose="02020603050405020304" pitchFamily="18" charset="0"/>
                <a:cs typeface="Times New Roman" panose="02020603050405020304" pitchFamily="18" charset="0"/>
              </a:rPr>
              <a:t>Microprocessor:</a:t>
            </a:r>
            <a:endParaRPr lang="en-US" sz="21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Definition:</a:t>
            </a:r>
            <a:endParaRPr lang="en-US" sz="2100" dirty="0">
              <a:latin typeface="Times New Roman" panose="02020603050405020304" pitchFamily="18" charset="0"/>
              <a:cs typeface="Times New Roman" panose="02020603050405020304" pitchFamily="18" charset="0"/>
            </a:endParaRPr>
          </a:p>
          <a:p>
            <a:pPr marL="800100" lvl="1" indent="-342900">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A microprocessor is a central processing unit (CPU) on a single integrated circuit (IC) designed to perform a variety of tasks by executing programmed instructions.</a:t>
            </a:r>
          </a:p>
          <a:p>
            <a:pPr marL="342900" indent="-342900">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Components:</a:t>
            </a:r>
            <a:endParaRPr lang="en-US" sz="2100" dirty="0">
              <a:latin typeface="Times New Roman" panose="02020603050405020304" pitchFamily="18" charset="0"/>
              <a:cs typeface="Times New Roman" panose="02020603050405020304" pitchFamily="18" charset="0"/>
            </a:endParaRPr>
          </a:p>
          <a:p>
            <a:pPr marL="800100" lvl="1" indent="-342900">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Contains only the CPU.</a:t>
            </a:r>
          </a:p>
          <a:p>
            <a:pPr marL="800100" lvl="1" indent="-342900">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Requires external components such as RAM, ROM, timers, and I/O ports to function.</a:t>
            </a:r>
          </a:p>
          <a:p>
            <a:pPr marL="342900" indent="-342900">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Usage:</a:t>
            </a:r>
            <a:endParaRPr lang="en-US" sz="2100" dirty="0">
              <a:latin typeface="Times New Roman" panose="02020603050405020304" pitchFamily="18" charset="0"/>
              <a:cs typeface="Times New Roman" panose="02020603050405020304" pitchFamily="18" charset="0"/>
            </a:endParaRPr>
          </a:p>
          <a:p>
            <a:pPr marL="800100" lvl="1" indent="-342900">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Used in general-purpose applications where flexibility is required.</a:t>
            </a:r>
          </a:p>
          <a:p>
            <a:pPr marL="800100" lvl="1" indent="-342900">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Commonly found in personal computers, laptops, and servers.</a:t>
            </a:r>
          </a:p>
        </p:txBody>
      </p:sp>
    </p:spTree>
    <p:extLst>
      <p:ext uri="{BB962C8B-B14F-4D97-AF65-F5344CB8AC3E}">
        <p14:creationId xmlns:p14="http://schemas.microsoft.com/office/powerpoint/2010/main" val="34169432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31</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20" y="1754270"/>
            <a:ext cx="12350620" cy="523220"/>
          </a:xfrm>
          <a:prstGeom prst="rect">
            <a:avLst/>
          </a:prstGeom>
          <a:noFill/>
        </p:spPr>
        <p:txBody>
          <a:bodyPr wrap="square">
            <a:spAutoFit/>
          </a:bodyPr>
          <a:lstStyle/>
          <a:p>
            <a:pPr marL="342900" marR="0" lvl="0" indent="-342900" algn="just" defTabSz="914400" rtl="0" eaLnBrk="1" fontAlgn="base" latinLnBrk="0" hangingPunct="1">
              <a:lnSpc>
                <a:spcPct val="100000"/>
              </a:lnSpc>
              <a:spcBef>
                <a:spcPct val="20000"/>
              </a:spcBef>
              <a:spcAft>
                <a:spcPct val="0"/>
              </a:spcAft>
              <a:buClr>
                <a:srgbClr val="996600"/>
              </a:buClr>
              <a:buSzTx/>
              <a:buFont typeface="Wingdings" panose="05000000000000000000" pitchFamily="2" charset="2"/>
              <a:buChar char="w"/>
              <a:tabLst/>
              <a:defRPr/>
            </a:pPr>
            <a:endParaRPr kumimoji="0" lang="en-US" altLang="en-US" sz="2800" b="0" i="0" u="none" strike="noStrike" kern="0" cap="none" spc="0" normalizeH="0" baseline="0" noProof="0" dirty="0">
              <a:ln>
                <a:noFill/>
              </a:ln>
              <a:solidFill>
                <a:srgbClr val="000000"/>
              </a:solidFill>
              <a:effectLst/>
              <a:uLnTx/>
              <a:uFillTx/>
              <a:latin typeface="Times New Roman"/>
              <a:ea typeface="+mn-ea"/>
              <a:cs typeface="+mn-cs"/>
            </a:endParaRPr>
          </a:p>
        </p:txBody>
      </p:sp>
      <p:sp>
        <p:nvSpPr>
          <p:cNvPr id="7" name="TextBox 6">
            <a:extLst>
              <a:ext uri="{FF2B5EF4-FFF2-40B4-BE49-F238E27FC236}">
                <a16:creationId xmlns:a16="http://schemas.microsoft.com/office/drawing/2014/main" xmlns="" id="{8F0FD7BA-1379-3787-FD96-632BA4C39924}"/>
              </a:ext>
            </a:extLst>
          </p:cNvPr>
          <p:cNvSpPr txBox="1"/>
          <p:nvPr/>
        </p:nvSpPr>
        <p:spPr>
          <a:xfrm>
            <a:off x="166403" y="876648"/>
            <a:ext cx="8723597" cy="518988"/>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4. Microprocessor vs Microcontroller</a:t>
            </a: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xmlns="" id="{229001E4-1FDE-9254-B35B-E1C562E062B5}"/>
              </a:ext>
            </a:extLst>
          </p:cNvPr>
          <p:cNvSpPr txBox="1"/>
          <p:nvPr/>
        </p:nvSpPr>
        <p:spPr>
          <a:xfrm>
            <a:off x="166404" y="1286675"/>
            <a:ext cx="11300918" cy="4396973"/>
          </a:xfrm>
          <a:prstGeom prst="rect">
            <a:avLst/>
          </a:prstGeom>
          <a:noFill/>
        </p:spPr>
        <p:txBody>
          <a:bodyPr wrap="square">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4.3 Microprocessor vs. Microcontroller: A Comparative Overview</a:t>
            </a:r>
          </a:p>
          <a:p>
            <a:pPr>
              <a:lnSpc>
                <a:spcPct val="150000"/>
              </a:lnSpc>
            </a:pPr>
            <a:r>
              <a:rPr lang="en-US" sz="2100" b="1" dirty="0">
                <a:latin typeface="Times New Roman" panose="02020603050405020304" pitchFamily="18" charset="0"/>
                <a:cs typeface="Times New Roman" panose="02020603050405020304" pitchFamily="18" charset="0"/>
              </a:rPr>
              <a:t>Microprocessor:</a:t>
            </a:r>
            <a:endParaRPr lang="en-US" sz="21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Memory:</a:t>
            </a:r>
            <a:endParaRPr lang="en-US" sz="2100" dirty="0">
              <a:latin typeface="Times New Roman" panose="02020603050405020304" pitchFamily="18" charset="0"/>
              <a:cs typeface="Times New Roman" panose="02020603050405020304" pitchFamily="18" charset="0"/>
            </a:endParaRPr>
          </a:p>
          <a:p>
            <a:pPr marL="800100" lvl="1" indent="-342900">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External memory for program and data storage, which allows for scalability in memory size.</a:t>
            </a:r>
          </a:p>
          <a:p>
            <a:pPr marL="342900" indent="-342900">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Complexity and Cost:</a:t>
            </a:r>
            <a:endParaRPr lang="en-US" sz="2100" dirty="0">
              <a:latin typeface="Times New Roman" panose="02020603050405020304" pitchFamily="18" charset="0"/>
              <a:cs typeface="Times New Roman" panose="02020603050405020304" pitchFamily="18" charset="0"/>
            </a:endParaRPr>
          </a:p>
          <a:p>
            <a:pPr marL="800100" lvl="1" indent="-342900">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More complex and expensive due to the need for multiple external components.</a:t>
            </a:r>
          </a:p>
          <a:p>
            <a:pPr marL="342900" indent="-342900">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Performance:</a:t>
            </a:r>
            <a:endParaRPr lang="en-US" sz="2100" dirty="0">
              <a:latin typeface="Times New Roman" panose="02020603050405020304" pitchFamily="18" charset="0"/>
              <a:cs typeface="Times New Roman" panose="02020603050405020304" pitchFamily="18" charset="0"/>
            </a:endParaRPr>
          </a:p>
          <a:p>
            <a:pPr marL="800100" lvl="1" indent="-342900">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Generally higher processing power and speed compared to microcontrollers.</a:t>
            </a:r>
          </a:p>
          <a:p>
            <a:pPr marL="342900" indent="-342900">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Example: </a:t>
            </a:r>
            <a:r>
              <a:rPr lang="en-US" sz="2100" dirty="0">
                <a:latin typeface="Times New Roman" panose="02020603050405020304" pitchFamily="18" charset="0"/>
                <a:cs typeface="Times New Roman" panose="02020603050405020304" pitchFamily="18" charset="0"/>
              </a:rPr>
              <a:t>Intel Core i7, AMD Ryzen.</a:t>
            </a:r>
          </a:p>
        </p:txBody>
      </p:sp>
    </p:spTree>
    <p:extLst>
      <p:ext uri="{BB962C8B-B14F-4D97-AF65-F5344CB8AC3E}">
        <p14:creationId xmlns:p14="http://schemas.microsoft.com/office/powerpoint/2010/main" val="19264025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32</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20" y="1754270"/>
            <a:ext cx="12350620" cy="523220"/>
          </a:xfrm>
          <a:prstGeom prst="rect">
            <a:avLst/>
          </a:prstGeom>
          <a:noFill/>
        </p:spPr>
        <p:txBody>
          <a:bodyPr wrap="square">
            <a:spAutoFit/>
          </a:bodyPr>
          <a:lstStyle/>
          <a:p>
            <a:pPr marL="342900" marR="0" lvl="0" indent="-342900" algn="just" defTabSz="914400" rtl="0" eaLnBrk="1" fontAlgn="base" latinLnBrk="0" hangingPunct="1">
              <a:lnSpc>
                <a:spcPct val="100000"/>
              </a:lnSpc>
              <a:spcBef>
                <a:spcPct val="20000"/>
              </a:spcBef>
              <a:spcAft>
                <a:spcPct val="0"/>
              </a:spcAft>
              <a:buClr>
                <a:srgbClr val="996600"/>
              </a:buClr>
              <a:buSzTx/>
              <a:buFont typeface="Wingdings" panose="05000000000000000000" pitchFamily="2" charset="2"/>
              <a:buChar char="w"/>
              <a:tabLst/>
              <a:defRPr/>
            </a:pPr>
            <a:endParaRPr kumimoji="0" lang="en-US" altLang="en-US" sz="2800" b="0" i="0" u="none" strike="noStrike" kern="0" cap="none" spc="0" normalizeH="0" baseline="0" noProof="0" dirty="0">
              <a:ln>
                <a:noFill/>
              </a:ln>
              <a:solidFill>
                <a:srgbClr val="000000"/>
              </a:solidFill>
              <a:effectLst/>
              <a:uLnTx/>
              <a:uFillTx/>
              <a:latin typeface="Times New Roman"/>
              <a:ea typeface="+mn-ea"/>
              <a:cs typeface="+mn-cs"/>
            </a:endParaRPr>
          </a:p>
        </p:txBody>
      </p:sp>
      <p:sp>
        <p:nvSpPr>
          <p:cNvPr id="7" name="TextBox 6">
            <a:extLst>
              <a:ext uri="{FF2B5EF4-FFF2-40B4-BE49-F238E27FC236}">
                <a16:creationId xmlns:a16="http://schemas.microsoft.com/office/drawing/2014/main" xmlns="" id="{8F0FD7BA-1379-3787-FD96-632BA4C39924}"/>
              </a:ext>
            </a:extLst>
          </p:cNvPr>
          <p:cNvSpPr txBox="1"/>
          <p:nvPr/>
        </p:nvSpPr>
        <p:spPr>
          <a:xfrm>
            <a:off x="166403" y="876648"/>
            <a:ext cx="8723597" cy="518988"/>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4. Microprocessor vs Microcontroller</a:t>
            </a: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xmlns="" id="{229001E4-1FDE-9254-B35B-E1C562E062B5}"/>
              </a:ext>
            </a:extLst>
          </p:cNvPr>
          <p:cNvSpPr txBox="1"/>
          <p:nvPr/>
        </p:nvSpPr>
        <p:spPr>
          <a:xfrm>
            <a:off x="166404" y="1286675"/>
            <a:ext cx="11300918" cy="5366469"/>
          </a:xfrm>
          <a:prstGeom prst="rect">
            <a:avLst/>
          </a:prstGeom>
          <a:noFill/>
        </p:spPr>
        <p:txBody>
          <a:bodyPr wrap="square">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4.3 Microprocessor vs. Microcontroller: A Comparative Overview</a:t>
            </a:r>
          </a:p>
          <a:p>
            <a:pPr>
              <a:lnSpc>
                <a:spcPct val="150000"/>
              </a:lnSpc>
            </a:pPr>
            <a:r>
              <a:rPr lang="en-US" sz="2100" b="1" dirty="0">
                <a:latin typeface="Times New Roman" panose="02020603050405020304" pitchFamily="18" charset="0"/>
                <a:cs typeface="Times New Roman" panose="02020603050405020304" pitchFamily="18" charset="0"/>
              </a:rPr>
              <a:t>Microcontroller:</a:t>
            </a:r>
            <a:endParaRPr lang="en-US" sz="21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Definition:</a:t>
            </a:r>
            <a:endParaRPr lang="en-US" sz="2100" dirty="0">
              <a:latin typeface="Times New Roman" panose="02020603050405020304" pitchFamily="18" charset="0"/>
              <a:cs typeface="Times New Roman" panose="02020603050405020304" pitchFamily="18" charset="0"/>
            </a:endParaRPr>
          </a:p>
          <a:p>
            <a:pPr marL="800100" lvl="1" indent="-342900">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A microcontroller is a compact integrated circuit designed to govern a specific operation in an embedded system. It includes a CPU, memory, and I/O ports all on a single chip.</a:t>
            </a:r>
          </a:p>
          <a:p>
            <a:pPr marL="342900" indent="-342900">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Components:</a:t>
            </a:r>
            <a:endParaRPr lang="en-US" sz="2100" dirty="0">
              <a:latin typeface="Times New Roman" panose="02020603050405020304" pitchFamily="18" charset="0"/>
              <a:cs typeface="Times New Roman" panose="02020603050405020304" pitchFamily="18" charset="0"/>
            </a:endParaRPr>
          </a:p>
          <a:p>
            <a:pPr marL="800100" lvl="1" indent="-342900">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Contains a CPU, RAM, ROM, timers, and I/O ports integrated into one chip.</a:t>
            </a:r>
          </a:p>
          <a:p>
            <a:pPr marL="342900" indent="-342900">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Usage:</a:t>
            </a:r>
            <a:endParaRPr lang="en-US" sz="2100" dirty="0">
              <a:latin typeface="Times New Roman" panose="02020603050405020304" pitchFamily="18" charset="0"/>
              <a:cs typeface="Times New Roman" panose="02020603050405020304" pitchFamily="18" charset="0"/>
            </a:endParaRPr>
          </a:p>
          <a:p>
            <a:pPr marL="800100" lvl="1" indent="-342900">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Used in specific-purpose applications where control of devices is needed.</a:t>
            </a:r>
          </a:p>
          <a:p>
            <a:pPr marL="800100" lvl="1" indent="-342900">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Commonly found in embedded systems like home appliances, automobiles, medical devices, and industrial machines.</a:t>
            </a:r>
          </a:p>
        </p:txBody>
      </p:sp>
    </p:spTree>
    <p:extLst>
      <p:ext uri="{BB962C8B-B14F-4D97-AF65-F5344CB8AC3E}">
        <p14:creationId xmlns:p14="http://schemas.microsoft.com/office/powerpoint/2010/main" val="21926823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33</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20" y="1754270"/>
            <a:ext cx="12350620" cy="523220"/>
          </a:xfrm>
          <a:prstGeom prst="rect">
            <a:avLst/>
          </a:prstGeom>
          <a:noFill/>
        </p:spPr>
        <p:txBody>
          <a:bodyPr wrap="square">
            <a:spAutoFit/>
          </a:bodyPr>
          <a:lstStyle/>
          <a:p>
            <a:pPr marL="342900" marR="0" lvl="0" indent="-342900" algn="just" defTabSz="914400" rtl="0" eaLnBrk="1" fontAlgn="base" latinLnBrk="0" hangingPunct="1">
              <a:lnSpc>
                <a:spcPct val="100000"/>
              </a:lnSpc>
              <a:spcBef>
                <a:spcPct val="20000"/>
              </a:spcBef>
              <a:spcAft>
                <a:spcPct val="0"/>
              </a:spcAft>
              <a:buClr>
                <a:srgbClr val="996600"/>
              </a:buClr>
              <a:buSzTx/>
              <a:buFont typeface="Wingdings" panose="05000000000000000000" pitchFamily="2" charset="2"/>
              <a:buChar char="w"/>
              <a:tabLst/>
              <a:defRPr/>
            </a:pPr>
            <a:endParaRPr kumimoji="0" lang="en-US" altLang="en-US" sz="2800" b="0" i="0" u="none" strike="noStrike" kern="0" cap="none" spc="0" normalizeH="0" baseline="0" noProof="0" dirty="0">
              <a:ln>
                <a:noFill/>
              </a:ln>
              <a:solidFill>
                <a:srgbClr val="000000"/>
              </a:solidFill>
              <a:effectLst/>
              <a:uLnTx/>
              <a:uFillTx/>
              <a:latin typeface="Times New Roman"/>
              <a:ea typeface="+mn-ea"/>
              <a:cs typeface="+mn-cs"/>
            </a:endParaRPr>
          </a:p>
        </p:txBody>
      </p:sp>
      <p:sp>
        <p:nvSpPr>
          <p:cNvPr id="7" name="TextBox 6">
            <a:extLst>
              <a:ext uri="{FF2B5EF4-FFF2-40B4-BE49-F238E27FC236}">
                <a16:creationId xmlns:a16="http://schemas.microsoft.com/office/drawing/2014/main" xmlns="" id="{8F0FD7BA-1379-3787-FD96-632BA4C39924}"/>
              </a:ext>
            </a:extLst>
          </p:cNvPr>
          <p:cNvSpPr txBox="1"/>
          <p:nvPr/>
        </p:nvSpPr>
        <p:spPr>
          <a:xfrm>
            <a:off x="166403" y="876648"/>
            <a:ext cx="8723597" cy="518988"/>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4. Microprocessor vs Microcontroller</a:t>
            </a: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xmlns="" id="{229001E4-1FDE-9254-B35B-E1C562E062B5}"/>
              </a:ext>
            </a:extLst>
          </p:cNvPr>
          <p:cNvSpPr txBox="1"/>
          <p:nvPr/>
        </p:nvSpPr>
        <p:spPr>
          <a:xfrm>
            <a:off x="166404" y="1286675"/>
            <a:ext cx="11300918" cy="5366469"/>
          </a:xfrm>
          <a:prstGeom prst="rect">
            <a:avLst/>
          </a:prstGeom>
          <a:noFill/>
        </p:spPr>
        <p:txBody>
          <a:bodyPr wrap="square">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4.3 Microprocessor vs. Microcontroller: A Comparative Overview</a:t>
            </a:r>
          </a:p>
          <a:p>
            <a:pPr>
              <a:lnSpc>
                <a:spcPct val="150000"/>
              </a:lnSpc>
            </a:pPr>
            <a:r>
              <a:rPr lang="en-US" sz="2100" b="1" dirty="0">
                <a:latin typeface="Times New Roman" panose="02020603050405020304" pitchFamily="18" charset="0"/>
                <a:cs typeface="Times New Roman" panose="02020603050405020304" pitchFamily="18" charset="0"/>
              </a:rPr>
              <a:t>Microcontroller:</a:t>
            </a:r>
            <a:endParaRPr lang="en-US" sz="21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Memory:</a:t>
            </a:r>
            <a:endParaRPr lang="en-US" sz="2100" dirty="0">
              <a:latin typeface="Times New Roman" panose="02020603050405020304" pitchFamily="18" charset="0"/>
              <a:cs typeface="Times New Roman" panose="02020603050405020304" pitchFamily="18" charset="0"/>
            </a:endParaRPr>
          </a:p>
          <a:p>
            <a:pPr marL="800100" lvl="1" indent="-342900">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Limited built-in memory tailored for the specific application it controls.</a:t>
            </a:r>
          </a:p>
          <a:p>
            <a:pPr marL="342900" indent="-342900">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Complexity and Cost:</a:t>
            </a:r>
            <a:endParaRPr lang="en-US" sz="2100" dirty="0">
              <a:latin typeface="Times New Roman" panose="02020603050405020304" pitchFamily="18" charset="0"/>
              <a:cs typeface="Times New Roman" panose="02020603050405020304" pitchFamily="18" charset="0"/>
            </a:endParaRPr>
          </a:p>
          <a:p>
            <a:pPr marL="800100" lvl="1" indent="-342900">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Less complex and generally cheaper due to the integration of all necessary components on one chip.</a:t>
            </a:r>
          </a:p>
          <a:p>
            <a:pPr marL="342900" indent="-342900">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Performance:</a:t>
            </a:r>
            <a:endParaRPr lang="en-US" sz="2100" dirty="0">
              <a:latin typeface="Times New Roman" panose="02020603050405020304" pitchFamily="18" charset="0"/>
              <a:cs typeface="Times New Roman" panose="02020603050405020304" pitchFamily="18" charset="0"/>
            </a:endParaRPr>
          </a:p>
          <a:p>
            <a:pPr marL="800100" lvl="1" indent="-342900">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Lower processing power and speed compared to microprocessors but sufficient for control-oriented tasks.</a:t>
            </a:r>
          </a:p>
          <a:p>
            <a:pPr marL="342900" indent="-342900">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Example: </a:t>
            </a:r>
            <a:r>
              <a:rPr lang="en-US" sz="2100" dirty="0">
                <a:latin typeface="Times New Roman" panose="02020603050405020304" pitchFamily="18" charset="0"/>
                <a:cs typeface="Times New Roman" panose="02020603050405020304" pitchFamily="18" charset="0"/>
              </a:rPr>
              <a:t>Arduino (ATmega328), ARM Cortex-M series.</a:t>
            </a:r>
          </a:p>
        </p:txBody>
      </p:sp>
    </p:spTree>
    <p:extLst>
      <p:ext uri="{BB962C8B-B14F-4D97-AF65-F5344CB8AC3E}">
        <p14:creationId xmlns:p14="http://schemas.microsoft.com/office/powerpoint/2010/main" val="37186915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34</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20" y="1754270"/>
            <a:ext cx="12350620" cy="523220"/>
          </a:xfrm>
          <a:prstGeom prst="rect">
            <a:avLst/>
          </a:prstGeom>
          <a:noFill/>
        </p:spPr>
        <p:txBody>
          <a:bodyPr wrap="square">
            <a:spAutoFit/>
          </a:bodyPr>
          <a:lstStyle/>
          <a:p>
            <a:pPr marL="342900" marR="0" lvl="0" indent="-342900" algn="just" defTabSz="914400" rtl="0" eaLnBrk="1" fontAlgn="base" latinLnBrk="0" hangingPunct="1">
              <a:lnSpc>
                <a:spcPct val="100000"/>
              </a:lnSpc>
              <a:spcBef>
                <a:spcPct val="20000"/>
              </a:spcBef>
              <a:spcAft>
                <a:spcPct val="0"/>
              </a:spcAft>
              <a:buClr>
                <a:srgbClr val="996600"/>
              </a:buClr>
              <a:buSzTx/>
              <a:buFont typeface="Wingdings" panose="05000000000000000000" pitchFamily="2" charset="2"/>
              <a:buChar char="w"/>
              <a:tabLst/>
              <a:defRPr/>
            </a:pPr>
            <a:endParaRPr kumimoji="0" lang="en-US" altLang="en-US" sz="2800" b="0" i="0" u="none" strike="noStrike" kern="0" cap="none" spc="0" normalizeH="0" baseline="0" noProof="0" dirty="0">
              <a:ln>
                <a:noFill/>
              </a:ln>
              <a:solidFill>
                <a:srgbClr val="000000"/>
              </a:solidFill>
              <a:effectLst/>
              <a:uLnTx/>
              <a:uFillTx/>
              <a:latin typeface="Times New Roman"/>
              <a:ea typeface="+mn-ea"/>
              <a:cs typeface="+mn-cs"/>
            </a:endParaRPr>
          </a:p>
        </p:txBody>
      </p:sp>
      <p:sp>
        <p:nvSpPr>
          <p:cNvPr id="7" name="TextBox 6">
            <a:extLst>
              <a:ext uri="{FF2B5EF4-FFF2-40B4-BE49-F238E27FC236}">
                <a16:creationId xmlns:a16="http://schemas.microsoft.com/office/drawing/2014/main" xmlns="" id="{8F0FD7BA-1379-3787-FD96-632BA4C39924}"/>
              </a:ext>
            </a:extLst>
          </p:cNvPr>
          <p:cNvSpPr txBox="1"/>
          <p:nvPr/>
        </p:nvSpPr>
        <p:spPr>
          <a:xfrm>
            <a:off x="166403" y="876648"/>
            <a:ext cx="8723597" cy="518988"/>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4. Microprocessor vs Microcontroller</a:t>
            </a: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xmlns="" id="{229001E4-1FDE-9254-B35B-E1C562E062B5}"/>
              </a:ext>
            </a:extLst>
          </p:cNvPr>
          <p:cNvSpPr txBox="1"/>
          <p:nvPr/>
        </p:nvSpPr>
        <p:spPr>
          <a:xfrm>
            <a:off x="166404" y="1286675"/>
            <a:ext cx="11300918" cy="518988"/>
          </a:xfrm>
          <a:prstGeom prst="rect">
            <a:avLst/>
          </a:prstGeom>
          <a:noFill/>
        </p:spPr>
        <p:txBody>
          <a:bodyPr wrap="square">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4.4 Microprocessor vs. Microcontroller: Comparison Table</a:t>
            </a:r>
          </a:p>
        </p:txBody>
      </p:sp>
      <p:graphicFrame>
        <p:nvGraphicFramePr>
          <p:cNvPr id="19" name="Table 18">
            <a:extLst>
              <a:ext uri="{FF2B5EF4-FFF2-40B4-BE49-F238E27FC236}">
                <a16:creationId xmlns:a16="http://schemas.microsoft.com/office/drawing/2014/main" xmlns="" id="{4F6EEEC5-5649-238B-077A-ADDFF8464C3F}"/>
              </a:ext>
            </a:extLst>
          </p:cNvPr>
          <p:cNvGraphicFramePr>
            <a:graphicFrameLocks noGrp="1"/>
          </p:cNvGraphicFramePr>
          <p:nvPr>
            <p:extLst>
              <p:ext uri="{D42A27DB-BD31-4B8C-83A1-F6EECF244321}">
                <p14:modId xmlns:p14="http://schemas.microsoft.com/office/powerpoint/2010/main" val="2760859448"/>
              </p:ext>
            </p:extLst>
          </p:nvPr>
        </p:nvGraphicFramePr>
        <p:xfrm>
          <a:off x="179617" y="1854962"/>
          <a:ext cx="11832763" cy="4911658"/>
        </p:xfrm>
        <a:graphic>
          <a:graphicData uri="http://schemas.openxmlformats.org/drawingml/2006/table">
            <a:tbl>
              <a:tblPr>
                <a:tableStyleId>{5DA37D80-6434-44D0-A028-1B22A696006F}</a:tableStyleId>
              </a:tblPr>
              <a:tblGrid>
                <a:gridCol w="2367640">
                  <a:extLst>
                    <a:ext uri="{9D8B030D-6E8A-4147-A177-3AD203B41FA5}">
                      <a16:colId xmlns:a16="http://schemas.microsoft.com/office/drawing/2014/main" xmlns="" val="3181462434"/>
                    </a:ext>
                  </a:extLst>
                </a:gridCol>
                <a:gridCol w="4366727">
                  <a:extLst>
                    <a:ext uri="{9D8B030D-6E8A-4147-A177-3AD203B41FA5}">
                      <a16:colId xmlns:a16="http://schemas.microsoft.com/office/drawing/2014/main" xmlns="" val="2143290353"/>
                    </a:ext>
                  </a:extLst>
                </a:gridCol>
                <a:gridCol w="5098396">
                  <a:extLst>
                    <a:ext uri="{9D8B030D-6E8A-4147-A177-3AD203B41FA5}">
                      <a16:colId xmlns:a16="http://schemas.microsoft.com/office/drawing/2014/main" xmlns="" val="1066429853"/>
                    </a:ext>
                  </a:extLst>
                </a:gridCol>
              </a:tblGrid>
              <a:tr h="161161">
                <a:tc>
                  <a:txBody>
                    <a:bodyPr/>
                    <a:lstStyle/>
                    <a:p>
                      <a:pPr algn="ctr" fontAlgn="ctr"/>
                      <a:r>
                        <a:rPr lang="en-IN" sz="2100" u="none" strike="noStrike">
                          <a:effectLst/>
                        </a:rPr>
                        <a:t>Feature</a:t>
                      </a:r>
                      <a:endParaRPr lang="en-IN" sz="2100" b="1" i="0" u="none" strike="noStrike">
                        <a:solidFill>
                          <a:srgbClr val="000000"/>
                        </a:solidFill>
                        <a:effectLst/>
                        <a:latin typeface="Times New Roman" panose="02020603050405020304" pitchFamily="18" charset="0"/>
                        <a:cs typeface="Times New Roman" panose="02020603050405020304" pitchFamily="18" charset="0"/>
                      </a:endParaRPr>
                    </a:p>
                  </a:txBody>
                  <a:tcPr marL="3358" marR="3358" marT="3358" marB="0" anchor="ctr">
                    <a:solidFill>
                      <a:schemeClr val="accent2">
                        <a:lumMod val="20000"/>
                        <a:lumOff val="80000"/>
                      </a:schemeClr>
                    </a:solidFill>
                  </a:tcPr>
                </a:tc>
                <a:tc>
                  <a:txBody>
                    <a:bodyPr/>
                    <a:lstStyle/>
                    <a:p>
                      <a:pPr algn="ctr" fontAlgn="ctr"/>
                      <a:r>
                        <a:rPr lang="en-IN" sz="2100" u="none" strike="noStrike">
                          <a:effectLst/>
                        </a:rPr>
                        <a:t>Microprocessor</a:t>
                      </a:r>
                      <a:endParaRPr lang="en-IN" sz="2100" b="1" i="0" u="none" strike="noStrike">
                        <a:solidFill>
                          <a:srgbClr val="000000"/>
                        </a:solidFill>
                        <a:effectLst/>
                        <a:latin typeface="Times New Roman" panose="02020603050405020304" pitchFamily="18" charset="0"/>
                        <a:cs typeface="Times New Roman" panose="02020603050405020304" pitchFamily="18" charset="0"/>
                      </a:endParaRPr>
                    </a:p>
                  </a:txBody>
                  <a:tcPr marL="3358" marR="3358" marT="3358" marB="0" anchor="ctr">
                    <a:solidFill>
                      <a:schemeClr val="accent2">
                        <a:lumMod val="20000"/>
                        <a:lumOff val="80000"/>
                      </a:schemeClr>
                    </a:solidFill>
                  </a:tcPr>
                </a:tc>
                <a:tc>
                  <a:txBody>
                    <a:bodyPr/>
                    <a:lstStyle/>
                    <a:p>
                      <a:pPr algn="ctr" fontAlgn="ctr"/>
                      <a:r>
                        <a:rPr lang="en-IN" sz="2100" u="none" strike="noStrike" dirty="0">
                          <a:effectLst/>
                        </a:rPr>
                        <a:t>Microcontroller</a:t>
                      </a:r>
                      <a:endParaRPr lang="en-IN" sz="2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3358" marR="3358" marT="3358" marB="0" anchor="ctr">
                    <a:solidFill>
                      <a:schemeClr val="accent2">
                        <a:lumMod val="20000"/>
                        <a:lumOff val="80000"/>
                      </a:schemeClr>
                    </a:solidFill>
                  </a:tcPr>
                </a:tc>
                <a:extLst>
                  <a:ext uri="{0D108BD9-81ED-4DB2-BD59-A6C34878D82A}">
                    <a16:rowId xmlns:a16="http://schemas.microsoft.com/office/drawing/2014/main" xmlns="" val="687746418"/>
                  </a:ext>
                </a:extLst>
              </a:tr>
              <a:tr h="564062">
                <a:tc>
                  <a:txBody>
                    <a:bodyPr/>
                    <a:lstStyle/>
                    <a:p>
                      <a:pPr algn="l" fontAlgn="ctr"/>
                      <a:r>
                        <a:rPr lang="en-IN" sz="2100" u="none" strike="noStrike">
                          <a:effectLst/>
                        </a:rPr>
                        <a:t>Definition</a:t>
                      </a:r>
                      <a:endParaRPr lang="en-IN" sz="2100" b="1" i="0" u="none" strike="noStrike">
                        <a:solidFill>
                          <a:srgbClr val="000000"/>
                        </a:solidFill>
                        <a:effectLst/>
                        <a:latin typeface="Times New Roman" panose="02020603050405020304" pitchFamily="18" charset="0"/>
                        <a:cs typeface="Times New Roman" panose="02020603050405020304" pitchFamily="18" charset="0"/>
                      </a:endParaRPr>
                    </a:p>
                  </a:txBody>
                  <a:tcPr marL="3358" marR="3358" marT="3358" marB="0" anchor="ctr"/>
                </a:tc>
                <a:tc>
                  <a:txBody>
                    <a:bodyPr/>
                    <a:lstStyle/>
                    <a:p>
                      <a:pPr algn="l" fontAlgn="ctr"/>
                      <a:r>
                        <a:rPr lang="en-US" sz="2100" u="none" strike="noStrike">
                          <a:effectLst/>
                        </a:rPr>
                        <a:t>Central Processing Unit (CPU) on a single IC</a:t>
                      </a:r>
                      <a:endParaRPr lang="en-US" sz="2100" b="0" i="0" u="none" strike="noStrike">
                        <a:solidFill>
                          <a:srgbClr val="000000"/>
                        </a:solidFill>
                        <a:effectLst/>
                        <a:latin typeface="Times New Roman" panose="02020603050405020304" pitchFamily="18" charset="0"/>
                        <a:cs typeface="Times New Roman" panose="02020603050405020304" pitchFamily="18" charset="0"/>
                      </a:endParaRPr>
                    </a:p>
                  </a:txBody>
                  <a:tcPr marL="3358" marR="3358" marT="3358" marB="0" anchor="ctr"/>
                </a:tc>
                <a:tc>
                  <a:txBody>
                    <a:bodyPr/>
                    <a:lstStyle/>
                    <a:p>
                      <a:pPr algn="l" fontAlgn="ctr"/>
                      <a:r>
                        <a:rPr lang="en-US" sz="2100" u="none" strike="noStrike">
                          <a:effectLst/>
                        </a:rPr>
                        <a:t>Compact IC for specific operations in embedded systems</a:t>
                      </a:r>
                      <a:endParaRPr lang="en-US" sz="2100" b="0" i="0" u="none" strike="noStrike">
                        <a:solidFill>
                          <a:srgbClr val="000000"/>
                        </a:solidFill>
                        <a:effectLst/>
                        <a:latin typeface="Times New Roman" panose="02020603050405020304" pitchFamily="18" charset="0"/>
                        <a:cs typeface="Times New Roman" panose="02020603050405020304" pitchFamily="18" charset="0"/>
                      </a:endParaRPr>
                    </a:p>
                  </a:txBody>
                  <a:tcPr marL="3358" marR="3358" marT="3358" marB="0" anchor="ctr"/>
                </a:tc>
                <a:extLst>
                  <a:ext uri="{0D108BD9-81ED-4DB2-BD59-A6C34878D82A}">
                    <a16:rowId xmlns:a16="http://schemas.microsoft.com/office/drawing/2014/main" xmlns="" val="888330154"/>
                  </a:ext>
                </a:extLst>
              </a:tr>
              <a:tr h="564062">
                <a:tc>
                  <a:txBody>
                    <a:bodyPr/>
                    <a:lstStyle/>
                    <a:p>
                      <a:pPr algn="l" fontAlgn="ctr"/>
                      <a:r>
                        <a:rPr lang="en-IN" sz="2100" u="none" strike="noStrike">
                          <a:effectLst/>
                        </a:rPr>
                        <a:t>Components</a:t>
                      </a:r>
                      <a:endParaRPr lang="en-IN" sz="2100" b="1" i="0" u="none" strike="noStrike">
                        <a:solidFill>
                          <a:srgbClr val="000000"/>
                        </a:solidFill>
                        <a:effectLst/>
                        <a:latin typeface="Times New Roman" panose="02020603050405020304" pitchFamily="18" charset="0"/>
                        <a:cs typeface="Times New Roman" panose="02020603050405020304" pitchFamily="18" charset="0"/>
                      </a:endParaRPr>
                    </a:p>
                  </a:txBody>
                  <a:tcPr marL="3358" marR="3358" marT="3358" marB="0" anchor="ctr"/>
                </a:tc>
                <a:tc>
                  <a:txBody>
                    <a:bodyPr/>
                    <a:lstStyle/>
                    <a:p>
                      <a:pPr algn="l" fontAlgn="ctr"/>
                      <a:r>
                        <a:rPr lang="en-IN" sz="2100" u="none" strike="noStrike">
                          <a:effectLst/>
                        </a:rPr>
                        <a:t>Contains only the CPU</a:t>
                      </a:r>
                      <a:endParaRPr lang="en-IN" sz="2100" b="0" i="0" u="none" strike="noStrike">
                        <a:solidFill>
                          <a:srgbClr val="000000"/>
                        </a:solidFill>
                        <a:effectLst/>
                        <a:latin typeface="Times New Roman" panose="02020603050405020304" pitchFamily="18" charset="0"/>
                        <a:cs typeface="Times New Roman" panose="02020603050405020304" pitchFamily="18" charset="0"/>
                      </a:endParaRPr>
                    </a:p>
                  </a:txBody>
                  <a:tcPr marL="3358" marR="3358" marT="3358" marB="0" anchor="ctr"/>
                </a:tc>
                <a:tc>
                  <a:txBody>
                    <a:bodyPr/>
                    <a:lstStyle/>
                    <a:p>
                      <a:pPr algn="l" fontAlgn="ctr"/>
                      <a:r>
                        <a:rPr lang="en-IN" sz="2100" u="none" strike="noStrike">
                          <a:effectLst/>
                        </a:rPr>
                        <a:t>Contains CPU, RAM, ROM, timers, and I/O ports</a:t>
                      </a:r>
                      <a:endParaRPr lang="en-IN" sz="2100" b="0" i="0" u="none" strike="noStrike">
                        <a:solidFill>
                          <a:srgbClr val="000000"/>
                        </a:solidFill>
                        <a:effectLst/>
                        <a:latin typeface="Times New Roman" panose="02020603050405020304" pitchFamily="18" charset="0"/>
                        <a:cs typeface="Times New Roman" panose="02020603050405020304" pitchFamily="18" charset="0"/>
                      </a:endParaRPr>
                    </a:p>
                  </a:txBody>
                  <a:tcPr marL="3358" marR="3358" marT="3358" marB="0" anchor="ctr"/>
                </a:tc>
                <a:extLst>
                  <a:ext uri="{0D108BD9-81ED-4DB2-BD59-A6C34878D82A}">
                    <a16:rowId xmlns:a16="http://schemas.microsoft.com/office/drawing/2014/main" xmlns="" val="3430996420"/>
                  </a:ext>
                </a:extLst>
              </a:tr>
              <a:tr h="483482">
                <a:tc>
                  <a:txBody>
                    <a:bodyPr/>
                    <a:lstStyle/>
                    <a:p>
                      <a:pPr algn="l" fontAlgn="ctr"/>
                      <a:r>
                        <a:rPr lang="en-IN" sz="2100" u="none" strike="noStrike">
                          <a:effectLst/>
                        </a:rPr>
                        <a:t>Usage</a:t>
                      </a:r>
                      <a:endParaRPr lang="en-IN" sz="2100" b="1" i="0" u="none" strike="noStrike">
                        <a:solidFill>
                          <a:srgbClr val="000000"/>
                        </a:solidFill>
                        <a:effectLst/>
                        <a:latin typeface="Times New Roman" panose="02020603050405020304" pitchFamily="18" charset="0"/>
                        <a:cs typeface="Times New Roman" panose="02020603050405020304" pitchFamily="18" charset="0"/>
                      </a:endParaRPr>
                    </a:p>
                  </a:txBody>
                  <a:tcPr marL="3358" marR="3358" marT="3358" marB="0" anchor="ctr"/>
                </a:tc>
                <a:tc>
                  <a:txBody>
                    <a:bodyPr/>
                    <a:lstStyle/>
                    <a:p>
                      <a:pPr algn="l" fontAlgn="ctr"/>
                      <a:r>
                        <a:rPr lang="en-IN" sz="2100" u="none" strike="noStrike">
                          <a:effectLst/>
                        </a:rPr>
                        <a:t>General-purpose applications</a:t>
                      </a:r>
                      <a:endParaRPr lang="en-IN" sz="2100" b="0" i="0" u="none" strike="noStrike">
                        <a:solidFill>
                          <a:srgbClr val="000000"/>
                        </a:solidFill>
                        <a:effectLst/>
                        <a:latin typeface="Times New Roman" panose="02020603050405020304" pitchFamily="18" charset="0"/>
                        <a:cs typeface="Times New Roman" panose="02020603050405020304" pitchFamily="18" charset="0"/>
                      </a:endParaRPr>
                    </a:p>
                  </a:txBody>
                  <a:tcPr marL="3358" marR="3358" marT="3358" marB="0" anchor="ctr"/>
                </a:tc>
                <a:tc>
                  <a:txBody>
                    <a:bodyPr/>
                    <a:lstStyle/>
                    <a:p>
                      <a:pPr algn="l" fontAlgn="ctr"/>
                      <a:r>
                        <a:rPr lang="en-US" sz="2100" u="none" strike="noStrike">
                          <a:effectLst/>
                        </a:rPr>
                        <a:t>Specific-purpose applications in embedded systems</a:t>
                      </a:r>
                      <a:endParaRPr lang="en-US" sz="2100" b="0" i="0" u="none" strike="noStrike">
                        <a:solidFill>
                          <a:srgbClr val="000000"/>
                        </a:solidFill>
                        <a:effectLst/>
                        <a:latin typeface="Times New Roman" panose="02020603050405020304" pitchFamily="18" charset="0"/>
                        <a:cs typeface="Times New Roman" panose="02020603050405020304" pitchFamily="18" charset="0"/>
                      </a:endParaRPr>
                    </a:p>
                  </a:txBody>
                  <a:tcPr marL="3358" marR="3358" marT="3358" marB="0" anchor="ctr"/>
                </a:tc>
                <a:extLst>
                  <a:ext uri="{0D108BD9-81ED-4DB2-BD59-A6C34878D82A}">
                    <a16:rowId xmlns:a16="http://schemas.microsoft.com/office/drawing/2014/main" xmlns="" val="3283432922"/>
                  </a:ext>
                </a:extLst>
              </a:tr>
              <a:tr h="564062">
                <a:tc>
                  <a:txBody>
                    <a:bodyPr/>
                    <a:lstStyle/>
                    <a:p>
                      <a:pPr algn="l" fontAlgn="ctr"/>
                      <a:r>
                        <a:rPr lang="en-IN" sz="2100" u="none" strike="noStrike">
                          <a:effectLst/>
                        </a:rPr>
                        <a:t>Memory</a:t>
                      </a:r>
                      <a:endParaRPr lang="en-IN" sz="2100" b="1" i="0" u="none" strike="noStrike">
                        <a:solidFill>
                          <a:srgbClr val="000000"/>
                        </a:solidFill>
                        <a:effectLst/>
                        <a:latin typeface="Times New Roman" panose="02020603050405020304" pitchFamily="18" charset="0"/>
                        <a:cs typeface="Times New Roman" panose="02020603050405020304" pitchFamily="18" charset="0"/>
                      </a:endParaRPr>
                    </a:p>
                  </a:txBody>
                  <a:tcPr marL="3358" marR="3358" marT="3358" marB="0" anchor="ctr"/>
                </a:tc>
                <a:tc>
                  <a:txBody>
                    <a:bodyPr/>
                    <a:lstStyle/>
                    <a:p>
                      <a:pPr algn="l" fontAlgn="ctr"/>
                      <a:r>
                        <a:rPr lang="en-US" sz="2100" u="none" strike="noStrike">
                          <a:effectLst/>
                        </a:rPr>
                        <a:t>External memory for program and data storage</a:t>
                      </a:r>
                      <a:endParaRPr lang="en-US" sz="2100" b="0" i="0" u="none" strike="noStrike">
                        <a:solidFill>
                          <a:srgbClr val="000000"/>
                        </a:solidFill>
                        <a:effectLst/>
                        <a:latin typeface="Times New Roman" panose="02020603050405020304" pitchFamily="18" charset="0"/>
                        <a:cs typeface="Times New Roman" panose="02020603050405020304" pitchFamily="18" charset="0"/>
                      </a:endParaRPr>
                    </a:p>
                  </a:txBody>
                  <a:tcPr marL="3358" marR="3358" marT="3358" marB="0" anchor="ctr"/>
                </a:tc>
                <a:tc>
                  <a:txBody>
                    <a:bodyPr/>
                    <a:lstStyle/>
                    <a:p>
                      <a:pPr algn="l" fontAlgn="ctr"/>
                      <a:r>
                        <a:rPr lang="en-US" sz="2100" u="none" strike="noStrike">
                          <a:effectLst/>
                        </a:rPr>
                        <a:t>Built-in memory tailored for specific applications</a:t>
                      </a:r>
                      <a:endParaRPr lang="en-US" sz="2100" b="0" i="0" u="none" strike="noStrike">
                        <a:solidFill>
                          <a:srgbClr val="000000"/>
                        </a:solidFill>
                        <a:effectLst/>
                        <a:latin typeface="Times New Roman" panose="02020603050405020304" pitchFamily="18" charset="0"/>
                        <a:cs typeface="Times New Roman" panose="02020603050405020304" pitchFamily="18" charset="0"/>
                      </a:endParaRPr>
                    </a:p>
                  </a:txBody>
                  <a:tcPr marL="3358" marR="3358" marT="3358" marB="0" anchor="ctr"/>
                </a:tc>
                <a:extLst>
                  <a:ext uri="{0D108BD9-81ED-4DB2-BD59-A6C34878D82A}">
                    <a16:rowId xmlns:a16="http://schemas.microsoft.com/office/drawing/2014/main" xmlns="" val="1953042300"/>
                  </a:ext>
                </a:extLst>
              </a:tr>
              <a:tr h="805803">
                <a:tc>
                  <a:txBody>
                    <a:bodyPr/>
                    <a:lstStyle/>
                    <a:p>
                      <a:pPr algn="l" fontAlgn="ctr"/>
                      <a:r>
                        <a:rPr lang="en-IN" sz="2100" u="none" strike="noStrike">
                          <a:effectLst/>
                        </a:rPr>
                        <a:t>Complexity and Cost</a:t>
                      </a:r>
                      <a:endParaRPr lang="en-IN" sz="2100" b="1" i="0" u="none" strike="noStrike">
                        <a:solidFill>
                          <a:srgbClr val="000000"/>
                        </a:solidFill>
                        <a:effectLst/>
                        <a:latin typeface="Times New Roman" panose="02020603050405020304" pitchFamily="18" charset="0"/>
                        <a:cs typeface="Times New Roman" panose="02020603050405020304" pitchFamily="18" charset="0"/>
                      </a:endParaRPr>
                    </a:p>
                  </a:txBody>
                  <a:tcPr marL="3358" marR="3358" marT="3358" marB="0" anchor="ctr"/>
                </a:tc>
                <a:tc>
                  <a:txBody>
                    <a:bodyPr/>
                    <a:lstStyle/>
                    <a:p>
                      <a:pPr algn="l" fontAlgn="ctr"/>
                      <a:r>
                        <a:rPr lang="en-US" sz="2100" u="none" strike="noStrike">
                          <a:effectLst/>
                        </a:rPr>
                        <a:t>More complex and expensive due to external components</a:t>
                      </a:r>
                      <a:endParaRPr lang="en-US" sz="2100" b="0" i="0" u="none" strike="noStrike">
                        <a:solidFill>
                          <a:srgbClr val="000000"/>
                        </a:solidFill>
                        <a:effectLst/>
                        <a:latin typeface="Times New Roman" panose="02020603050405020304" pitchFamily="18" charset="0"/>
                        <a:cs typeface="Times New Roman" panose="02020603050405020304" pitchFamily="18" charset="0"/>
                      </a:endParaRPr>
                    </a:p>
                  </a:txBody>
                  <a:tcPr marL="3358" marR="3358" marT="3358" marB="0" anchor="ctr"/>
                </a:tc>
                <a:tc>
                  <a:txBody>
                    <a:bodyPr/>
                    <a:lstStyle/>
                    <a:p>
                      <a:pPr algn="l" fontAlgn="ctr"/>
                      <a:r>
                        <a:rPr lang="en-US" sz="2100" u="none" strike="noStrike">
                          <a:effectLst/>
                        </a:rPr>
                        <a:t>Less complex and generally cheaper due to integrated components</a:t>
                      </a:r>
                      <a:endParaRPr lang="en-US" sz="2100" b="0" i="0" u="none" strike="noStrike">
                        <a:solidFill>
                          <a:srgbClr val="000000"/>
                        </a:solidFill>
                        <a:effectLst/>
                        <a:latin typeface="Times New Roman" panose="02020603050405020304" pitchFamily="18" charset="0"/>
                        <a:cs typeface="Times New Roman" panose="02020603050405020304" pitchFamily="18" charset="0"/>
                      </a:endParaRPr>
                    </a:p>
                  </a:txBody>
                  <a:tcPr marL="3358" marR="3358" marT="3358" marB="0" anchor="ctr"/>
                </a:tc>
                <a:extLst>
                  <a:ext uri="{0D108BD9-81ED-4DB2-BD59-A6C34878D82A}">
                    <a16:rowId xmlns:a16="http://schemas.microsoft.com/office/drawing/2014/main" xmlns="" val="1790217355"/>
                  </a:ext>
                </a:extLst>
              </a:tr>
              <a:tr h="725223">
                <a:tc>
                  <a:txBody>
                    <a:bodyPr/>
                    <a:lstStyle/>
                    <a:p>
                      <a:pPr algn="l" fontAlgn="ctr"/>
                      <a:r>
                        <a:rPr lang="en-IN" sz="2100" u="none" strike="noStrike">
                          <a:effectLst/>
                        </a:rPr>
                        <a:t>Performance</a:t>
                      </a:r>
                      <a:endParaRPr lang="en-IN" sz="2100" b="1" i="0" u="none" strike="noStrike">
                        <a:solidFill>
                          <a:srgbClr val="000000"/>
                        </a:solidFill>
                        <a:effectLst/>
                        <a:latin typeface="Times New Roman" panose="02020603050405020304" pitchFamily="18" charset="0"/>
                        <a:cs typeface="Times New Roman" panose="02020603050405020304" pitchFamily="18" charset="0"/>
                      </a:endParaRPr>
                    </a:p>
                  </a:txBody>
                  <a:tcPr marL="3358" marR="3358" marT="3358" marB="0" anchor="ctr"/>
                </a:tc>
                <a:tc>
                  <a:txBody>
                    <a:bodyPr/>
                    <a:lstStyle/>
                    <a:p>
                      <a:pPr algn="l" fontAlgn="ctr"/>
                      <a:r>
                        <a:rPr lang="en-US" sz="2100" u="none" strike="noStrike">
                          <a:effectLst/>
                        </a:rPr>
                        <a:t>Higher processing power and speed</a:t>
                      </a:r>
                      <a:endParaRPr lang="en-US" sz="2100" b="0" i="0" u="none" strike="noStrike">
                        <a:solidFill>
                          <a:srgbClr val="000000"/>
                        </a:solidFill>
                        <a:effectLst/>
                        <a:latin typeface="Times New Roman" panose="02020603050405020304" pitchFamily="18" charset="0"/>
                        <a:cs typeface="Times New Roman" panose="02020603050405020304" pitchFamily="18" charset="0"/>
                      </a:endParaRPr>
                    </a:p>
                  </a:txBody>
                  <a:tcPr marL="3358" marR="3358" marT="3358" marB="0" anchor="ctr"/>
                </a:tc>
                <a:tc>
                  <a:txBody>
                    <a:bodyPr/>
                    <a:lstStyle/>
                    <a:p>
                      <a:pPr algn="l" fontAlgn="ctr"/>
                      <a:r>
                        <a:rPr lang="en-US" sz="2100" u="none" strike="noStrike">
                          <a:effectLst/>
                        </a:rPr>
                        <a:t>Lower processing power and speed, sufficient for control tasks</a:t>
                      </a:r>
                      <a:endParaRPr lang="en-US" sz="2100" b="0" i="0" u="none" strike="noStrike">
                        <a:solidFill>
                          <a:srgbClr val="000000"/>
                        </a:solidFill>
                        <a:effectLst/>
                        <a:latin typeface="Times New Roman" panose="02020603050405020304" pitchFamily="18" charset="0"/>
                        <a:cs typeface="Times New Roman" panose="02020603050405020304" pitchFamily="18" charset="0"/>
                      </a:endParaRPr>
                    </a:p>
                  </a:txBody>
                  <a:tcPr marL="3358" marR="3358" marT="3358" marB="0" anchor="ctr"/>
                </a:tc>
                <a:extLst>
                  <a:ext uri="{0D108BD9-81ED-4DB2-BD59-A6C34878D82A}">
                    <a16:rowId xmlns:a16="http://schemas.microsoft.com/office/drawing/2014/main" xmlns="" val="1362065771"/>
                  </a:ext>
                </a:extLst>
              </a:tr>
              <a:tr h="483482">
                <a:tc>
                  <a:txBody>
                    <a:bodyPr/>
                    <a:lstStyle/>
                    <a:p>
                      <a:pPr algn="l" fontAlgn="ctr"/>
                      <a:r>
                        <a:rPr lang="en-IN" sz="2100" u="none" strike="noStrike">
                          <a:effectLst/>
                        </a:rPr>
                        <a:t>Example</a:t>
                      </a:r>
                      <a:endParaRPr lang="en-IN" sz="2100" b="1" i="0" u="none" strike="noStrike">
                        <a:solidFill>
                          <a:srgbClr val="000000"/>
                        </a:solidFill>
                        <a:effectLst/>
                        <a:latin typeface="Times New Roman" panose="02020603050405020304" pitchFamily="18" charset="0"/>
                        <a:cs typeface="Times New Roman" panose="02020603050405020304" pitchFamily="18" charset="0"/>
                      </a:endParaRPr>
                    </a:p>
                  </a:txBody>
                  <a:tcPr marL="3358" marR="3358" marT="3358" marB="0" anchor="ctr"/>
                </a:tc>
                <a:tc>
                  <a:txBody>
                    <a:bodyPr/>
                    <a:lstStyle/>
                    <a:p>
                      <a:pPr algn="l" fontAlgn="ctr"/>
                      <a:r>
                        <a:rPr lang="it-IT" sz="2100" u="none" strike="noStrike">
                          <a:effectLst/>
                        </a:rPr>
                        <a:t>Intel Core i7, AMD Ryzen</a:t>
                      </a:r>
                      <a:endParaRPr lang="it-IT" sz="2100" b="0" i="0" u="none" strike="noStrike">
                        <a:solidFill>
                          <a:srgbClr val="000000"/>
                        </a:solidFill>
                        <a:effectLst/>
                        <a:latin typeface="Times New Roman" panose="02020603050405020304" pitchFamily="18" charset="0"/>
                        <a:cs typeface="Times New Roman" panose="02020603050405020304" pitchFamily="18" charset="0"/>
                      </a:endParaRPr>
                    </a:p>
                  </a:txBody>
                  <a:tcPr marL="3358" marR="3358" marT="3358" marB="0" anchor="ctr"/>
                </a:tc>
                <a:tc>
                  <a:txBody>
                    <a:bodyPr/>
                    <a:lstStyle/>
                    <a:p>
                      <a:pPr algn="l" fontAlgn="ctr"/>
                      <a:r>
                        <a:rPr lang="en-IN" sz="2100" u="none" strike="noStrike" dirty="0">
                          <a:effectLst/>
                        </a:rPr>
                        <a:t>Arduino (ATmega328), ARM Cortex-M series</a:t>
                      </a:r>
                      <a:endParaRPr lang="en-IN" sz="2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358" marR="3358" marT="3358" marB="0" anchor="ctr"/>
                </a:tc>
                <a:extLst>
                  <a:ext uri="{0D108BD9-81ED-4DB2-BD59-A6C34878D82A}">
                    <a16:rowId xmlns:a16="http://schemas.microsoft.com/office/drawing/2014/main" xmlns="" val="1885005733"/>
                  </a:ext>
                </a:extLst>
              </a:tr>
            </a:tbl>
          </a:graphicData>
        </a:graphic>
      </p:graphicFrame>
    </p:spTree>
    <p:extLst>
      <p:ext uri="{BB962C8B-B14F-4D97-AF65-F5344CB8AC3E}">
        <p14:creationId xmlns:p14="http://schemas.microsoft.com/office/powerpoint/2010/main" val="25002012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35</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20" y="1754270"/>
            <a:ext cx="12350620" cy="523220"/>
          </a:xfrm>
          <a:prstGeom prst="rect">
            <a:avLst/>
          </a:prstGeom>
          <a:noFill/>
        </p:spPr>
        <p:txBody>
          <a:bodyPr wrap="square">
            <a:spAutoFit/>
          </a:bodyPr>
          <a:lstStyle/>
          <a:p>
            <a:pPr marL="342900" marR="0" lvl="0" indent="-342900" algn="just" defTabSz="914400" rtl="0" eaLnBrk="1" fontAlgn="base" latinLnBrk="0" hangingPunct="1">
              <a:lnSpc>
                <a:spcPct val="100000"/>
              </a:lnSpc>
              <a:spcBef>
                <a:spcPct val="20000"/>
              </a:spcBef>
              <a:spcAft>
                <a:spcPct val="0"/>
              </a:spcAft>
              <a:buClr>
                <a:srgbClr val="996600"/>
              </a:buClr>
              <a:buSzTx/>
              <a:buFont typeface="Wingdings" panose="05000000000000000000" pitchFamily="2" charset="2"/>
              <a:buChar char="w"/>
              <a:tabLst/>
              <a:defRPr/>
            </a:pPr>
            <a:endParaRPr kumimoji="0" lang="en-US" altLang="en-US" sz="2800" b="0" i="0" u="none" strike="noStrike" kern="0" cap="none" spc="0" normalizeH="0" baseline="0" noProof="0" dirty="0">
              <a:ln>
                <a:noFill/>
              </a:ln>
              <a:solidFill>
                <a:srgbClr val="000000"/>
              </a:solidFill>
              <a:effectLst/>
              <a:uLnTx/>
              <a:uFillTx/>
              <a:latin typeface="Times New Roman"/>
              <a:ea typeface="+mn-ea"/>
              <a:cs typeface="+mn-cs"/>
            </a:endParaRPr>
          </a:p>
        </p:txBody>
      </p:sp>
      <p:sp>
        <p:nvSpPr>
          <p:cNvPr id="7" name="TextBox 6">
            <a:extLst>
              <a:ext uri="{FF2B5EF4-FFF2-40B4-BE49-F238E27FC236}">
                <a16:creationId xmlns:a16="http://schemas.microsoft.com/office/drawing/2014/main" xmlns="" id="{8F0FD7BA-1379-3787-FD96-632BA4C39924}"/>
              </a:ext>
            </a:extLst>
          </p:cNvPr>
          <p:cNvSpPr txBox="1"/>
          <p:nvPr/>
        </p:nvSpPr>
        <p:spPr>
          <a:xfrm>
            <a:off x="166403" y="876648"/>
            <a:ext cx="8723597" cy="518988"/>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4. Microprocessor vs Microcontroller</a:t>
            </a: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xmlns="" id="{229001E4-1FDE-9254-B35B-E1C562E062B5}"/>
              </a:ext>
            </a:extLst>
          </p:cNvPr>
          <p:cNvSpPr txBox="1"/>
          <p:nvPr/>
        </p:nvSpPr>
        <p:spPr>
          <a:xfrm>
            <a:off x="166404" y="1286675"/>
            <a:ext cx="11300918" cy="518988"/>
          </a:xfrm>
          <a:prstGeom prst="rect">
            <a:avLst/>
          </a:prstGeom>
          <a:noFill/>
        </p:spPr>
        <p:txBody>
          <a:bodyPr wrap="square">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4.5 Microprocessor vs. Microcontroller: Key Differences</a:t>
            </a:r>
          </a:p>
        </p:txBody>
      </p:sp>
      <p:graphicFrame>
        <p:nvGraphicFramePr>
          <p:cNvPr id="8" name="Table 7">
            <a:extLst>
              <a:ext uri="{FF2B5EF4-FFF2-40B4-BE49-F238E27FC236}">
                <a16:creationId xmlns:a16="http://schemas.microsoft.com/office/drawing/2014/main" xmlns="" id="{55EA968E-42FF-7472-A29E-FAA1AB2B031F}"/>
              </a:ext>
            </a:extLst>
          </p:cNvPr>
          <p:cNvGraphicFramePr>
            <a:graphicFrameLocks noGrp="1"/>
          </p:cNvGraphicFramePr>
          <p:nvPr>
            <p:extLst>
              <p:ext uri="{D42A27DB-BD31-4B8C-83A1-F6EECF244321}">
                <p14:modId xmlns:p14="http://schemas.microsoft.com/office/powerpoint/2010/main" val="2441995255"/>
              </p:ext>
            </p:extLst>
          </p:nvPr>
        </p:nvGraphicFramePr>
        <p:xfrm>
          <a:off x="248775" y="1935197"/>
          <a:ext cx="11535830" cy="4351338"/>
        </p:xfrm>
        <a:graphic>
          <a:graphicData uri="http://schemas.openxmlformats.org/drawingml/2006/table">
            <a:tbl>
              <a:tblPr>
                <a:tableStyleId>{E8B1032C-EA38-4F05-BA0D-38AFFFC7BED3}</a:tableStyleId>
              </a:tblPr>
              <a:tblGrid>
                <a:gridCol w="2552748">
                  <a:extLst>
                    <a:ext uri="{9D8B030D-6E8A-4147-A177-3AD203B41FA5}">
                      <a16:colId xmlns:a16="http://schemas.microsoft.com/office/drawing/2014/main" xmlns="" val="1816566205"/>
                    </a:ext>
                  </a:extLst>
                </a:gridCol>
                <a:gridCol w="3328264">
                  <a:extLst>
                    <a:ext uri="{9D8B030D-6E8A-4147-A177-3AD203B41FA5}">
                      <a16:colId xmlns:a16="http://schemas.microsoft.com/office/drawing/2014/main" xmlns="" val="3347503431"/>
                    </a:ext>
                  </a:extLst>
                </a:gridCol>
                <a:gridCol w="5654818">
                  <a:extLst>
                    <a:ext uri="{9D8B030D-6E8A-4147-A177-3AD203B41FA5}">
                      <a16:colId xmlns:a16="http://schemas.microsoft.com/office/drawing/2014/main" xmlns="" val="4185091459"/>
                    </a:ext>
                  </a:extLst>
                </a:gridCol>
              </a:tblGrid>
              <a:tr h="395576">
                <a:tc>
                  <a:txBody>
                    <a:bodyPr/>
                    <a:lstStyle/>
                    <a:p>
                      <a:pPr algn="ctr" fontAlgn="ctr"/>
                      <a:r>
                        <a:rPr lang="en-IN" sz="2100" u="none" strike="noStrike">
                          <a:effectLst/>
                        </a:rPr>
                        <a:t>Key Differences</a:t>
                      </a:r>
                      <a:endParaRPr lang="en-IN" sz="2100" b="1" i="0" u="none" strike="noStrike">
                        <a:solidFill>
                          <a:srgbClr val="000000"/>
                        </a:solidFill>
                        <a:effectLst/>
                        <a:latin typeface="Times New Roman" panose="02020603050405020304" pitchFamily="18" charset="0"/>
                        <a:cs typeface="Times New Roman" panose="02020603050405020304" pitchFamily="18" charset="0"/>
                      </a:endParaRPr>
                    </a:p>
                  </a:txBody>
                  <a:tcPr marL="5494" marR="5494" marT="5494" marB="0" anchor="ctr">
                    <a:solidFill>
                      <a:schemeClr val="accent6">
                        <a:lumMod val="20000"/>
                        <a:lumOff val="80000"/>
                      </a:schemeClr>
                    </a:solidFill>
                  </a:tcPr>
                </a:tc>
                <a:tc>
                  <a:txBody>
                    <a:bodyPr/>
                    <a:lstStyle/>
                    <a:p>
                      <a:pPr algn="ctr" fontAlgn="ctr"/>
                      <a:r>
                        <a:rPr lang="en-IN" sz="2100" u="none" strike="noStrike">
                          <a:effectLst/>
                        </a:rPr>
                        <a:t>Microprocessor</a:t>
                      </a:r>
                      <a:endParaRPr lang="en-IN" sz="2100" b="1" i="0" u="none" strike="noStrike">
                        <a:solidFill>
                          <a:srgbClr val="000000"/>
                        </a:solidFill>
                        <a:effectLst/>
                        <a:latin typeface="Times New Roman" panose="02020603050405020304" pitchFamily="18" charset="0"/>
                        <a:cs typeface="Times New Roman" panose="02020603050405020304" pitchFamily="18" charset="0"/>
                      </a:endParaRPr>
                    </a:p>
                  </a:txBody>
                  <a:tcPr marL="5494" marR="5494" marT="5494" marB="0" anchor="ctr">
                    <a:solidFill>
                      <a:schemeClr val="accent6">
                        <a:lumMod val="20000"/>
                        <a:lumOff val="80000"/>
                      </a:schemeClr>
                    </a:solidFill>
                  </a:tcPr>
                </a:tc>
                <a:tc>
                  <a:txBody>
                    <a:bodyPr/>
                    <a:lstStyle/>
                    <a:p>
                      <a:pPr algn="ctr" fontAlgn="ctr"/>
                      <a:r>
                        <a:rPr lang="en-IN" sz="2100" u="none" strike="noStrike" dirty="0">
                          <a:effectLst/>
                        </a:rPr>
                        <a:t>Microcontroller</a:t>
                      </a:r>
                      <a:endParaRPr lang="en-IN" sz="2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5494" marR="5494" marT="5494" marB="0" anchor="ctr">
                    <a:solidFill>
                      <a:schemeClr val="accent6">
                        <a:lumMod val="20000"/>
                        <a:lumOff val="80000"/>
                      </a:schemeClr>
                    </a:solidFill>
                  </a:tcPr>
                </a:tc>
                <a:extLst>
                  <a:ext uri="{0D108BD9-81ED-4DB2-BD59-A6C34878D82A}">
                    <a16:rowId xmlns:a16="http://schemas.microsoft.com/office/drawing/2014/main" xmlns="" val="110976738"/>
                  </a:ext>
                </a:extLst>
              </a:tr>
              <a:tr h="1054870">
                <a:tc>
                  <a:txBody>
                    <a:bodyPr/>
                    <a:lstStyle/>
                    <a:p>
                      <a:pPr algn="l" fontAlgn="ctr"/>
                      <a:r>
                        <a:rPr lang="en-IN" sz="2100" u="none" strike="noStrike">
                          <a:effectLst/>
                        </a:rPr>
                        <a:t>Integration</a:t>
                      </a:r>
                      <a:endParaRPr lang="en-IN" sz="2100" b="1" i="0" u="none" strike="noStrike">
                        <a:solidFill>
                          <a:srgbClr val="000000"/>
                        </a:solidFill>
                        <a:effectLst/>
                        <a:latin typeface="Times New Roman" panose="02020603050405020304" pitchFamily="18" charset="0"/>
                        <a:cs typeface="Times New Roman" panose="02020603050405020304" pitchFamily="18" charset="0"/>
                      </a:endParaRPr>
                    </a:p>
                  </a:txBody>
                  <a:tcPr marL="5494" marR="5494" marT="5494" marB="0" anchor="ctr"/>
                </a:tc>
                <a:tc>
                  <a:txBody>
                    <a:bodyPr/>
                    <a:lstStyle/>
                    <a:p>
                      <a:pPr algn="l" fontAlgn="ctr"/>
                      <a:r>
                        <a:rPr lang="en-US" sz="2100" u="none" strike="noStrike">
                          <a:effectLst/>
                        </a:rPr>
                        <a:t>Requires external components for memory and I/O functions.</a:t>
                      </a:r>
                      <a:endParaRPr lang="en-US" sz="2100" b="0" i="0" u="none" strike="noStrike">
                        <a:solidFill>
                          <a:srgbClr val="000000"/>
                        </a:solidFill>
                        <a:effectLst/>
                        <a:latin typeface="Times New Roman" panose="02020603050405020304" pitchFamily="18" charset="0"/>
                        <a:cs typeface="Times New Roman" panose="02020603050405020304" pitchFamily="18" charset="0"/>
                      </a:endParaRPr>
                    </a:p>
                  </a:txBody>
                  <a:tcPr marL="5494" marR="5494" marT="5494" marB="0" anchor="ctr"/>
                </a:tc>
                <a:tc>
                  <a:txBody>
                    <a:bodyPr/>
                    <a:lstStyle/>
                    <a:p>
                      <a:pPr algn="l" fontAlgn="ctr"/>
                      <a:r>
                        <a:rPr lang="en-US" sz="2100" u="none" strike="noStrike">
                          <a:effectLst/>
                        </a:rPr>
                        <a:t>All components are integrated into one chip.</a:t>
                      </a:r>
                      <a:endParaRPr lang="en-US" sz="2100" b="0" i="0" u="none" strike="noStrike">
                        <a:solidFill>
                          <a:srgbClr val="000000"/>
                        </a:solidFill>
                        <a:effectLst/>
                        <a:latin typeface="Times New Roman" panose="02020603050405020304" pitchFamily="18" charset="0"/>
                        <a:cs typeface="Times New Roman" panose="02020603050405020304" pitchFamily="18" charset="0"/>
                      </a:endParaRPr>
                    </a:p>
                  </a:txBody>
                  <a:tcPr marL="5494" marR="5494" marT="5494" marB="0" anchor="ctr"/>
                </a:tc>
                <a:extLst>
                  <a:ext uri="{0D108BD9-81ED-4DB2-BD59-A6C34878D82A}">
                    <a16:rowId xmlns:a16="http://schemas.microsoft.com/office/drawing/2014/main" xmlns="" val="3257506282"/>
                  </a:ext>
                </a:extLst>
              </a:tr>
              <a:tr h="1318587">
                <a:tc>
                  <a:txBody>
                    <a:bodyPr/>
                    <a:lstStyle/>
                    <a:p>
                      <a:pPr algn="l" fontAlgn="ctr"/>
                      <a:r>
                        <a:rPr lang="en-IN" sz="2100" u="none" strike="noStrike">
                          <a:effectLst/>
                        </a:rPr>
                        <a:t>Application</a:t>
                      </a:r>
                      <a:endParaRPr lang="en-IN" sz="2100" b="1" i="0" u="none" strike="noStrike">
                        <a:solidFill>
                          <a:srgbClr val="000000"/>
                        </a:solidFill>
                        <a:effectLst/>
                        <a:latin typeface="Times New Roman" panose="02020603050405020304" pitchFamily="18" charset="0"/>
                        <a:cs typeface="Times New Roman" panose="02020603050405020304" pitchFamily="18" charset="0"/>
                      </a:endParaRPr>
                    </a:p>
                  </a:txBody>
                  <a:tcPr marL="5494" marR="5494" marT="5494" marB="0" anchor="ctr"/>
                </a:tc>
                <a:tc>
                  <a:txBody>
                    <a:bodyPr/>
                    <a:lstStyle/>
                    <a:p>
                      <a:pPr algn="l" fontAlgn="ctr"/>
                      <a:r>
                        <a:rPr lang="en-US" sz="2100" u="none" strike="noStrike" dirty="0">
                          <a:effectLst/>
                        </a:rPr>
                        <a:t>Suitable for complex, general-purpose tasks requiring high processing power.</a:t>
                      </a:r>
                      <a:endParaRPr lang="en-US" sz="2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494" marR="5494" marT="5494" marB="0" anchor="ctr"/>
                </a:tc>
                <a:tc>
                  <a:txBody>
                    <a:bodyPr/>
                    <a:lstStyle/>
                    <a:p>
                      <a:pPr algn="l" fontAlgn="ctr"/>
                      <a:r>
                        <a:rPr lang="en-US" sz="2100" u="none" strike="noStrike">
                          <a:effectLst/>
                        </a:rPr>
                        <a:t>Ideal for specific, control-oriented tasks in embedded systems.</a:t>
                      </a:r>
                      <a:endParaRPr lang="en-US" sz="2100" b="0" i="0" u="none" strike="noStrike">
                        <a:solidFill>
                          <a:srgbClr val="000000"/>
                        </a:solidFill>
                        <a:effectLst/>
                        <a:latin typeface="Times New Roman" panose="02020603050405020304" pitchFamily="18" charset="0"/>
                        <a:cs typeface="Times New Roman" panose="02020603050405020304" pitchFamily="18" charset="0"/>
                      </a:endParaRPr>
                    </a:p>
                  </a:txBody>
                  <a:tcPr marL="5494" marR="5494" marT="5494" marB="0" anchor="ctr"/>
                </a:tc>
                <a:extLst>
                  <a:ext uri="{0D108BD9-81ED-4DB2-BD59-A6C34878D82A}">
                    <a16:rowId xmlns:a16="http://schemas.microsoft.com/office/drawing/2014/main" xmlns="" val="3581777649"/>
                  </a:ext>
                </a:extLst>
              </a:tr>
              <a:tr h="1054870">
                <a:tc>
                  <a:txBody>
                    <a:bodyPr/>
                    <a:lstStyle/>
                    <a:p>
                      <a:pPr algn="l" fontAlgn="ctr"/>
                      <a:r>
                        <a:rPr lang="en-IN" sz="2100" u="none" strike="noStrike">
                          <a:effectLst/>
                        </a:rPr>
                        <a:t>Cost and Complexity</a:t>
                      </a:r>
                      <a:endParaRPr lang="en-IN" sz="2100" b="1" i="0" u="none" strike="noStrike">
                        <a:solidFill>
                          <a:srgbClr val="000000"/>
                        </a:solidFill>
                        <a:effectLst/>
                        <a:latin typeface="Times New Roman" panose="02020603050405020304" pitchFamily="18" charset="0"/>
                        <a:cs typeface="Times New Roman" panose="02020603050405020304" pitchFamily="18" charset="0"/>
                      </a:endParaRPr>
                    </a:p>
                  </a:txBody>
                  <a:tcPr marL="5494" marR="5494" marT="5494" marB="0" anchor="ctr"/>
                </a:tc>
                <a:tc>
                  <a:txBody>
                    <a:bodyPr/>
                    <a:lstStyle/>
                    <a:p>
                      <a:pPr algn="l" fontAlgn="ctr"/>
                      <a:r>
                        <a:rPr lang="en-US" sz="2100" u="none" strike="noStrike">
                          <a:effectLst/>
                        </a:rPr>
                        <a:t>Higher cost and complexity due to external components.</a:t>
                      </a:r>
                      <a:endParaRPr lang="en-US" sz="2100" b="0" i="0" u="none" strike="noStrike">
                        <a:solidFill>
                          <a:srgbClr val="000000"/>
                        </a:solidFill>
                        <a:effectLst/>
                        <a:latin typeface="Times New Roman" panose="02020603050405020304" pitchFamily="18" charset="0"/>
                        <a:cs typeface="Times New Roman" panose="02020603050405020304" pitchFamily="18" charset="0"/>
                      </a:endParaRPr>
                    </a:p>
                  </a:txBody>
                  <a:tcPr marL="5494" marR="5494" marT="5494" marB="0" anchor="ctr"/>
                </a:tc>
                <a:tc>
                  <a:txBody>
                    <a:bodyPr/>
                    <a:lstStyle/>
                    <a:p>
                      <a:pPr algn="l" fontAlgn="ctr"/>
                      <a:r>
                        <a:rPr lang="en-US" sz="2100" u="none" strike="noStrike">
                          <a:effectLst/>
                        </a:rPr>
                        <a:t>Lower cost and complexity with integrated components.</a:t>
                      </a:r>
                      <a:endParaRPr lang="en-US" sz="2100" b="0" i="0" u="none" strike="noStrike">
                        <a:solidFill>
                          <a:srgbClr val="000000"/>
                        </a:solidFill>
                        <a:effectLst/>
                        <a:latin typeface="Times New Roman" panose="02020603050405020304" pitchFamily="18" charset="0"/>
                        <a:cs typeface="Times New Roman" panose="02020603050405020304" pitchFamily="18" charset="0"/>
                      </a:endParaRPr>
                    </a:p>
                  </a:txBody>
                  <a:tcPr marL="5494" marR="5494" marT="5494" marB="0" anchor="ctr"/>
                </a:tc>
                <a:extLst>
                  <a:ext uri="{0D108BD9-81ED-4DB2-BD59-A6C34878D82A}">
                    <a16:rowId xmlns:a16="http://schemas.microsoft.com/office/drawing/2014/main" xmlns="" val="3537890566"/>
                  </a:ext>
                </a:extLst>
              </a:tr>
              <a:tr h="527435">
                <a:tc>
                  <a:txBody>
                    <a:bodyPr/>
                    <a:lstStyle/>
                    <a:p>
                      <a:pPr algn="l" fontAlgn="ctr"/>
                      <a:r>
                        <a:rPr lang="en-IN" sz="2100" u="none" strike="noStrike">
                          <a:effectLst/>
                        </a:rPr>
                        <a:t>Memory</a:t>
                      </a:r>
                      <a:endParaRPr lang="en-IN" sz="2100" b="1" i="0" u="none" strike="noStrike">
                        <a:solidFill>
                          <a:srgbClr val="000000"/>
                        </a:solidFill>
                        <a:effectLst/>
                        <a:latin typeface="Times New Roman" panose="02020603050405020304" pitchFamily="18" charset="0"/>
                        <a:cs typeface="Times New Roman" panose="02020603050405020304" pitchFamily="18" charset="0"/>
                      </a:endParaRPr>
                    </a:p>
                  </a:txBody>
                  <a:tcPr marL="5494" marR="5494" marT="5494" marB="0" anchor="ctr"/>
                </a:tc>
                <a:tc>
                  <a:txBody>
                    <a:bodyPr/>
                    <a:lstStyle/>
                    <a:p>
                      <a:pPr algn="l" fontAlgn="ctr"/>
                      <a:r>
                        <a:rPr lang="en-IN" sz="2100" u="none" strike="noStrike">
                          <a:effectLst/>
                        </a:rPr>
                        <a:t>External and scalable memory.</a:t>
                      </a:r>
                      <a:endParaRPr lang="en-IN" sz="2100" b="0" i="0" u="none" strike="noStrike">
                        <a:solidFill>
                          <a:srgbClr val="000000"/>
                        </a:solidFill>
                        <a:effectLst/>
                        <a:latin typeface="Times New Roman" panose="02020603050405020304" pitchFamily="18" charset="0"/>
                        <a:cs typeface="Times New Roman" panose="02020603050405020304" pitchFamily="18" charset="0"/>
                      </a:endParaRPr>
                    </a:p>
                  </a:txBody>
                  <a:tcPr marL="5494" marR="5494" marT="5494" marB="0" anchor="ctr"/>
                </a:tc>
                <a:tc>
                  <a:txBody>
                    <a:bodyPr/>
                    <a:lstStyle/>
                    <a:p>
                      <a:pPr algn="l" fontAlgn="ctr"/>
                      <a:r>
                        <a:rPr lang="en-IN" sz="2100" u="none" strike="noStrike" dirty="0">
                          <a:effectLst/>
                        </a:rPr>
                        <a:t>Built-in and limited memory.</a:t>
                      </a:r>
                      <a:endParaRPr lang="en-IN" sz="2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494" marR="5494" marT="5494" marB="0" anchor="ctr"/>
                </a:tc>
                <a:extLst>
                  <a:ext uri="{0D108BD9-81ED-4DB2-BD59-A6C34878D82A}">
                    <a16:rowId xmlns:a16="http://schemas.microsoft.com/office/drawing/2014/main" xmlns="" val="648723857"/>
                  </a:ext>
                </a:extLst>
              </a:tr>
            </a:tbl>
          </a:graphicData>
        </a:graphic>
      </p:graphicFrame>
    </p:spTree>
    <p:extLst>
      <p:ext uri="{BB962C8B-B14F-4D97-AF65-F5344CB8AC3E}">
        <p14:creationId xmlns:p14="http://schemas.microsoft.com/office/powerpoint/2010/main" val="37012449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36</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20" y="1754270"/>
            <a:ext cx="12350620" cy="523220"/>
          </a:xfrm>
          <a:prstGeom prst="rect">
            <a:avLst/>
          </a:prstGeom>
          <a:noFill/>
        </p:spPr>
        <p:txBody>
          <a:bodyPr wrap="square">
            <a:spAutoFit/>
          </a:bodyPr>
          <a:lstStyle/>
          <a:p>
            <a:pPr marL="342900" marR="0" lvl="0" indent="-342900" algn="just" defTabSz="914400" rtl="0" eaLnBrk="1" fontAlgn="base" latinLnBrk="0" hangingPunct="1">
              <a:lnSpc>
                <a:spcPct val="100000"/>
              </a:lnSpc>
              <a:spcBef>
                <a:spcPct val="20000"/>
              </a:spcBef>
              <a:spcAft>
                <a:spcPct val="0"/>
              </a:spcAft>
              <a:buClr>
                <a:srgbClr val="996600"/>
              </a:buClr>
              <a:buSzTx/>
              <a:buFont typeface="Wingdings" panose="05000000000000000000" pitchFamily="2" charset="2"/>
              <a:buChar char="w"/>
              <a:tabLst/>
              <a:defRPr/>
            </a:pPr>
            <a:endParaRPr kumimoji="0" lang="en-US" altLang="en-US" sz="2800" b="0" i="0" u="none" strike="noStrike" kern="0" cap="none" spc="0" normalizeH="0" baseline="0" noProof="0" dirty="0">
              <a:ln>
                <a:noFill/>
              </a:ln>
              <a:solidFill>
                <a:srgbClr val="000000"/>
              </a:solidFill>
              <a:effectLst/>
              <a:uLnTx/>
              <a:uFillTx/>
              <a:latin typeface="Times New Roman"/>
              <a:ea typeface="+mn-ea"/>
              <a:cs typeface="+mn-cs"/>
            </a:endParaRPr>
          </a:p>
        </p:txBody>
      </p:sp>
      <p:sp>
        <p:nvSpPr>
          <p:cNvPr id="7" name="TextBox 6">
            <a:extLst>
              <a:ext uri="{FF2B5EF4-FFF2-40B4-BE49-F238E27FC236}">
                <a16:creationId xmlns:a16="http://schemas.microsoft.com/office/drawing/2014/main" xmlns="" id="{8F0FD7BA-1379-3787-FD96-632BA4C39924}"/>
              </a:ext>
            </a:extLst>
          </p:cNvPr>
          <p:cNvSpPr txBox="1"/>
          <p:nvPr/>
        </p:nvSpPr>
        <p:spPr>
          <a:xfrm>
            <a:off x="166403" y="876648"/>
            <a:ext cx="8723597" cy="518988"/>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4. Microprocessor vs Microcontroller</a:t>
            </a: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xmlns="" id="{229001E4-1FDE-9254-B35B-E1C562E062B5}"/>
              </a:ext>
            </a:extLst>
          </p:cNvPr>
          <p:cNvSpPr txBox="1"/>
          <p:nvPr/>
        </p:nvSpPr>
        <p:spPr>
          <a:xfrm>
            <a:off x="166404" y="1286675"/>
            <a:ext cx="11300918" cy="518988"/>
          </a:xfrm>
          <a:prstGeom prst="rect">
            <a:avLst/>
          </a:prstGeom>
          <a:noFill/>
        </p:spPr>
        <p:txBody>
          <a:bodyPr wrap="square">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4.5 Microprocessor vs. Microcontroller: Key Differences</a:t>
            </a:r>
          </a:p>
        </p:txBody>
      </p:sp>
      <p:graphicFrame>
        <p:nvGraphicFramePr>
          <p:cNvPr id="8" name="Table 7">
            <a:extLst>
              <a:ext uri="{FF2B5EF4-FFF2-40B4-BE49-F238E27FC236}">
                <a16:creationId xmlns:a16="http://schemas.microsoft.com/office/drawing/2014/main" xmlns="" id="{55EA968E-42FF-7472-A29E-FAA1AB2B031F}"/>
              </a:ext>
            </a:extLst>
          </p:cNvPr>
          <p:cNvGraphicFramePr>
            <a:graphicFrameLocks noGrp="1"/>
          </p:cNvGraphicFramePr>
          <p:nvPr>
            <p:extLst>
              <p:ext uri="{D42A27DB-BD31-4B8C-83A1-F6EECF244321}">
                <p14:modId xmlns:p14="http://schemas.microsoft.com/office/powerpoint/2010/main" val="494354630"/>
              </p:ext>
            </p:extLst>
          </p:nvPr>
        </p:nvGraphicFramePr>
        <p:xfrm>
          <a:off x="248775" y="1935197"/>
          <a:ext cx="11535830" cy="4351338"/>
        </p:xfrm>
        <a:graphic>
          <a:graphicData uri="http://schemas.openxmlformats.org/drawingml/2006/table">
            <a:tbl>
              <a:tblPr>
                <a:tableStyleId>{E8B1032C-EA38-4F05-BA0D-38AFFFC7BED3}</a:tableStyleId>
              </a:tblPr>
              <a:tblGrid>
                <a:gridCol w="2552748">
                  <a:extLst>
                    <a:ext uri="{9D8B030D-6E8A-4147-A177-3AD203B41FA5}">
                      <a16:colId xmlns:a16="http://schemas.microsoft.com/office/drawing/2014/main" xmlns="" val="1816566205"/>
                    </a:ext>
                  </a:extLst>
                </a:gridCol>
                <a:gridCol w="4177775">
                  <a:extLst>
                    <a:ext uri="{9D8B030D-6E8A-4147-A177-3AD203B41FA5}">
                      <a16:colId xmlns:a16="http://schemas.microsoft.com/office/drawing/2014/main" xmlns="" val="3347503431"/>
                    </a:ext>
                  </a:extLst>
                </a:gridCol>
                <a:gridCol w="4805307">
                  <a:extLst>
                    <a:ext uri="{9D8B030D-6E8A-4147-A177-3AD203B41FA5}">
                      <a16:colId xmlns:a16="http://schemas.microsoft.com/office/drawing/2014/main" xmlns="" val="4185091459"/>
                    </a:ext>
                  </a:extLst>
                </a:gridCol>
              </a:tblGrid>
              <a:tr h="395576">
                <a:tc>
                  <a:txBody>
                    <a:bodyPr/>
                    <a:lstStyle/>
                    <a:p>
                      <a:pPr algn="ctr" fontAlgn="ctr"/>
                      <a:r>
                        <a:rPr lang="en-IN" sz="2100" u="none" strike="noStrike">
                          <a:effectLst/>
                        </a:rPr>
                        <a:t>Key Differences</a:t>
                      </a:r>
                      <a:endParaRPr lang="en-IN" sz="2100" b="1" i="0" u="none" strike="noStrike">
                        <a:solidFill>
                          <a:srgbClr val="000000"/>
                        </a:solidFill>
                        <a:effectLst/>
                        <a:latin typeface="Times New Roman" panose="02020603050405020304" pitchFamily="18" charset="0"/>
                        <a:cs typeface="Times New Roman" panose="02020603050405020304" pitchFamily="18" charset="0"/>
                      </a:endParaRPr>
                    </a:p>
                  </a:txBody>
                  <a:tcPr marL="5494" marR="5494" marT="5494" marB="0" anchor="ctr">
                    <a:solidFill>
                      <a:schemeClr val="accent6">
                        <a:lumMod val="20000"/>
                        <a:lumOff val="80000"/>
                      </a:schemeClr>
                    </a:solidFill>
                  </a:tcPr>
                </a:tc>
                <a:tc>
                  <a:txBody>
                    <a:bodyPr/>
                    <a:lstStyle/>
                    <a:p>
                      <a:pPr algn="ctr" fontAlgn="ctr"/>
                      <a:r>
                        <a:rPr lang="en-IN" sz="2100" u="none" strike="noStrike">
                          <a:effectLst/>
                        </a:rPr>
                        <a:t>Microprocessor</a:t>
                      </a:r>
                      <a:endParaRPr lang="en-IN" sz="2100" b="1" i="0" u="none" strike="noStrike">
                        <a:solidFill>
                          <a:srgbClr val="000000"/>
                        </a:solidFill>
                        <a:effectLst/>
                        <a:latin typeface="Times New Roman" panose="02020603050405020304" pitchFamily="18" charset="0"/>
                        <a:cs typeface="Times New Roman" panose="02020603050405020304" pitchFamily="18" charset="0"/>
                      </a:endParaRPr>
                    </a:p>
                  </a:txBody>
                  <a:tcPr marL="5494" marR="5494" marT="5494" marB="0" anchor="ctr">
                    <a:solidFill>
                      <a:schemeClr val="accent6">
                        <a:lumMod val="20000"/>
                        <a:lumOff val="80000"/>
                      </a:schemeClr>
                    </a:solidFill>
                  </a:tcPr>
                </a:tc>
                <a:tc>
                  <a:txBody>
                    <a:bodyPr/>
                    <a:lstStyle/>
                    <a:p>
                      <a:pPr algn="ctr" fontAlgn="ctr"/>
                      <a:r>
                        <a:rPr lang="en-IN" sz="2100" u="none" strike="noStrike" dirty="0">
                          <a:effectLst/>
                        </a:rPr>
                        <a:t>Microcontroller</a:t>
                      </a:r>
                      <a:endParaRPr lang="en-IN" sz="2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5494" marR="5494" marT="5494" marB="0" anchor="ctr">
                    <a:solidFill>
                      <a:schemeClr val="accent6">
                        <a:lumMod val="20000"/>
                        <a:lumOff val="80000"/>
                      </a:schemeClr>
                    </a:solidFill>
                  </a:tcPr>
                </a:tc>
                <a:extLst>
                  <a:ext uri="{0D108BD9-81ED-4DB2-BD59-A6C34878D82A}">
                    <a16:rowId xmlns:a16="http://schemas.microsoft.com/office/drawing/2014/main" xmlns="" val="110976738"/>
                  </a:ext>
                </a:extLst>
              </a:tr>
              <a:tr h="1054870">
                <a:tc>
                  <a:txBody>
                    <a:bodyPr/>
                    <a:lstStyle/>
                    <a:p>
                      <a:pPr algn="l" fontAlgn="ctr"/>
                      <a:r>
                        <a:rPr lang="en-IN" sz="2100" u="none" strike="noStrike">
                          <a:effectLst/>
                        </a:rPr>
                        <a:t>Integration</a:t>
                      </a:r>
                      <a:endParaRPr lang="en-IN" sz="2100" b="1" i="0" u="none" strike="noStrike">
                        <a:solidFill>
                          <a:srgbClr val="000000"/>
                        </a:solidFill>
                        <a:effectLst/>
                        <a:latin typeface="Times New Roman" panose="02020603050405020304" pitchFamily="18" charset="0"/>
                        <a:cs typeface="Times New Roman" panose="02020603050405020304" pitchFamily="18" charset="0"/>
                      </a:endParaRPr>
                    </a:p>
                  </a:txBody>
                  <a:tcPr marL="5494" marR="5494" marT="5494" marB="0" anchor="ctr"/>
                </a:tc>
                <a:tc>
                  <a:txBody>
                    <a:bodyPr/>
                    <a:lstStyle/>
                    <a:p>
                      <a:pPr algn="l" fontAlgn="ctr"/>
                      <a:r>
                        <a:rPr lang="en-US" sz="2100" u="none" strike="noStrike">
                          <a:effectLst/>
                        </a:rPr>
                        <a:t>Requires external components for memory and I/O functions.</a:t>
                      </a:r>
                      <a:endParaRPr lang="en-US" sz="2100" b="0" i="0" u="none" strike="noStrike">
                        <a:solidFill>
                          <a:srgbClr val="000000"/>
                        </a:solidFill>
                        <a:effectLst/>
                        <a:latin typeface="Times New Roman" panose="02020603050405020304" pitchFamily="18" charset="0"/>
                        <a:cs typeface="Times New Roman" panose="02020603050405020304" pitchFamily="18" charset="0"/>
                      </a:endParaRPr>
                    </a:p>
                  </a:txBody>
                  <a:tcPr marL="5494" marR="5494" marT="5494" marB="0" anchor="ctr"/>
                </a:tc>
                <a:tc>
                  <a:txBody>
                    <a:bodyPr/>
                    <a:lstStyle/>
                    <a:p>
                      <a:pPr algn="l" fontAlgn="ctr"/>
                      <a:r>
                        <a:rPr lang="en-US" sz="2100" u="none" strike="noStrike">
                          <a:effectLst/>
                        </a:rPr>
                        <a:t>All components are integrated into one chip.</a:t>
                      </a:r>
                      <a:endParaRPr lang="en-US" sz="2100" b="0" i="0" u="none" strike="noStrike">
                        <a:solidFill>
                          <a:srgbClr val="000000"/>
                        </a:solidFill>
                        <a:effectLst/>
                        <a:latin typeface="Times New Roman" panose="02020603050405020304" pitchFamily="18" charset="0"/>
                        <a:cs typeface="Times New Roman" panose="02020603050405020304" pitchFamily="18" charset="0"/>
                      </a:endParaRPr>
                    </a:p>
                  </a:txBody>
                  <a:tcPr marL="5494" marR="5494" marT="5494" marB="0" anchor="ctr"/>
                </a:tc>
                <a:extLst>
                  <a:ext uri="{0D108BD9-81ED-4DB2-BD59-A6C34878D82A}">
                    <a16:rowId xmlns:a16="http://schemas.microsoft.com/office/drawing/2014/main" xmlns="" val="3257506282"/>
                  </a:ext>
                </a:extLst>
              </a:tr>
              <a:tr h="1318587">
                <a:tc>
                  <a:txBody>
                    <a:bodyPr/>
                    <a:lstStyle/>
                    <a:p>
                      <a:pPr algn="l" fontAlgn="ctr"/>
                      <a:r>
                        <a:rPr lang="en-IN" sz="2100" u="none" strike="noStrike">
                          <a:effectLst/>
                        </a:rPr>
                        <a:t>Application</a:t>
                      </a:r>
                      <a:endParaRPr lang="en-IN" sz="2100" b="1" i="0" u="none" strike="noStrike">
                        <a:solidFill>
                          <a:srgbClr val="000000"/>
                        </a:solidFill>
                        <a:effectLst/>
                        <a:latin typeface="Times New Roman" panose="02020603050405020304" pitchFamily="18" charset="0"/>
                        <a:cs typeface="Times New Roman" panose="02020603050405020304" pitchFamily="18" charset="0"/>
                      </a:endParaRPr>
                    </a:p>
                  </a:txBody>
                  <a:tcPr marL="5494" marR="5494" marT="5494" marB="0" anchor="ctr"/>
                </a:tc>
                <a:tc>
                  <a:txBody>
                    <a:bodyPr/>
                    <a:lstStyle/>
                    <a:p>
                      <a:pPr algn="l" fontAlgn="ctr"/>
                      <a:r>
                        <a:rPr lang="en-US" sz="2100" u="none" strike="noStrike" dirty="0">
                          <a:effectLst/>
                        </a:rPr>
                        <a:t>Suitable for complex, general-purpose tasks requiring high processing power.</a:t>
                      </a:r>
                      <a:endParaRPr lang="en-US" sz="2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494" marR="5494" marT="5494" marB="0" anchor="ctr"/>
                </a:tc>
                <a:tc>
                  <a:txBody>
                    <a:bodyPr/>
                    <a:lstStyle/>
                    <a:p>
                      <a:pPr algn="l" fontAlgn="ctr"/>
                      <a:r>
                        <a:rPr lang="en-US" sz="2100" u="none" strike="noStrike">
                          <a:effectLst/>
                        </a:rPr>
                        <a:t>Ideal for specific, control-oriented tasks in embedded systems.</a:t>
                      </a:r>
                      <a:endParaRPr lang="en-US" sz="2100" b="0" i="0" u="none" strike="noStrike">
                        <a:solidFill>
                          <a:srgbClr val="000000"/>
                        </a:solidFill>
                        <a:effectLst/>
                        <a:latin typeface="Times New Roman" panose="02020603050405020304" pitchFamily="18" charset="0"/>
                        <a:cs typeface="Times New Roman" panose="02020603050405020304" pitchFamily="18" charset="0"/>
                      </a:endParaRPr>
                    </a:p>
                  </a:txBody>
                  <a:tcPr marL="5494" marR="5494" marT="5494" marB="0" anchor="ctr"/>
                </a:tc>
                <a:extLst>
                  <a:ext uri="{0D108BD9-81ED-4DB2-BD59-A6C34878D82A}">
                    <a16:rowId xmlns:a16="http://schemas.microsoft.com/office/drawing/2014/main" xmlns="" val="3581777649"/>
                  </a:ext>
                </a:extLst>
              </a:tr>
              <a:tr h="1054870">
                <a:tc>
                  <a:txBody>
                    <a:bodyPr/>
                    <a:lstStyle/>
                    <a:p>
                      <a:pPr algn="l" fontAlgn="ctr"/>
                      <a:r>
                        <a:rPr lang="en-IN" sz="2100" u="none" strike="noStrike">
                          <a:effectLst/>
                        </a:rPr>
                        <a:t>Cost and Complexity</a:t>
                      </a:r>
                      <a:endParaRPr lang="en-IN" sz="2100" b="1" i="0" u="none" strike="noStrike">
                        <a:solidFill>
                          <a:srgbClr val="000000"/>
                        </a:solidFill>
                        <a:effectLst/>
                        <a:latin typeface="Times New Roman" panose="02020603050405020304" pitchFamily="18" charset="0"/>
                        <a:cs typeface="Times New Roman" panose="02020603050405020304" pitchFamily="18" charset="0"/>
                      </a:endParaRPr>
                    </a:p>
                  </a:txBody>
                  <a:tcPr marL="5494" marR="5494" marT="5494" marB="0" anchor="ctr"/>
                </a:tc>
                <a:tc>
                  <a:txBody>
                    <a:bodyPr/>
                    <a:lstStyle/>
                    <a:p>
                      <a:pPr algn="l" fontAlgn="ctr"/>
                      <a:r>
                        <a:rPr lang="en-US" sz="2100" u="none" strike="noStrike">
                          <a:effectLst/>
                        </a:rPr>
                        <a:t>Higher cost and complexity due to external components.</a:t>
                      </a:r>
                      <a:endParaRPr lang="en-US" sz="2100" b="0" i="0" u="none" strike="noStrike">
                        <a:solidFill>
                          <a:srgbClr val="000000"/>
                        </a:solidFill>
                        <a:effectLst/>
                        <a:latin typeface="Times New Roman" panose="02020603050405020304" pitchFamily="18" charset="0"/>
                        <a:cs typeface="Times New Roman" panose="02020603050405020304" pitchFamily="18" charset="0"/>
                      </a:endParaRPr>
                    </a:p>
                  </a:txBody>
                  <a:tcPr marL="5494" marR="5494" marT="5494" marB="0" anchor="ctr"/>
                </a:tc>
                <a:tc>
                  <a:txBody>
                    <a:bodyPr/>
                    <a:lstStyle/>
                    <a:p>
                      <a:pPr algn="l" fontAlgn="ctr"/>
                      <a:r>
                        <a:rPr lang="en-US" sz="2100" u="none" strike="noStrike">
                          <a:effectLst/>
                        </a:rPr>
                        <a:t>Lower cost and complexity with integrated components.</a:t>
                      </a:r>
                      <a:endParaRPr lang="en-US" sz="2100" b="0" i="0" u="none" strike="noStrike">
                        <a:solidFill>
                          <a:srgbClr val="000000"/>
                        </a:solidFill>
                        <a:effectLst/>
                        <a:latin typeface="Times New Roman" panose="02020603050405020304" pitchFamily="18" charset="0"/>
                        <a:cs typeface="Times New Roman" panose="02020603050405020304" pitchFamily="18" charset="0"/>
                      </a:endParaRPr>
                    </a:p>
                  </a:txBody>
                  <a:tcPr marL="5494" marR="5494" marT="5494" marB="0" anchor="ctr"/>
                </a:tc>
                <a:extLst>
                  <a:ext uri="{0D108BD9-81ED-4DB2-BD59-A6C34878D82A}">
                    <a16:rowId xmlns:a16="http://schemas.microsoft.com/office/drawing/2014/main" xmlns="" val="3537890566"/>
                  </a:ext>
                </a:extLst>
              </a:tr>
              <a:tr h="527435">
                <a:tc>
                  <a:txBody>
                    <a:bodyPr/>
                    <a:lstStyle/>
                    <a:p>
                      <a:pPr algn="l" fontAlgn="ctr"/>
                      <a:r>
                        <a:rPr lang="en-IN" sz="2100" u="none" strike="noStrike">
                          <a:effectLst/>
                        </a:rPr>
                        <a:t>Memory</a:t>
                      </a:r>
                      <a:endParaRPr lang="en-IN" sz="2100" b="1" i="0" u="none" strike="noStrike">
                        <a:solidFill>
                          <a:srgbClr val="000000"/>
                        </a:solidFill>
                        <a:effectLst/>
                        <a:latin typeface="Times New Roman" panose="02020603050405020304" pitchFamily="18" charset="0"/>
                        <a:cs typeface="Times New Roman" panose="02020603050405020304" pitchFamily="18" charset="0"/>
                      </a:endParaRPr>
                    </a:p>
                  </a:txBody>
                  <a:tcPr marL="5494" marR="5494" marT="5494" marB="0" anchor="ctr"/>
                </a:tc>
                <a:tc>
                  <a:txBody>
                    <a:bodyPr/>
                    <a:lstStyle/>
                    <a:p>
                      <a:pPr algn="l" fontAlgn="ctr"/>
                      <a:r>
                        <a:rPr lang="en-IN" sz="2100" u="none" strike="noStrike">
                          <a:effectLst/>
                        </a:rPr>
                        <a:t>External and scalable memory.</a:t>
                      </a:r>
                      <a:endParaRPr lang="en-IN" sz="2100" b="0" i="0" u="none" strike="noStrike">
                        <a:solidFill>
                          <a:srgbClr val="000000"/>
                        </a:solidFill>
                        <a:effectLst/>
                        <a:latin typeface="Times New Roman" panose="02020603050405020304" pitchFamily="18" charset="0"/>
                        <a:cs typeface="Times New Roman" panose="02020603050405020304" pitchFamily="18" charset="0"/>
                      </a:endParaRPr>
                    </a:p>
                  </a:txBody>
                  <a:tcPr marL="5494" marR="5494" marT="5494" marB="0" anchor="ctr"/>
                </a:tc>
                <a:tc>
                  <a:txBody>
                    <a:bodyPr/>
                    <a:lstStyle/>
                    <a:p>
                      <a:pPr algn="l" fontAlgn="ctr"/>
                      <a:r>
                        <a:rPr lang="en-IN" sz="2100" u="none" strike="noStrike" dirty="0">
                          <a:effectLst/>
                        </a:rPr>
                        <a:t>Built-in and limited memory.</a:t>
                      </a:r>
                      <a:endParaRPr lang="en-IN" sz="2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494" marR="5494" marT="5494" marB="0" anchor="ctr"/>
                </a:tc>
                <a:extLst>
                  <a:ext uri="{0D108BD9-81ED-4DB2-BD59-A6C34878D82A}">
                    <a16:rowId xmlns:a16="http://schemas.microsoft.com/office/drawing/2014/main" xmlns="" val="648723857"/>
                  </a:ext>
                </a:extLst>
              </a:tr>
            </a:tbl>
          </a:graphicData>
        </a:graphic>
      </p:graphicFrame>
    </p:spTree>
    <p:extLst>
      <p:ext uri="{BB962C8B-B14F-4D97-AF65-F5344CB8AC3E}">
        <p14:creationId xmlns:p14="http://schemas.microsoft.com/office/powerpoint/2010/main" val="8081101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37</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20" y="1754270"/>
            <a:ext cx="12350620" cy="523220"/>
          </a:xfrm>
          <a:prstGeom prst="rect">
            <a:avLst/>
          </a:prstGeom>
          <a:noFill/>
        </p:spPr>
        <p:txBody>
          <a:bodyPr wrap="square">
            <a:spAutoFit/>
          </a:bodyPr>
          <a:lstStyle/>
          <a:p>
            <a:pPr marL="342900" marR="0" lvl="0" indent="-342900" algn="just" defTabSz="914400" rtl="0" eaLnBrk="1" fontAlgn="base" latinLnBrk="0" hangingPunct="1">
              <a:lnSpc>
                <a:spcPct val="100000"/>
              </a:lnSpc>
              <a:spcBef>
                <a:spcPct val="20000"/>
              </a:spcBef>
              <a:spcAft>
                <a:spcPct val="0"/>
              </a:spcAft>
              <a:buClr>
                <a:srgbClr val="996600"/>
              </a:buClr>
              <a:buSzTx/>
              <a:buFont typeface="Wingdings" panose="05000000000000000000" pitchFamily="2" charset="2"/>
              <a:buChar char="w"/>
              <a:tabLst/>
              <a:defRPr/>
            </a:pPr>
            <a:endParaRPr kumimoji="0" lang="en-US" altLang="en-US" sz="2800" b="0" i="0" u="none" strike="noStrike" kern="0" cap="none" spc="0" normalizeH="0" baseline="0" noProof="0" dirty="0">
              <a:ln>
                <a:noFill/>
              </a:ln>
              <a:solidFill>
                <a:srgbClr val="000000"/>
              </a:solidFill>
              <a:effectLst/>
              <a:uLnTx/>
              <a:uFillTx/>
              <a:latin typeface="Times New Roman"/>
              <a:ea typeface="+mn-ea"/>
              <a:cs typeface="+mn-cs"/>
            </a:endParaRPr>
          </a:p>
        </p:txBody>
      </p:sp>
      <p:sp>
        <p:nvSpPr>
          <p:cNvPr id="7" name="TextBox 6">
            <a:extLst>
              <a:ext uri="{FF2B5EF4-FFF2-40B4-BE49-F238E27FC236}">
                <a16:creationId xmlns:a16="http://schemas.microsoft.com/office/drawing/2014/main" xmlns="" id="{8F0FD7BA-1379-3787-FD96-632BA4C39924}"/>
              </a:ext>
            </a:extLst>
          </p:cNvPr>
          <p:cNvSpPr txBox="1"/>
          <p:nvPr/>
        </p:nvSpPr>
        <p:spPr>
          <a:xfrm>
            <a:off x="166403" y="1165467"/>
            <a:ext cx="8723597" cy="518988"/>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5. Classification of MCUs</a:t>
            </a: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xmlns="" id="{229001E4-1FDE-9254-B35B-E1C562E062B5}"/>
              </a:ext>
            </a:extLst>
          </p:cNvPr>
          <p:cNvSpPr txBox="1"/>
          <p:nvPr/>
        </p:nvSpPr>
        <p:spPr>
          <a:xfrm>
            <a:off x="166403" y="1622912"/>
            <a:ext cx="11300918" cy="4881721"/>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We can classify Microcontroller Units (MCUs) based on their data word lengths, which directly relate to the complexity of the operations they can handle. </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Complex operations, such as image and video processing, often require large amounts of data, wider data buses, and higher clock rates. </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Here's how MCUs are classified on this basis:</a:t>
            </a:r>
          </a:p>
          <a:p>
            <a:pPr marL="971550" lvl="1" indent="-514350" algn="just">
              <a:lnSpc>
                <a:spcPct val="150000"/>
              </a:lnSpc>
              <a:buFont typeface="+mj-lt"/>
              <a:buAutoNum type="romanLcPeriod"/>
            </a:pPr>
            <a:r>
              <a:rPr lang="en-US" sz="2100" dirty="0">
                <a:latin typeface="Times New Roman" panose="02020603050405020304" pitchFamily="18" charset="0"/>
                <a:cs typeface="Times New Roman" panose="02020603050405020304" pitchFamily="18" charset="0"/>
              </a:rPr>
              <a:t>4-bit MCUs</a:t>
            </a:r>
          </a:p>
          <a:p>
            <a:pPr marL="971550" lvl="1" indent="-514350" algn="just">
              <a:lnSpc>
                <a:spcPct val="150000"/>
              </a:lnSpc>
              <a:buFont typeface="+mj-lt"/>
              <a:buAutoNum type="romanLcPeriod"/>
            </a:pPr>
            <a:r>
              <a:rPr lang="en-US" sz="2100" dirty="0">
                <a:latin typeface="Times New Roman" panose="02020603050405020304" pitchFamily="18" charset="0"/>
                <a:cs typeface="Times New Roman" panose="02020603050405020304" pitchFamily="18" charset="0"/>
              </a:rPr>
              <a:t>8-bit MCUs</a:t>
            </a:r>
          </a:p>
          <a:p>
            <a:pPr marL="971550" lvl="1" indent="-514350" algn="just">
              <a:lnSpc>
                <a:spcPct val="150000"/>
              </a:lnSpc>
              <a:buFont typeface="+mj-lt"/>
              <a:buAutoNum type="romanLcPeriod"/>
            </a:pPr>
            <a:r>
              <a:rPr lang="en-US" sz="2100" dirty="0">
                <a:latin typeface="Times New Roman" panose="02020603050405020304" pitchFamily="18" charset="0"/>
                <a:cs typeface="Times New Roman" panose="02020603050405020304" pitchFamily="18" charset="0"/>
              </a:rPr>
              <a:t>16-bit MCUs</a:t>
            </a:r>
          </a:p>
          <a:p>
            <a:pPr marL="971550" lvl="1" indent="-514350" algn="just">
              <a:lnSpc>
                <a:spcPct val="150000"/>
              </a:lnSpc>
              <a:buFont typeface="+mj-lt"/>
              <a:buAutoNum type="romanLcPeriod"/>
            </a:pPr>
            <a:r>
              <a:rPr lang="en-US" sz="2100" dirty="0">
                <a:latin typeface="Times New Roman" panose="02020603050405020304" pitchFamily="18" charset="0"/>
                <a:cs typeface="Times New Roman" panose="02020603050405020304" pitchFamily="18" charset="0"/>
              </a:rPr>
              <a:t>32-bit MCUs</a:t>
            </a:r>
          </a:p>
          <a:p>
            <a:pPr marL="800100" lvl="1" indent="-342900" algn="just">
              <a:lnSpc>
                <a:spcPct val="150000"/>
              </a:lnSpc>
              <a:buFont typeface="Arial" panose="020B0604020202020204" pitchFamily="34" charset="0"/>
              <a:buChar char="•"/>
            </a:pPr>
            <a:endParaRPr lang="en-US"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156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38</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20" y="1754270"/>
            <a:ext cx="12350620" cy="523220"/>
          </a:xfrm>
          <a:prstGeom prst="rect">
            <a:avLst/>
          </a:prstGeom>
          <a:noFill/>
        </p:spPr>
        <p:txBody>
          <a:bodyPr wrap="square">
            <a:spAutoFit/>
          </a:bodyPr>
          <a:lstStyle/>
          <a:p>
            <a:pPr marL="342900" marR="0" lvl="0" indent="-342900" algn="just" defTabSz="914400" rtl="0" eaLnBrk="1" fontAlgn="base" latinLnBrk="0" hangingPunct="1">
              <a:lnSpc>
                <a:spcPct val="100000"/>
              </a:lnSpc>
              <a:spcBef>
                <a:spcPct val="20000"/>
              </a:spcBef>
              <a:spcAft>
                <a:spcPct val="0"/>
              </a:spcAft>
              <a:buClr>
                <a:srgbClr val="996600"/>
              </a:buClr>
              <a:buSzTx/>
              <a:buFont typeface="Wingdings" panose="05000000000000000000" pitchFamily="2" charset="2"/>
              <a:buChar char="w"/>
              <a:tabLst/>
              <a:defRPr/>
            </a:pPr>
            <a:endParaRPr kumimoji="0" lang="en-US" altLang="en-US" sz="2800" b="0" i="0" u="none" strike="noStrike" kern="0" cap="none" spc="0" normalizeH="0" baseline="0" noProof="0" dirty="0">
              <a:ln>
                <a:noFill/>
              </a:ln>
              <a:solidFill>
                <a:srgbClr val="000000"/>
              </a:solidFill>
              <a:effectLst/>
              <a:uLnTx/>
              <a:uFillTx/>
              <a:latin typeface="Times New Roman"/>
              <a:ea typeface="+mn-ea"/>
              <a:cs typeface="+mn-cs"/>
            </a:endParaRPr>
          </a:p>
        </p:txBody>
      </p:sp>
      <p:sp>
        <p:nvSpPr>
          <p:cNvPr id="7" name="TextBox 6">
            <a:extLst>
              <a:ext uri="{FF2B5EF4-FFF2-40B4-BE49-F238E27FC236}">
                <a16:creationId xmlns:a16="http://schemas.microsoft.com/office/drawing/2014/main" xmlns="" id="{8F0FD7BA-1379-3787-FD96-632BA4C39924}"/>
              </a:ext>
            </a:extLst>
          </p:cNvPr>
          <p:cNvSpPr txBox="1"/>
          <p:nvPr/>
        </p:nvSpPr>
        <p:spPr>
          <a:xfrm>
            <a:off x="166403" y="978856"/>
            <a:ext cx="8723597" cy="518988"/>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5. Classification of MCUs</a:t>
            </a: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xmlns="" id="{229001E4-1FDE-9254-B35B-E1C562E062B5}"/>
              </a:ext>
            </a:extLst>
          </p:cNvPr>
          <p:cNvSpPr txBox="1"/>
          <p:nvPr/>
        </p:nvSpPr>
        <p:spPr>
          <a:xfrm>
            <a:off x="166403" y="1436301"/>
            <a:ext cx="11859194" cy="4396973"/>
          </a:xfrm>
          <a:prstGeom prst="rect">
            <a:avLst/>
          </a:prstGeom>
          <a:noFill/>
        </p:spPr>
        <p:txBody>
          <a:bodyPr wrap="square">
            <a:spAutoFit/>
          </a:bodyPr>
          <a:lstStyle/>
          <a:p>
            <a:pPr algn="just">
              <a:lnSpc>
                <a:spcPct val="150000"/>
              </a:lnSpc>
            </a:pPr>
            <a:r>
              <a:rPr lang="en-US" sz="2100" b="1" dirty="0" err="1">
                <a:latin typeface="Times New Roman" panose="02020603050405020304" pitchFamily="18" charset="0"/>
                <a:cs typeface="Times New Roman" panose="02020603050405020304" pitchFamily="18" charset="0"/>
              </a:rPr>
              <a:t>i</a:t>
            </a:r>
            <a:r>
              <a:rPr lang="en-US" sz="2100" b="1" dirty="0">
                <a:latin typeface="Times New Roman" panose="02020603050405020304" pitchFamily="18" charset="0"/>
                <a:cs typeface="Times New Roman" panose="02020603050405020304" pitchFamily="18" charset="0"/>
              </a:rPr>
              <a:t>) 4-bit MCUs</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Applications</a:t>
            </a:r>
            <a:r>
              <a:rPr lang="en-US" sz="2100" dirty="0">
                <a:latin typeface="Times New Roman" panose="02020603050405020304" pitchFamily="18" charset="0"/>
                <a:cs typeface="Times New Roman" panose="02020603050405020304" pitchFamily="18" charset="0"/>
              </a:rPr>
              <a:t>: Designed for very simple tasks involving minimal computation, such as basic toys and devices that only use switch inputs and direct actuation. These MCUs are sufficient for applications that do not need to handle large volumes of data.</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Characteristics</a:t>
            </a:r>
            <a:r>
              <a:rPr lang="en-US" sz="2100" dirty="0">
                <a:latin typeface="Times New Roman" panose="02020603050405020304" pitchFamily="18" charset="0"/>
                <a:cs typeface="Times New Roman" panose="02020603050405020304" pitchFamily="18" charset="0"/>
              </a:rPr>
              <a:t>: 4-bit MCUs feature narrow data buses and have very limited memory space, often ranging from a few bytes to a couple of kilobytes. This small memory is sufficient for storing simple programs and a minimal amount of data.</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Memory Space</a:t>
            </a:r>
            <a:r>
              <a:rPr lang="en-US" sz="2100" dirty="0">
                <a:latin typeface="Times New Roman" panose="02020603050405020304" pitchFamily="18" charset="0"/>
                <a:cs typeface="Times New Roman" panose="02020603050405020304" pitchFamily="18" charset="0"/>
              </a:rPr>
              <a:t>: Typically, these MCUs have up to 4 KB of memory, which includes both program memory (ROM/Flash) and data memory (RAM).</a:t>
            </a:r>
          </a:p>
        </p:txBody>
      </p:sp>
    </p:spTree>
    <p:extLst>
      <p:ext uri="{BB962C8B-B14F-4D97-AF65-F5344CB8AC3E}">
        <p14:creationId xmlns:p14="http://schemas.microsoft.com/office/powerpoint/2010/main" val="29303275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39</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20" y="1754270"/>
            <a:ext cx="12350620" cy="523220"/>
          </a:xfrm>
          <a:prstGeom prst="rect">
            <a:avLst/>
          </a:prstGeom>
          <a:noFill/>
        </p:spPr>
        <p:txBody>
          <a:bodyPr wrap="square">
            <a:spAutoFit/>
          </a:bodyPr>
          <a:lstStyle/>
          <a:p>
            <a:pPr marL="342900" marR="0" lvl="0" indent="-342900" algn="just" defTabSz="914400" rtl="0" eaLnBrk="1" fontAlgn="base" latinLnBrk="0" hangingPunct="1">
              <a:lnSpc>
                <a:spcPct val="100000"/>
              </a:lnSpc>
              <a:spcBef>
                <a:spcPct val="20000"/>
              </a:spcBef>
              <a:spcAft>
                <a:spcPct val="0"/>
              </a:spcAft>
              <a:buClr>
                <a:srgbClr val="996600"/>
              </a:buClr>
              <a:buSzTx/>
              <a:buFont typeface="Wingdings" panose="05000000000000000000" pitchFamily="2" charset="2"/>
              <a:buChar char="w"/>
              <a:tabLst/>
              <a:defRPr/>
            </a:pPr>
            <a:endParaRPr kumimoji="0" lang="en-US" altLang="en-US" sz="2800" b="0" i="0" u="none" strike="noStrike" kern="0" cap="none" spc="0" normalizeH="0" baseline="0" noProof="0" dirty="0">
              <a:ln>
                <a:noFill/>
              </a:ln>
              <a:solidFill>
                <a:srgbClr val="000000"/>
              </a:solidFill>
              <a:effectLst/>
              <a:uLnTx/>
              <a:uFillTx/>
              <a:latin typeface="Times New Roman"/>
              <a:ea typeface="+mn-ea"/>
              <a:cs typeface="+mn-cs"/>
            </a:endParaRPr>
          </a:p>
        </p:txBody>
      </p:sp>
      <p:sp>
        <p:nvSpPr>
          <p:cNvPr id="7" name="TextBox 6">
            <a:extLst>
              <a:ext uri="{FF2B5EF4-FFF2-40B4-BE49-F238E27FC236}">
                <a16:creationId xmlns:a16="http://schemas.microsoft.com/office/drawing/2014/main" xmlns="" id="{8F0FD7BA-1379-3787-FD96-632BA4C39924}"/>
              </a:ext>
            </a:extLst>
          </p:cNvPr>
          <p:cNvSpPr txBox="1"/>
          <p:nvPr/>
        </p:nvSpPr>
        <p:spPr>
          <a:xfrm>
            <a:off x="166403" y="978856"/>
            <a:ext cx="8723597" cy="518988"/>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5. Classification of MCUs</a:t>
            </a: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xmlns="" id="{229001E4-1FDE-9254-B35B-E1C562E062B5}"/>
              </a:ext>
            </a:extLst>
          </p:cNvPr>
          <p:cNvSpPr txBox="1"/>
          <p:nvPr/>
        </p:nvSpPr>
        <p:spPr>
          <a:xfrm>
            <a:off x="166403" y="1436301"/>
            <a:ext cx="11859194" cy="4881721"/>
          </a:xfrm>
          <a:prstGeom prst="rect">
            <a:avLst/>
          </a:prstGeom>
          <a:noFill/>
        </p:spPr>
        <p:txBody>
          <a:bodyPr wrap="square">
            <a:spAutoFit/>
          </a:bodyPr>
          <a:lstStyle/>
          <a:p>
            <a:pPr algn="just">
              <a:lnSpc>
                <a:spcPct val="150000"/>
              </a:lnSpc>
            </a:pPr>
            <a:r>
              <a:rPr lang="en-US" sz="2100" b="1" dirty="0">
                <a:latin typeface="Times New Roman" panose="02020603050405020304" pitchFamily="18" charset="0"/>
                <a:cs typeface="Times New Roman" panose="02020603050405020304" pitchFamily="18" charset="0"/>
              </a:rPr>
              <a:t>ii) 8-bit MCUs</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Applications</a:t>
            </a:r>
            <a:r>
              <a:rPr lang="en-US" sz="2100" dirty="0">
                <a:latin typeface="Times New Roman" panose="02020603050405020304" pitchFamily="18" charset="0"/>
                <a:cs typeface="Times New Roman" panose="02020603050405020304" pitchFamily="18" charset="0"/>
              </a:rPr>
              <a:t>: The most commonly used MCUs, suitable for moderately complex operations. They are widely deployed in various applications due to their balance of simplicity and capability.</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Popular Families</a:t>
            </a:r>
            <a:r>
              <a:rPr lang="en-US" sz="2100" dirty="0">
                <a:latin typeface="Times New Roman" panose="02020603050405020304" pitchFamily="18" charset="0"/>
                <a:cs typeface="Times New Roman" panose="02020603050405020304" pitchFamily="18" charset="0"/>
              </a:rPr>
              <a:t>: The 8051 family, originally developed by Intel, is one of the most popular 8-bit MCU families, now manufactured by various companies. Microchip's PIC series is another well-known family, offering a wide range of models with varying capabilities. The PIC series includes not only 8-bit MCUs but also 16-bit and 32-bit versions, making it versatile and attractive for different levels of complexity.</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Memory Space</a:t>
            </a:r>
            <a:r>
              <a:rPr lang="en-US" sz="2100" dirty="0">
                <a:latin typeface="Times New Roman" panose="02020603050405020304" pitchFamily="18" charset="0"/>
                <a:cs typeface="Times New Roman" panose="02020603050405020304" pitchFamily="18" charset="0"/>
              </a:rPr>
              <a:t>: 8-bit MCUs generally come with memory spaces ranging from a few kilobytes to tens of kilobytes. For example, the 8051 MCUs typically have 4 KB to 64 KB of ROM and up to 256 bytes to 1 KB of RAM.</a:t>
            </a:r>
          </a:p>
        </p:txBody>
      </p:sp>
    </p:spTree>
    <p:extLst>
      <p:ext uri="{BB962C8B-B14F-4D97-AF65-F5344CB8AC3E}">
        <p14:creationId xmlns:p14="http://schemas.microsoft.com/office/powerpoint/2010/main" val="11247453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40</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20" y="1754270"/>
            <a:ext cx="12350620" cy="523220"/>
          </a:xfrm>
          <a:prstGeom prst="rect">
            <a:avLst/>
          </a:prstGeom>
          <a:noFill/>
        </p:spPr>
        <p:txBody>
          <a:bodyPr wrap="square">
            <a:spAutoFit/>
          </a:bodyPr>
          <a:lstStyle/>
          <a:p>
            <a:pPr marL="342900" marR="0" lvl="0" indent="-342900" algn="just" defTabSz="914400" rtl="0" eaLnBrk="1" fontAlgn="base" latinLnBrk="0" hangingPunct="1">
              <a:lnSpc>
                <a:spcPct val="100000"/>
              </a:lnSpc>
              <a:spcBef>
                <a:spcPct val="20000"/>
              </a:spcBef>
              <a:spcAft>
                <a:spcPct val="0"/>
              </a:spcAft>
              <a:buClr>
                <a:srgbClr val="996600"/>
              </a:buClr>
              <a:buSzTx/>
              <a:buFont typeface="Wingdings" panose="05000000000000000000" pitchFamily="2" charset="2"/>
              <a:buChar char="w"/>
              <a:tabLst/>
              <a:defRPr/>
            </a:pPr>
            <a:endParaRPr kumimoji="0" lang="en-US" altLang="en-US" sz="2800" b="0" i="0" u="none" strike="noStrike" kern="0" cap="none" spc="0" normalizeH="0" baseline="0" noProof="0" dirty="0">
              <a:ln>
                <a:noFill/>
              </a:ln>
              <a:solidFill>
                <a:srgbClr val="000000"/>
              </a:solidFill>
              <a:effectLst/>
              <a:uLnTx/>
              <a:uFillTx/>
              <a:latin typeface="Times New Roman"/>
              <a:ea typeface="+mn-ea"/>
              <a:cs typeface="+mn-cs"/>
            </a:endParaRPr>
          </a:p>
        </p:txBody>
      </p:sp>
      <p:sp>
        <p:nvSpPr>
          <p:cNvPr id="7" name="TextBox 6">
            <a:extLst>
              <a:ext uri="{FF2B5EF4-FFF2-40B4-BE49-F238E27FC236}">
                <a16:creationId xmlns:a16="http://schemas.microsoft.com/office/drawing/2014/main" xmlns="" id="{8F0FD7BA-1379-3787-FD96-632BA4C39924}"/>
              </a:ext>
            </a:extLst>
          </p:cNvPr>
          <p:cNvSpPr txBox="1"/>
          <p:nvPr/>
        </p:nvSpPr>
        <p:spPr>
          <a:xfrm>
            <a:off x="166403" y="978856"/>
            <a:ext cx="8723597" cy="518988"/>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5. Classification of MCUs</a:t>
            </a: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xmlns="" id="{229001E4-1FDE-9254-B35B-E1C562E062B5}"/>
              </a:ext>
            </a:extLst>
          </p:cNvPr>
          <p:cNvSpPr txBox="1"/>
          <p:nvPr/>
        </p:nvSpPr>
        <p:spPr>
          <a:xfrm>
            <a:off x="166403" y="1436301"/>
            <a:ext cx="11859194" cy="4881721"/>
          </a:xfrm>
          <a:prstGeom prst="rect">
            <a:avLst/>
          </a:prstGeom>
          <a:noFill/>
        </p:spPr>
        <p:txBody>
          <a:bodyPr wrap="square">
            <a:spAutoFit/>
          </a:bodyPr>
          <a:lstStyle/>
          <a:p>
            <a:pPr algn="just">
              <a:lnSpc>
                <a:spcPct val="150000"/>
              </a:lnSpc>
            </a:pPr>
            <a:r>
              <a:rPr lang="en-US" sz="2100" b="1" dirty="0">
                <a:latin typeface="Times New Roman" panose="02020603050405020304" pitchFamily="18" charset="0"/>
                <a:cs typeface="Times New Roman" panose="02020603050405020304" pitchFamily="18" charset="0"/>
              </a:rPr>
              <a:t>iii) 16-bit MCUs</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Applications</a:t>
            </a:r>
            <a:r>
              <a:rPr lang="en-US" sz="2100" dirty="0">
                <a:latin typeface="Times New Roman" panose="02020603050405020304" pitchFamily="18" charset="0"/>
                <a:cs typeface="Times New Roman" panose="02020603050405020304" pitchFamily="18" charset="0"/>
              </a:rPr>
              <a:t>: These MCUs are used when more computational power is needed than what 8-bit MCUs can provide, but where 32-bit might be overkill. They offer a middle ground in terms of performance, memory, and power consumption.</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Popular Models</a:t>
            </a:r>
            <a:r>
              <a:rPr lang="en-US" sz="2100" dirty="0">
                <a:latin typeface="Times New Roman" panose="02020603050405020304" pitchFamily="18" charset="0"/>
                <a:cs typeface="Times New Roman" panose="02020603050405020304" pitchFamily="18" charset="0"/>
              </a:rPr>
              <a:t>: Examples include Intel's 8096 and 80196, and some versions of the PIC series. Texas Instruments' MSP430 series is a notable 16-bit MCU known for its very low power dissipation, making it a strong competitor in markets where energy efficiency is critical.</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Memory Space</a:t>
            </a:r>
            <a:r>
              <a:rPr lang="en-US" sz="2100" dirty="0">
                <a:latin typeface="Times New Roman" panose="02020603050405020304" pitchFamily="18" charset="0"/>
                <a:cs typeface="Times New Roman" panose="02020603050405020304" pitchFamily="18" charset="0"/>
              </a:rPr>
              <a:t>: 16-bit MCUs typically feature memory spaces ranging from tens of kilobytes to hundreds of kilobytes. The MSP430 series, for instance, often has up to 256 KB of Flash memory and 16 KB of RAM, which allows for more sophisticated programs and data handling.</a:t>
            </a:r>
          </a:p>
        </p:txBody>
      </p:sp>
    </p:spTree>
    <p:extLst>
      <p:ext uri="{BB962C8B-B14F-4D97-AF65-F5344CB8AC3E}">
        <p14:creationId xmlns:p14="http://schemas.microsoft.com/office/powerpoint/2010/main" val="39787177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41</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20" y="1754270"/>
            <a:ext cx="12350620" cy="523220"/>
          </a:xfrm>
          <a:prstGeom prst="rect">
            <a:avLst/>
          </a:prstGeom>
          <a:noFill/>
        </p:spPr>
        <p:txBody>
          <a:bodyPr wrap="square">
            <a:spAutoFit/>
          </a:bodyPr>
          <a:lstStyle/>
          <a:p>
            <a:pPr marL="342900" marR="0" lvl="0" indent="-342900" algn="just" defTabSz="914400" rtl="0" eaLnBrk="1" fontAlgn="base" latinLnBrk="0" hangingPunct="1">
              <a:lnSpc>
                <a:spcPct val="100000"/>
              </a:lnSpc>
              <a:spcBef>
                <a:spcPct val="20000"/>
              </a:spcBef>
              <a:spcAft>
                <a:spcPct val="0"/>
              </a:spcAft>
              <a:buClr>
                <a:srgbClr val="996600"/>
              </a:buClr>
              <a:buSzTx/>
              <a:buFont typeface="Wingdings" panose="05000000000000000000" pitchFamily="2" charset="2"/>
              <a:buChar char="w"/>
              <a:tabLst/>
              <a:defRPr/>
            </a:pPr>
            <a:endParaRPr kumimoji="0" lang="en-US" altLang="en-US" sz="2800" b="0" i="0" u="none" strike="noStrike" kern="0" cap="none" spc="0" normalizeH="0" baseline="0" noProof="0" dirty="0">
              <a:ln>
                <a:noFill/>
              </a:ln>
              <a:solidFill>
                <a:srgbClr val="000000"/>
              </a:solidFill>
              <a:effectLst/>
              <a:uLnTx/>
              <a:uFillTx/>
              <a:latin typeface="Times New Roman"/>
              <a:ea typeface="+mn-ea"/>
              <a:cs typeface="+mn-cs"/>
            </a:endParaRPr>
          </a:p>
        </p:txBody>
      </p:sp>
      <p:sp>
        <p:nvSpPr>
          <p:cNvPr id="7" name="TextBox 6">
            <a:extLst>
              <a:ext uri="{FF2B5EF4-FFF2-40B4-BE49-F238E27FC236}">
                <a16:creationId xmlns:a16="http://schemas.microsoft.com/office/drawing/2014/main" xmlns="" id="{8F0FD7BA-1379-3787-FD96-632BA4C39924}"/>
              </a:ext>
            </a:extLst>
          </p:cNvPr>
          <p:cNvSpPr txBox="1"/>
          <p:nvPr/>
        </p:nvSpPr>
        <p:spPr>
          <a:xfrm>
            <a:off x="166403" y="978856"/>
            <a:ext cx="8723597" cy="518988"/>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5. Classification of MCUs</a:t>
            </a: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xmlns="" id="{229001E4-1FDE-9254-B35B-E1C562E062B5}"/>
              </a:ext>
            </a:extLst>
          </p:cNvPr>
          <p:cNvSpPr txBox="1"/>
          <p:nvPr/>
        </p:nvSpPr>
        <p:spPr>
          <a:xfrm>
            <a:off x="166403" y="1436301"/>
            <a:ext cx="11859194" cy="5366469"/>
          </a:xfrm>
          <a:prstGeom prst="rect">
            <a:avLst/>
          </a:prstGeom>
          <a:noFill/>
        </p:spPr>
        <p:txBody>
          <a:bodyPr wrap="square">
            <a:spAutoFit/>
          </a:bodyPr>
          <a:lstStyle/>
          <a:p>
            <a:pPr algn="just">
              <a:lnSpc>
                <a:spcPct val="150000"/>
              </a:lnSpc>
            </a:pPr>
            <a:r>
              <a:rPr lang="en-US" sz="2100" b="1" dirty="0">
                <a:latin typeface="Times New Roman" panose="02020603050405020304" pitchFamily="18" charset="0"/>
                <a:cs typeface="Times New Roman" panose="02020603050405020304" pitchFamily="18" charset="0"/>
              </a:rPr>
              <a:t>iv) 32-bit MCUs</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Applications</a:t>
            </a:r>
            <a:r>
              <a:rPr lang="en-US" sz="2100" dirty="0">
                <a:latin typeface="Times New Roman" panose="02020603050405020304" pitchFamily="18" charset="0"/>
                <a:cs typeface="Times New Roman" panose="02020603050405020304" pitchFamily="18" charset="0"/>
              </a:rPr>
              <a:t>: These MCUs are used in highly complex applications that require significant processing power, such as image and video processing. They are essential in modern devices like smartphones, iPods, and PDAs, where low power consumption, high speed, and strong computing capabilities are critical.</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Popular Models</a:t>
            </a:r>
            <a:r>
              <a:rPr lang="en-US" sz="2100" dirty="0">
                <a:latin typeface="Times New Roman" panose="02020603050405020304" pitchFamily="18" charset="0"/>
                <a:cs typeface="Times New Roman" panose="02020603050405020304" pitchFamily="18" charset="0"/>
              </a:rPr>
              <a:t>: The ARM architecture is the most widely used 32-bit MCU today, dominating the market for complex, high-performance embedded applications.</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Memory Space</a:t>
            </a:r>
            <a:r>
              <a:rPr lang="en-US" sz="2100" dirty="0">
                <a:latin typeface="Times New Roman" panose="02020603050405020304" pitchFamily="18" charset="0"/>
                <a:cs typeface="Times New Roman" panose="02020603050405020304" pitchFamily="18" charset="0"/>
              </a:rPr>
              <a:t>: 32-bit MCUs usually come with memory spaces ranging from hundreds of kilobytes to several megabytes. Advanced models, like those based on the ARM Cortex-M series, can have up to 2 MB or more of Flash memory and 512 KB or more of RAM, supporting large and complex software applications.</a:t>
            </a:r>
          </a:p>
        </p:txBody>
      </p:sp>
    </p:spTree>
    <p:extLst>
      <p:ext uri="{BB962C8B-B14F-4D97-AF65-F5344CB8AC3E}">
        <p14:creationId xmlns:p14="http://schemas.microsoft.com/office/powerpoint/2010/main" val="32183239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42</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20" y="1754270"/>
            <a:ext cx="12350620" cy="523220"/>
          </a:xfrm>
          <a:prstGeom prst="rect">
            <a:avLst/>
          </a:prstGeom>
          <a:noFill/>
        </p:spPr>
        <p:txBody>
          <a:bodyPr wrap="square">
            <a:spAutoFit/>
          </a:bodyPr>
          <a:lstStyle/>
          <a:p>
            <a:pPr marL="342900" marR="0" lvl="0" indent="-342900" algn="just" defTabSz="914400" rtl="0" eaLnBrk="1" fontAlgn="base" latinLnBrk="0" hangingPunct="1">
              <a:lnSpc>
                <a:spcPct val="100000"/>
              </a:lnSpc>
              <a:spcBef>
                <a:spcPct val="20000"/>
              </a:spcBef>
              <a:spcAft>
                <a:spcPct val="0"/>
              </a:spcAft>
              <a:buClr>
                <a:srgbClr val="996600"/>
              </a:buClr>
              <a:buSzTx/>
              <a:buFont typeface="Wingdings" panose="05000000000000000000" pitchFamily="2" charset="2"/>
              <a:buChar char="w"/>
              <a:tabLst/>
              <a:defRPr/>
            </a:pPr>
            <a:endParaRPr kumimoji="0" lang="en-US" altLang="en-US" sz="2800" b="0" i="0" u="none" strike="noStrike" kern="0" cap="none" spc="0" normalizeH="0" baseline="0" noProof="0" dirty="0">
              <a:ln>
                <a:noFill/>
              </a:ln>
              <a:solidFill>
                <a:srgbClr val="000000"/>
              </a:solidFill>
              <a:effectLst/>
              <a:uLnTx/>
              <a:uFillTx/>
              <a:latin typeface="Times New Roman"/>
              <a:ea typeface="+mn-ea"/>
              <a:cs typeface="+mn-cs"/>
            </a:endParaRPr>
          </a:p>
        </p:txBody>
      </p:sp>
      <p:sp>
        <p:nvSpPr>
          <p:cNvPr id="7" name="TextBox 6">
            <a:extLst>
              <a:ext uri="{FF2B5EF4-FFF2-40B4-BE49-F238E27FC236}">
                <a16:creationId xmlns:a16="http://schemas.microsoft.com/office/drawing/2014/main" xmlns="" id="{8F0FD7BA-1379-3787-FD96-632BA4C39924}"/>
              </a:ext>
            </a:extLst>
          </p:cNvPr>
          <p:cNvSpPr txBox="1"/>
          <p:nvPr/>
        </p:nvSpPr>
        <p:spPr>
          <a:xfrm>
            <a:off x="-46859" y="1218605"/>
            <a:ext cx="8723597" cy="518988"/>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5. Classification of MCUs</a:t>
            </a: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graphicFrame>
        <p:nvGraphicFramePr>
          <p:cNvPr id="8" name="Table 7">
            <a:extLst>
              <a:ext uri="{FF2B5EF4-FFF2-40B4-BE49-F238E27FC236}">
                <a16:creationId xmlns:a16="http://schemas.microsoft.com/office/drawing/2014/main" xmlns="" id="{BF7148EA-2292-148B-5E83-74F7E6EF3145}"/>
              </a:ext>
            </a:extLst>
          </p:cNvPr>
          <p:cNvGraphicFramePr>
            <a:graphicFrameLocks noGrp="1"/>
          </p:cNvGraphicFramePr>
          <p:nvPr>
            <p:extLst>
              <p:ext uri="{D42A27DB-BD31-4B8C-83A1-F6EECF244321}">
                <p14:modId xmlns:p14="http://schemas.microsoft.com/office/powerpoint/2010/main" val="659310299"/>
              </p:ext>
            </p:extLst>
          </p:nvPr>
        </p:nvGraphicFramePr>
        <p:xfrm>
          <a:off x="-46859" y="1801829"/>
          <a:ext cx="12350620" cy="4919644"/>
        </p:xfrm>
        <a:graphic>
          <a:graphicData uri="http://schemas.openxmlformats.org/drawingml/2006/table">
            <a:tbl>
              <a:tblPr>
                <a:tableStyleId>{ED083AE6-46FA-4A59-8FB0-9F97EB10719F}</a:tableStyleId>
              </a:tblPr>
              <a:tblGrid>
                <a:gridCol w="1810345">
                  <a:extLst>
                    <a:ext uri="{9D8B030D-6E8A-4147-A177-3AD203B41FA5}">
                      <a16:colId xmlns:a16="http://schemas.microsoft.com/office/drawing/2014/main" xmlns="" val="2718896332"/>
                    </a:ext>
                  </a:extLst>
                </a:gridCol>
                <a:gridCol w="2360645">
                  <a:extLst>
                    <a:ext uri="{9D8B030D-6E8A-4147-A177-3AD203B41FA5}">
                      <a16:colId xmlns:a16="http://schemas.microsoft.com/office/drawing/2014/main" xmlns="" val="4160345129"/>
                    </a:ext>
                  </a:extLst>
                </a:gridCol>
                <a:gridCol w="2612571">
                  <a:extLst>
                    <a:ext uri="{9D8B030D-6E8A-4147-A177-3AD203B41FA5}">
                      <a16:colId xmlns:a16="http://schemas.microsoft.com/office/drawing/2014/main" xmlns="" val="4260917840"/>
                    </a:ext>
                  </a:extLst>
                </a:gridCol>
                <a:gridCol w="2687216">
                  <a:extLst>
                    <a:ext uri="{9D8B030D-6E8A-4147-A177-3AD203B41FA5}">
                      <a16:colId xmlns:a16="http://schemas.microsoft.com/office/drawing/2014/main" xmlns="" val="2564623515"/>
                    </a:ext>
                  </a:extLst>
                </a:gridCol>
                <a:gridCol w="2879843">
                  <a:extLst>
                    <a:ext uri="{9D8B030D-6E8A-4147-A177-3AD203B41FA5}">
                      <a16:colId xmlns:a16="http://schemas.microsoft.com/office/drawing/2014/main" xmlns="" val="757784992"/>
                    </a:ext>
                  </a:extLst>
                </a:gridCol>
              </a:tblGrid>
              <a:tr h="257895">
                <a:tc>
                  <a:txBody>
                    <a:bodyPr/>
                    <a:lstStyle/>
                    <a:p>
                      <a:pPr algn="ctr" fontAlgn="ctr"/>
                      <a:r>
                        <a:rPr lang="en-IN" sz="1600" b="1" u="none" strike="noStrike">
                          <a:effectLst/>
                        </a:rPr>
                        <a:t>Feature</a:t>
                      </a:r>
                      <a:endParaRPr lang="en-IN" sz="1600" b="1" i="0" u="none" strike="noStrike">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solidFill>
                      <a:schemeClr val="accent4">
                        <a:lumMod val="40000"/>
                        <a:lumOff val="60000"/>
                      </a:schemeClr>
                    </a:solidFill>
                  </a:tcPr>
                </a:tc>
                <a:tc>
                  <a:txBody>
                    <a:bodyPr/>
                    <a:lstStyle/>
                    <a:p>
                      <a:pPr algn="ctr" fontAlgn="ctr"/>
                      <a:r>
                        <a:rPr lang="en-IN" sz="1600" b="1" u="none" strike="noStrike">
                          <a:effectLst/>
                        </a:rPr>
                        <a:t>4-bit MCU</a:t>
                      </a:r>
                      <a:endParaRPr lang="en-IN" sz="1600" b="1" i="0" u="none" strike="noStrike">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solidFill>
                      <a:schemeClr val="accent4">
                        <a:lumMod val="40000"/>
                        <a:lumOff val="60000"/>
                      </a:schemeClr>
                    </a:solidFill>
                  </a:tcPr>
                </a:tc>
                <a:tc>
                  <a:txBody>
                    <a:bodyPr/>
                    <a:lstStyle/>
                    <a:p>
                      <a:pPr algn="ctr" fontAlgn="ctr"/>
                      <a:r>
                        <a:rPr lang="en-IN" sz="1600" b="1" u="none" strike="noStrike">
                          <a:effectLst/>
                        </a:rPr>
                        <a:t>8-bit MCU</a:t>
                      </a:r>
                      <a:endParaRPr lang="en-IN" sz="1600" b="1" i="0" u="none" strike="noStrike">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solidFill>
                      <a:schemeClr val="accent4">
                        <a:lumMod val="40000"/>
                        <a:lumOff val="60000"/>
                      </a:schemeClr>
                    </a:solidFill>
                  </a:tcPr>
                </a:tc>
                <a:tc>
                  <a:txBody>
                    <a:bodyPr/>
                    <a:lstStyle/>
                    <a:p>
                      <a:pPr algn="ctr" fontAlgn="ctr"/>
                      <a:r>
                        <a:rPr lang="en-IN" sz="1600" b="1" u="none" strike="noStrike">
                          <a:effectLst/>
                        </a:rPr>
                        <a:t>16-bit MCU</a:t>
                      </a:r>
                      <a:endParaRPr lang="en-IN" sz="1600" b="1" i="0" u="none" strike="noStrike">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solidFill>
                      <a:schemeClr val="accent4">
                        <a:lumMod val="40000"/>
                        <a:lumOff val="60000"/>
                      </a:schemeClr>
                    </a:solidFill>
                  </a:tcPr>
                </a:tc>
                <a:tc>
                  <a:txBody>
                    <a:bodyPr/>
                    <a:lstStyle/>
                    <a:p>
                      <a:pPr algn="ctr" fontAlgn="ctr"/>
                      <a:r>
                        <a:rPr lang="en-IN" sz="1600" b="1" u="none" strike="noStrike" dirty="0">
                          <a:effectLst/>
                        </a:rPr>
                        <a:t>32-bit MCU</a:t>
                      </a:r>
                      <a:endParaRPr lang="en-IN"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solidFill>
                      <a:schemeClr val="accent4">
                        <a:lumMod val="40000"/>
                        <a:lumOff val="60000"/>
                      </a:schemeClr>
                    </a:solidFill>
                  </a:tcPr>
                </a:tc>
                <a:extLst>
                  <a:ext uri="{0D108BD9-81ED-4DB2-BD59-A6C34878D82A}">
                    <a16:rowId xmlns:a16="http://schemas.microsoft.com/office/drawing/2014/main" xmlns="" val="861105979"/>
                  </a:ext>
                </a:extLst>
              </a:tr>
              <a:tr h="257895">
                <a:tc>
                  <a:txBody>
                    <a:bodyPr/>
                    <a:lstStyle/>
                    <a:p>
                      <a:pPr algn="l" fontAlgn="ctr"/>
                      <a:r>
                        <a:rPr lang="en-IN" sz="1600" u="none" strike="noStrike">
                          <a:effectLst/>
                        </a:rPr>
                        <a:t>Architecture</a:t>
                      </a:r>
                      <a:endParaRPr lang="en-IN" sz="1600" b="1" i="0" u="none" strike="noStrike">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tc>
                  <a:txBody>
                    <a:bodyPr/>
                    <a:lstStyle/>
                    <a:p>
                      <a:pPr algn="l" fontAlgn="ctr"/>
                      <a:r>
                        <a:rPr lang="en-IN" sz="1600" u="none" strike="noStrike">
                          <a:effectLst/>
                        </a:rPr>
                        <a:t>4-bit data bus</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tc>
                  <a:txBody>
                    <a:bodyPr/>
                    <a:lstStyle/>
                    <a:p>
                      <a:pPr algn="l" fontAlgn="ctr"/>
                      <a:r>
                        <a:rPr lang="en-IN" sz="1600" u="none" strike="noStrike">
                          <a:effectLst/>
                        </a:rPr>
                        <a:t>8-bit data bus</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tc>
                  <a:txBody>
                    <a:bodyPr/>
                    <a:lstStyle/>
                    <a:p>
                      <a:pPr algn="l" fontAlgn="ctr"/>
                      <a:r>
                        <a:rPr lang="en-IN" sz="1600" u="none" strike="noStrike" dirty="0">
                          <a:effectLst/>
                        </a:rPr>
                        <a:t>16-bit data bus</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tc>
                  <a:txBody>
                    <a:bodyPr/>
                    <a:lstStyle/>
                    <a:p>
                      <a:pPr algn="l" fontAlgn="ctr"/>
                      <a:r>
                        <a:rPr lang="en-IN" sz="1600" u="none" strike="noStrike" dirty="0">
                          <a:effectLst/>
                        </a:rPr>
                        <a:t>32-bit data bus</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extLst>
                  <a:ext uri="{0D108BD9-81ED-4DB2-BD59-A6C34878D82A}">
                    <a16:rowId xmlns:a16="http://schemas.microsoft.com/office/drawing/2014/main" xmlns="" val="4194830556"/>
                  </a:ext>
                </a:extLst>
              </a:tr>
              <a:tr h="511936">
                <a:tc>
                  <a:txBody>
                    <a:bodyPr/>
                    <a:lstStyle/>
                    <a:p>
                      <a:pPr algn="l" fontAlgn="ctr"/>
                      <a:r>
                        <a:rPr lang="en-IN" sz="1600" u="none" strike="noStrike">
                          <a:effectLst/>
                        </a:rPr>
                        <a:t>Typical Applications</a:t>
                      </a:r>
                      <a:endParaRPr lang="en-IN" sz="1600" b="1" i="0" u="none" strike="noStrike">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tc>
                  <a:txBody>
                    <a:bodyPr/>
                    <a:lstStyle/>
                    <a:p>
                      <a:pPr algn="l" fontAlgn="ctr"/>
                      <a:r>
                        <a:rPr lang="en-IN" sz="1600" u="none" strike="noStrike">
                          <a:effectLst/>
                        </a:rPr>
                        <a:t>Simple toys, basic controls</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tc>
                  <a:txBody>
                    <a:bodyPr/>
                    <a:lstStyle/>
                    <a:p>
                      <a:pPr algn="l" fontAlgn="ctr"/>
                      <a:r>
                        <a:rPr lang="en-IN" sz="1600" u="none" strike="noStrike">
                          <a:effectLst/>
                        </a:rPr>
                        <a:t>Home automation, small-scale projects</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tc>
                  <a:txBody>
                    <a:bodyPr/>
                    <a:lstStyle/>
                    <a:p>
                      <a:pPr algn="l" fontAlgn="ctr"/>
                      <a:r>
                        <a:rPr lang="en-IN" sz="1600" u="none" strike="noStrike">
                          <a:effectLst/>
                        </a:rPr>
                        <a:t>Industrial control, low-power devices</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tc>
                  <a:txBody>
                    <a:bodyPr/>
                    <a:lstStyle/>
                    <a:p>
                      <a:pPr algn="l" fontAlgn="ctr"/>
                      <a:r>
                        <a:rPr lang="en-IN" sz="1600" u="none" strike="noStrike">
                          <a:effectLst/>
                        </a:rPr>
                        <a:t>Advanced robotics, multimedia, IoT</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extLst>
                  <a:ext uri="{0D108BD9-81ED-4DB2-BD59-A6C34878D82A}">
                    <a16:rowId xmlns:a16="http://schemas.microsoft.com/office/drawing/2014/main" xmlns="" val="664099007"/>
                  </a:ext>
                </a:extLst>
              </a:tr>
              <a:tr h="462588">
                <a:tc>
                  <a:txBody>
                    <a:bodyPr/>
                    <a:lstStyle/>
                    <a:p>
                      <a:pPr algn="l" fontAlgn="ctr"/>
                      <a:r>
                        <a:rPr lang="en-IN" sz="1600" u="none" strike="noStrike">
                          <a:effectLst/>
                        </a:rPr>
                        <a:t>Processing Power</a:t>
                      </a:r>
                      <a:endParaRPr lang="en-IN" sz="1600" b="1" i="0" u="none" strike="noStrike">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tc>
                  <a:txBody>
                    <a:bodyPr/>
                    <a:lstStyle/>
                    <a:p>
                      <a:pPr algn="l" fontAlgn="ctr"/>
                      <a:r>
                        <a:rPr lang="en-IN" sz="1600" u="none" strike="noStrike">
                          <a:effectLst/>
                        </a:rPr>
                        <a:t>Very limited</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tc>
                  <a:txBody>
                    <a:bodyPr/>
                    <a:lstStyle/>
                    <a:p>
                      <a:pPr algn="l" fontAlgn="ctr"/>
                      <a:r>
                        <a:rPr lang="en-IN" sz="1600" u="none" strike="noStrike" dirty="0">
                          <a:effectLst/>
                        </a:rPr>
                        <a:t>Moderate</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tc>
                  <a:txBody>
                    <a:bodyPr/>
                    <a:lstStyle/>
                    <a:p>
                      <a:pPr algn="l" fontAlgn="ctr"/>
                      <a:r>
                        <a:rPr lang="en-IN" sz="1600" u="none" strike="noStrike">
                          <a:effectLst/>
                        </a:rPr>
                        <a:t>Higher than 8-bit</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tc>
                  <a:txBody>
                    <a:bodyPr/>
                    <a:lstStyle/>
                    <a:p>
                      <a:pPr algn="l" fontAlgn="ctr"/>
                      <a:r>
                        <a:rPr lang="en-US" sz="1600" u="none" strike="noStrike">
                          <a:effectLst/>
                        </a:rPr>
                        <a:t>High, suitable for complex tasks</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extLst>
                  <a:ext uri="{0D108BD9-81ED-4DB2-BD59-A6C34878D82A}">
                    <a16:rowId xmlns:a16="http://schemas.microsoft.com/office/drawing/2014/main" xmlns="" val="2178491774"/>
                  </a:ext>
                </a:extLst>
              </a:tr>
              <a:tr h="370070">
                <a:tc>
                  <a:txBody>
                    <a:bodyPr/>
                    <a:lstStyle/>
                    <a:p>
                      <a:pPr algn="l" fontAlgn="ctr"/>
                      <a:r>
                        <a:rPr lang="en-IN" sz="1600" u="none" strike="noStrike">
                          <a:effectLst/>
                        </a:rPr>
                        <a:t>Memory Space</a:t>
                      </a:r>
                      <a:endParaRPr lang="en-IN" sz="1600" b="1" i="0" u="none" strike="noStrike">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tc>
                  <a:txBody>
                    <a:bodyPr/>
                    <a:lstStyle/>
                    <a:p>
                      <a:pPr algn="l" fontAlgn="ctr"/>
                      <a:r>
                        <a:rPr lang="en-IN" sz="1600" u="none" strike="noStrike">
                          <a:effectLst/>
                        </a:rPr>
                        <a:t>Up to 4 KB</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tc>
                  <a:txBody>
                    <a:bodyPr/>
                    <a:lstStyle/>
                    <a:p>
                      <a:pPr algn="l" fontAlgn="ctr"/>
                      <a:r>
                        <a:rPr lang="pl-PL" sz="1600" u="none" strike="noStrike">
                          <a:effectLst/>
                        </a:rPr>
                        <a:t>4 KB to 64 KB</a:t>
                      </a:r>
                      <a:endParaRPr lang="pl-PL" sz="1600" b="0" i="0" u="none" strike="noStrike">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tc>
                  <a:txBody>
                    <a:bodyPr/>
                    <a:lstStyle/>
                    <a:p>
                      <a:pPr algn="l" fontAlgn="ctr"/>
                      <a:r>
                        <a:rPr lang="en-US" sz="1600" u="none" strike="noStrike" dirty="0">
                          <a:effectLst/>
                        </a:rPr>
                        <a:t>Tens to hundreds of KB</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tc>
                  <a:txBody>
                    <a:bodyPr/>
                    <a:lstStyle/>
                    <a:p>
                      <a:pPr algn="l" fontAlgn="ctr"/>
                      <a:r>
                        <a:rPr lang="en-US" sz="1600" u="none" strike="noStrike">
                          <a:effectLst/>
                        </a:rPr>
                        <a:t>Hundreds of KB to several MB</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extLst>
                  <a:ext uri="{0D108BD9-81ED-4DB2-BD59-A6C34878D82A}">
                    <a16:rowId xmlns:a16="http://schemas.microsoft.com/office/drawing/2014/main" xmlns="" val="838056984"/>
                  </a:ext>
                </a:extLst>
              </a:tr>
              <a:tr h="511936">
                <a:tc>
                  <a:txBody>
                    <a:bodyPr/>
                    <a:lstStyle/>
                    <a:p>
                      <a:pPr algn="l" fontAlgn="ctr"/>
                      <a:r>
                        <a:rPr lang="en-IN" sz="1600" u="none" strike="noStrike">
                          <a:effectLst/>
                        </a:rPr>
                        <a:t>Clock Speed</a:t>
                      </a:r>
                      <a:endParaRPr lang="en-IN" sz="1600" b="1" i="0" u="none" strike="noStrike">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tc>
                  <a:txBody>
                    <a:bodyPr/>
                    <a:lstStyle/>
                    <a:p>
                      <a:pPr algn="l" fontAlgn="ctr"/>
                      <a:r>
                        <a:rPr lang="en-US" sz="1600" u="none" strike="noStrike">
                          <a:effectLst/>
                        </a:rPr>
                        <a:t>Low (typically a few MHz)</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tc>
                  <a:txBody>
                    <a:bodyPr/>
                    <a:lstStyle/>
                    <a:p>
                      <a:pPr algn="l" fontAlgn="ctr"/>
                      <a:r>
                        <a:rPr lang="en-US" sz="1600" u="none" strike="noStrike">
                          <a:effectLst/>
                        </a:rPr>
                        <a:t>Low to moderate (up to 20 MHz)</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tc>
                  <a:txBody>
                    <a:bodyPr/>
                    <a:lstStyle/>
                    <a:p>
                      <a:pPr algn="l" fontAlgn="ctr"/>
                      <a:r>
                        <a:rPr lang="en-IN" sz="1600" u="none" strike="noStrike">
                          <a:effectLst/>
                        </a:rPr>
                        <a:t>Moderate (20-50 MHz)</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tc>
                  <a:txBody>
                    <a:bodyPr/>
                    <a:lstStyle/>
                    <a:p>
                      <a:pPr algn="l" fontAlgn="ctr"/>
                      <a:r>
                        <a:rPr lang="en-US" sz="1600" u="none" strike="noStrike" dirty="0">
                          <a:effectLst/>
                        </a:rPr>
                        <a:t>High (50 MHz to several GHz)</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extLst>
                  <a:ext uri="{0D108BD9-81ED-4DB2-BD59-A6C34878D82A}">
                    <a16:rowId xmlns:a16="http://schemas.microsoft.com/office/drawing/2014/main" xmlns="" val="2802659053"/>
                  </a:ext>
                </a:extLst>
              </a:tr>
              <a:tr h="462588">
                <a:tc>
                  <a:txBody>
                    <a:bodyPr/>
                    <a:lstStyle/>
                    <a:p>
                      <a:pPr algn="l" fontAlgn="ctr"/>
                      <a:r>
                        <a:rPr lang="en-IN" sz="1600" u="none" strike="noStrike">
                          <a:effectLst/>
                        </a:rPr>
                        <a:t>Power Consumption</a:t>
                      </a:r>
                      <a:endParaRPr lang="en-IN" sz="1600" b="1" i="0" u="none" strike="noStrike">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tc>
                  <a:txBody>
                    <a:bodyPr/>
                    <a:lstStyle/>
                    <a:p>
                      <a:pPr algn="l" fontAlgn="ctr"/>
                      <a:r>
                        <a:rPr lang="en-IN" sz="1600" u="none" strike="noStrike">
                          <a:effectLst/>
                        </a:rPr>
                        <a:t>Very low</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tc>
                  <a:txBody>
                    <a:bodyPr/>
                    <a:lstStyle/>
                    <a:p>
                      <a:pPr algn="l" fontAlgn="ctr"/>
                      <a:r>
                        <a:rPr lang="en-IN" sz="1600" u="none" strike="noStrike">
                          <a:effectLst/>
                        </a:rPr>
                        <a:t>Low</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tc>
                  <a:txBody>
                    <a:bodyPr/>
                    <a:lstStyle/>
                    <a:p>
                      <a:pPr algn="l" fontAlgn="ctr"/>
                      <a:r>
                        <a:rPr lang="en-IN" sz="1600" u="none" strike="noStrike">
                          <a:effectLst/>
                        </a:rPr>
                        <a:t>Moderate</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tc>
                  <a:txBody>
                    <a:bodyPr/>
                    <a:lstStyle/>
                    <a:p>
                      <a:pPr algn="l" fontAlgn="ctr"/>
                      <a:r>
                        <a:rPr lang="en-IN" sz="1600" u="none" strike="noStrike">
                          <a:effectLst/>
                        </a:rPr>
                        <a:t>Variable, depending on application</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extLst>
                  <a:ext uri="{0D108BD9-81ED-4DB2-BD59-A6C34878D82A}">
                    <a16:rowId xmlns:a16="http://schemas.microsoft.com/office/drawing/2014/main" xmlns="" val="3080300036"/>
                  </a:ext>
                </a:extLst>
              </a:tr>
              <a:tr h="555106">
                <a:tc>
                  <a:txBody>
                    <a:bodyPr/>
                    <a:lstStyle/>
                    <a:p>
                      <a:pPr algn="l" fontAlgn="ctr"/>
                      <a:r>
                        <a:rPr lang="en-IN" sz="1600" u="none" strike="noStrike">
                          <a:effectLst/>
                        </a:rPr>
                        <a:t>Ease of Use</a:t>
                      </a:r>
                      <a:endParaRPr lang="en-IN" sz="1600" b="1" i="0" u="none" strike="noStrike">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tc>
                  <a:txBody>
                    <a:bodyPr/>
                    <a:lstStyle/>
                    <a:p>
                      <a:pPr algn="l" fontAlgn="ctr"/>
                      <a:r>
                        <a:rPr lang="en-IN" sz="1600" u="none" strike="noStrike">
                          <a:effectLst/>
                        </a:rPr>
                        <a:t>Simple, for basic tasks</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tc>
                  <a:txBody>
                    <a:bodyPr/>
                    <a:lstStyle/>
                    <a:p>
                      <a:pPr algn="l" fontAlgn="ctr"/>
                      <a:r>
                        <a:rPr lang="en-IN" sz="1600" u="none" strike="noStrike">
                          <a:effectLst/>
                        </a:rPr>
                        <a:t>Simple to moderate</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tc>
                  <a:txBody>
                    <a:bodyPr/>
                    <a:lstStyle/>
                    <a:p>
                      <a:pPr algn="l" fontAlgn="ctr"/>
                      <a:r>
                        <a:rPr lang="en-IN" sz="1600" u="none" strike="noStrike">
                          <a:effectLst/>
                        </a:rPr>
                        <a:t>Moderate complexity</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tc>
                  <a:txBody>
                    <a:bodyPr/>
                    <a:lstStyle/>
                    <a:p>
                      <a:pPr algn="l" fontAlgn="ctr"/>
                      <a:r>
                        <a:rPr lang="en-US" sz="1600" u="none" strike="noStrike">
                          <a:effectLst/>
                        </a:rPr>
                        <a:t>More complex, requires advanced knowledge</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extLst>
                  <a:ext uri="{0D108BD9-81ED-4DB2-BD59-A6C34878D82A}">
                    <a16:rowId xmlns:a16="http://schemas.microsoft.com/office/drawing/2014/main" xmlns="" val="3155951159"/>
                  </a:ext>
                </a:extLst>
              </a:tr>
              <a:tr h="555106">
                <a:tc>
                  <a:txBody>
                    <a:bodyPr/>
                    <a:lstStyle/>
                    <a:p>
                      <a:pPr algn="l" fontAlgn="ctr"/>
                      <a:r>
                        <a:rPr lang="en-IN" sz="1600" u="none" strike="noStrike">
                          <a:effectLst/>
                        </a:rPr>
                        <a:t>Popular Examples</a:t>
                      </a:r>
                      <a:endParaRPr lang="en-IN" sz="1600" b="1" i="0" u="none" strike="noStrike">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tc>
                  <a:txBody>
                    <a:bodyPr/>
                    <a:lstStyle/>
                    <a:p>
                      <a:pPr algn="l" fontAlgn="ctr"/>
                      <a:r>
                        <a:rPr lang="en-IN" sz="1600" u="none" strike="noStrike" dirty="0">
                          <a:effectLst/>
                        </a:rPr>
                        <a:t>Rare in modern use</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tc>
                  <a:txBody>
                    <a:bodyPr/>
                    <a:lstStyle/>
                    <a:p>
                      <a:pPr algn="l" fontAlgn="ctr"/>
                      <a:r>
                        <a:rPr lang="it-IT" sz="1600" u="none" strike="noStrike" dirty="0">
                          <a:effectLst/>
                        </a:rPr>
                        <a:t>8051, PIC16, </a:t>
                      </a:r>
                      <a:r>
                        <a:rPr lang="it-IT" sz="1600" b="1" u="none" strike="noStrike" dirty="0">
                          <a:solidFill>
                            <a:srgbClr val="FF0000"/>
                          </a:solidFill>
                          <a:effectLst/>
                        </a:rPr>
                        <a:t>ATmega328P (Arduino Uno)</a:t>
                      </a:r>
                      <a:endParaRPr lang="it-IT" sz="1600" b="1" i="0" u="none" strike="noStrike" dirty="0">
                        <a:solidFill>
                          <a:srgbClr val="FF0000"/>
                        </a:solidFill>
                        <a:effectLst/>
                        <a:latin typeface="Times New Roman" panose="02020603050405020304" pitchFamily="18" charset="0"/>
                        <a:cs typeface="Times New Roman" panose="02020603050405020304" pitchFamily="18" charset="0"/>
                      </a:endParaRPr>
                    </a:p>
                  </a:txBody>
                  <a:tcPr marL="3700" marR="3700" marT="3700" marB="0" anchor="ctr"/>
                </a:tc>
                <a:tc>
                  <a:txBody>
                    <a:bodyPr/>
                    <a:lstStyle/>
                    <a:p>
                      <a:pPr algn="l" fontAlgn="ctr"/>
                      <a:r>
                        <a:rPr lang="en-IN" sz="1600" u="none" strike="noStrike">
                          <a:effectLst/>
                        </a:rPr>
                        <a:t>MSP430, PIC24</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tc>
                  <a:txBody>
                    <a:bodyPr/>
                    <a:lstStyle/>
                    <a:p>
                      <a:pPr algn="l" fontAlgn="ctr"/>
                      <a:r>
                        <a:rPr lang="en-IN" sz="1600" u="none" strike="noStrike" dirty="0">
                          <a:effectLst/>
                        </a:rPr>
                        <a:t>ARM Cortex-M, </a:t>
                      </a:r>
                      <a:r>
                        <a:rPr lang="en-IN" sz="1600" b="1" u="none" strike="noStrike" dirty="0">
                          <a:solidFill>
                            <a:srgbClr val="FF0000"/>
                          </a:solidFill>
                          <a:effectLst/>
                        </a:rPr>
                        <a:t>Raspberry Pi (SoC)</a:t>
                      </a:r>
                      <a:endParaRPr lang="en-IN" sz="1600" b="1" i="0" u="none" strike="noStrike" dirty="0">
                        <a:solidFill>
                          <a:srgbClr val="FF0000"/>
                        </a:solidFill>
                        <a:effectLst/>
                        <a:latin typeface="Times New Roman" panose="02020603050405020304" pitchFamily="18" charset="0"/>
                        <a:cs typeface="Times New Roman" panose="02020603050405020304" pitchFamily="18" charset="0"/>
                      </a:endParaRPr>
                    </a:p>
                  </a:txBody>
                  <a:tcPr marL="3700" marR="3700" marT="3700" marB="0" anchor="ctr"/>
                </a:tc>
                <a:extLst>
                  <a:ext uri="{0D108BD9-81ED-4DB2-BD59-A6C34878D82A}">
                    <a16:rowId xmlns:a16="http://schemas.microsoft.com/office/drawing/2014/main" xmlns="" val="4074105449"/>
                  </a:ext>
                </a:extLst>
              </a:tr>
              <a:tr h="462588">
                <a:tc>
                  <a:txBody>
                    <a:bodyPr/>
                    <a:lstStyle/>
                    <a:p>
                      <a:pPr algn="l" fontAlgn="ctr"/>
                      <a:r>
                        <a:rPr lang="en-IN" sz="1600" u="none" strike="noStrike">
                          <a:effectLst/>
                        </a:rPr>
                        <a:t>Cost</a:t>
                      </a:r>
                      <a:endParaRPr lang="en-IN" sz="1600" b="1" i="0" u="none" strike="noStrike">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tc>
                  <a:txBody>
                    <a:bodyPr/>
                    <a:lstStyle/>
                    <a:p>
                      <a:pPr algn="l" fontAlgn="ctr"/>
                      <a:r>
                        <a:rPr lang="en-IN" sz="1600" u="none" strike="noStrike">
                          <a:effectLst/>
                        </a:rPr>
                        <a:t>Very low</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tc>
                  <a:txBody>
                    <a:bodyPr/>
                    <a:lstStyle/>
                    <a:p>
                      <a:pPr algn="l" fontAlgn="ctr"/>
                      <a:r>
                        <a:rPr lang="en-IN" sz="1600" u="none" strike="noStrike">
                          <a:effectLst/>
                        </a:rPr>
                        <a:t>Low</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tc>
                  <a:txBody>
                    <a:bodyPr/>
                    <a:lstStyle/>
                    <a:p>
                      <a:pPr algn="l" fontAlgn="ctr"/>
                      <a:r>
                        <a:rPr lang="en-IN" sz="1600" u="none" strike="noStrike">
                          <a:effectLst/>
                        </a:rPr>
                        <a:t>Moderate</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tc>
                  <a:txBody>
                    <a:bodyPr/>
                    <a:lstStyle/>
                    <a:p>
                      <a:pPr algn="l" fontAlgn="ctr"/>
                      <a:r>
                        <a:rPr lang="en-IN" sz="1600" u="none" strike="noStrike" dirty="0">
                          <a:effectLst/>
                        </a:rPr>
                        <a:t>Higher, varies with capabilities</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extLst>
                  <a:ext uri="{0D108BD9-81ED-4DB2-BD59-A6C34878D82A}">
                    <a16:rowId xmlns:a16="http://schemas.microsoft.com/office/drawing/2014/main" xmlns="" val="1007759544"/>
                  </a:ext>
                </a:extLst>
              </a:tr>
              <a:tr h="511936">
                <a:tc>
                  <a:txBody>
                    <a:bodyPr/>
                    <a:lstStyle/>
                    <a:p>
                      <a:pPr algn="l" fontAlgn="ctr"/>
                      <a:r>
                        <a:rPr lang="en-IN" sz="1600" u="none" strike="noStrike">
                          <a:effectLst/>
                        </a:rPr>
                        <a:t>Suitability for Real-Time</a:t>
                      </a:r>
                      <a:endParaRPr lang="en-IN" sz="1600" b="1" i="0" u="none" strike="noStrike">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tc>
                  <a:txBody>
                    <a:bodyPr/>
                    <a:lstStyle/>
                    <a:p>
                      <a:pPr algn="l" fontAlgn="ctr"/>
                      <a:r>
                        <a:rPr lang="en-IN" sz="1600" u="none" strike="noStrike">
                          <a:effectLst/>
                        </a:rPr>
                        <a:t>Limited</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tc>
                  <a:txBody>
                    <a:bodyPr/>
                    <a:lstStyle/>
                    <a:p>
                      <a:pPr algn="l" fontAlgn="ctr"/>
                      <a:r>
                        <a:rPr lang="en-US" sz="1600" u="none" strike="noStrike">
                          <a:effectLst/>
                        </a:rPr>
                        <a:t>Good for simple real-time tasks</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tc>
                  <a:txBody>
                    <a:bodyPr/>
                    <a:lstStyle/>
                    <a:p>
                      <a:pPr algn="l" fontAlgn="ctr"/>
                      <a:r>
                        <a:rPr lang="en-IN" sz="1600" u="none" strike="noStrike">
                          <a:effectLst/>
                        </a:rPr>
                        <a:t>Good</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tc>
                  <a:txBody>
                    <a:bodyPr/>
                    <a:lstStyle/>
                    <a:p>
                      <a:pPr algn="l" fontAlgn="ctr"/>
                      <a:r>
                        <a:rPr lang="en-US" sz="1600" u="none" strike="noStrike" dirty="0">
                          <a:effectLst/>
                        </a:rPr>
                        <a:t>Suitable for advanced real-time tasks</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700" marR="3700" marT="3700" marB="0" anchor="ctr"/>
                </a:tc>
                <a:extLst>
                  <a:ext uri="{0D108BD9-81ED-4DB2-BD59-A6C34878D82A}">
                    <a16:rowId xmlns:a16="http://schemas.microsoft.com/office/drawing/2014/main" xmlns="" val="1892122383"/>
                  </a:ext>
                </a:extLst>
              </a:tr>
            </a:tbl>
          </a:graphicData>
        </a:graphic>
      </p:graphicFrame>
    </p:spTree>
    <p:extLst>
      <p:ext uri="{BB962C8B-B14F-4D97-AF65-F5344CB8AC3E}">
        <p14:creationId xmlns:p14="http://schemas.microsoft.com/office/powerpoint/2010/main" val="36238160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43</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19" y="1875565"/>
            <a:ext cx="6718039" cy="2942729"/>
          </a:xfrm>
          <a:prstGeom prst="rect">
            <a:avLst/>
          </a:prstGeom>
          <a:noFill/>
        </p:spPr>
        <p:txBody>
          <a:bodyPr wrap="square">
            <a:spAutoFit/>
          </a:bodyPr>
          <a:lstStyle/>
          <a:p>
            <a:pPr marL="457200" marR="0" lvl="0" indent="-457200" algn="just" defTabSz="914400" rtl="0" eaLnBrk="1" fontAlgn="base" latinLnBrk="0" hangingPunct="1">
              <a:lnSpc>
                <a:spcPct val="150000"/>
              </a:lnSpc>
              <a:spcBef>
                <a:spcPct val="20000"/>
              </a:spcBef>
              <a:spcAft>
                <a:spcPct val="0"/>
              </a:spcAft>
              <a:buClr>
                <a:srgbClr val="996600"/>
              </a:buClr>
              <a:buSzTx/>
              <a:buFont typeface="Arial" panose="020B0604020202020204" pitchFamily="34" charset="0"/>
              <a:buChar char="•"/>
              <a:tabLst/>
              <a:defRPr/>
            </a:pPr>
            <a:r>
              <a:rPr kumimoji="0" lang="en-US" altLang="en-US" sz="2100" b="0" i="0" u="none" strike="noStrike" kern="0" cap="none" spc="0" normalizeH="0" baseline="0" noProof="0" dirty="0">
                <a:ln>
                  <a:noFill/>
                </a:ln>
                <a:solidFill>
                  <a:srgbClr val="000000"/>
                </a:solidFill>
                <a:effectLst/>
                <a:uLnTx/>
                <a:uFillTx/>
                <a:latin typeface="Times New Roman"/>
                <a:ea typeface="+mn-ea"/>
                <a:cs typeface="+mn-cs"/>
              </a:rPr>
              <a:t>A processing unit is needed for an embedded system. An ‘embedded processor’ which is another name for a ‘microcontroller unit’, is used at the heart of the system design. There is a processor part inside the MCU block this is the CPU or the computing engine of the MCU. Figure shows this. </a:t>
            </a:r>
          </a:p>
        </p:txBody>
      </p:sp>
      <p:sp>
        <p:nvSpPr>
          <p:cNvPr id="7" name="TextBox 6">
            <a:extLst>
              <a:ext uri="{FF2B5EF4-FFF2-40B4-BE49-F238E27FC236}">
                <a16:creationId xmlns:a16="http://schemas.microsoft.com/office/drawing/2014/main" xmlns="" id="{8F0FD7BA-1379-3787-FD96-632BA4C39924}"/>
              </a:ext>
            </a:extLst>
          </p:cNvPr>
          <p:cNvSpPr txBox="1"/>
          <p:nvPr/>
        </p:nvSpPr>
        <p:spPr>
          <a:xfrm>
            <a:off x="-46859" y="1339900"/>
            <a:ext cx="8723597" cy="518988"/>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6. Microcontroller Unit</a:t>
            </a: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xmlns="" id="{8C9E8193-88B6-14A8-ACF2-BE2EB2247F8E}"/>
              </a:ext>
            </a:extLst>
          </p:cNvPr>
          <p:cNvPicPr>
            <a:picLocks noChangeAspect="1"/>
          </p:cNvPicPr>
          <p:nvPr/>
        </p:nvPicPr>
        <p:blipFill>
          <a:blip r:embed="rId3"/>
          <a:stretch>
            <a:fillRect/>
          </a:stretch>
        </p:blipFill>
        <p:spPr>
          <a:xfrm>
            <a:off x="6830085" y="1725750"/>
            <a:ext cx="5178411" cy="3173866"/>
          </a:xfrm>
          <a:prstGeom prst="rect">
            <a:avLst/>
          </a:prstGeom>
        </p:spPr>
      </p:pic>
      <p:sp>
        <p:nvSpPr>
          <p:cNvPr id="14" name="TextBox 13">
            <a:extLst>
              <a:ext uri="{FF2B5EF4-FFF2-40B4-BE49-F238E27FC236}">
                <a16:creationId xmlns:a16="http://schemas.microsoft.com/office/drawing/2014/main" xmlns="" id="{BA02DCC3-1109-E732-B002-99F2672B28B9}"/>
              </a:ext>
            </a:extLst>
          </p:cNvPr>
          <p:cNvSpPr txBox="1"/>
          <p:nvPr/>
        </p:nvSpPr>
        <p:spPr>
          <a:xfrm>
            <a:off x="-163914" y="4840126"/>
            <a:ext cx="12172411" cy="2037866"/>
          </a:xfrm>
          <a:prstGeom prst="rect">
            <a:avLst/>
          </a:prstGeom>
          <a:noFill/>
        </p:spPr>
        <p:txBody>
          <a:bodyPr wrap="square">
            <a:spAutoFit/>
          </a:bodyPr>
          <a:lstStyle/>
          <a:p>
            <a:pPr marL="457200" marR="0" lvl="0" indent="-457200" algn="just" defTabSz="914400" rtl="0" eaLnBrk="1" fontAlgn="base" latinLnBrk="0" hangingPunct="1">
              <a:lnSpc>
                <a:spcPct val="150000"/>
              </a:lnSpc>
              <a:spcBef>
                <a:spcPct val="20000"/>
              </a:spcBef>
              <a:spcAft>
                <a:spcPct val="0"/>
              </a:spcAft>
              <a:buClr>
                <a:srgbClr val="996600"/>
              </a:buClr>
              <a:buSzTx/>
              <a:buFont typeface="Arial" panose="020B0604020202020204" pitchFamily="34" charset="0"/>
              <a:buChar char="•"/>
              <a:tabLst/>
              <a:defRPr/>
            </a:pPr>
            <a:r>
              <a:rPr kumimoji="0" lang="en-US" altLang="en-US" sz="2100" b="0" i="0" u="none" strike="noStrike" kern="0" cap="none" spc="0" normalizeH="0" baseline="0" noProof="0" dirty="0">
                <a:ln>
                  <a:noFill/>
                </a:ln>
                <a:solidFill>
                  <a:srgbClr val="000000"/>
                </a:solidFill>
                <a:effectLst/>
                <a:uLnTx/>
                <a:uFillTx/>
                <a:latin typeface="Times New Roman"/>
                <a:ea typeface="+mn-ea"/>
                <a:cs typeface="+mn-cs"/>
              </a:rPr>
              <a:t>The other blocks inside it are memory and peripheral controllers. </a:t>
            </a:r>
          </a:p>
          <a:p>
            <a:pPr marL="457200" marR="0" lvl="0" indent="-457200" algn="just" defTabSz="914400" rtl="0" eaLnBrk="1" fontAlgn="base" latinLnBrk="0" hangingPunct="1">
              <a:lnSpc>
                <a:spcPct val="150000"/>
              </a:lnSpc>
              <a:spcBef>
                <a:spcPct val="20000"/>
              </a:spcBef>
              <a:spcAft>
                <a:spcPct val="0"/>
              </a:spcAft>
              <a:buClr>
                <a:srgbClr val="996600"/>
              </a:buClr>
              <a:buSzTx/>
              <a:buFont typeface="Arial" panose="020B0604020202020204" pitchFamily="34" charset="0"/>
              <a:buChar char="•"/>
              <a:tabLst/>
              <a:defRPr/>
            </a:pPr>
            <a:r>
              <a:rPr kumimoji="0" lang="en-US" altLang="en-US" sz="2100" b="0" i="0" u="none" strike="noStrike" kern="0" cap="none" spc="0" normalizeH="0" baseline="0" noProof="0" dirty="0">
                <a:ln>
                  <a:noFill/>
                </a:ln>
                <a:solidFill>
                  <a:srgbClr val="000000"/>
                </a:solidFill>
                <a:effectLst/>
                <a:uLnTx/>
                <a:uFillTx/>
                <a:latin typeface="Times New Roman"/>
                <a:ea typeface="+mn-ea"/>
                <a:cs typeface="+mn-cs"/>
              </a:rPr>
              <a:t>The number and kind of peripheral controllers is not standard various MCUs have different sets of peripherals, but there are some peripherals which are more or less a standard feature-like timers and the serial communication interface.</a:t>
            </a:r>
          </a:p>
        </p:txBody>
      </p:sp>
    </p:spTree>
    <p:extLst>
      <p:ext uri="{BB962C8B-B14F-4D97-AF65-F5344CB8AC3E}">
        <p14:creationId xmlns:p14="http://schemas.microsoft.com/office/powerpoint/2010/main" val="22369846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44</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19" y="1875565"/>
            <a:ext cx="12120464" cy="4396973"/>
          </a:xfrm>
          <a:prstGeom prst="rect">
            <a:avLst/>
          </a:prstGeom>
          <a:noFill/>
        </p:spPr>
        <p:txBody>
          <a:bodyPr wrap="square">
            <a:spAutoFit/>
          </a:bodyPr>
          <a:lstStyle/>
          <a:p>
            <a:pPr algn="just">
              <a:lnSpc>
                <a:spcPct val="150000"/>
              </a:lnSpc>
            </a:pPr>
            <a:r>
              <a:rPr lang="en-US" sz="2100" dirty="0">
                <a:latin typeface="Times New Roman" panose="02020603050405020304" pitchFamily="18" charset="0"/>
                <a:cs typeface="Times New Roman" panose="02020603050405020304" pitchFamily="18" charset="0"/>
              </a:rPr>
              <a:t>The processor in a Microcontroller Unit (MCU) acts as the "brain" of the system. It’s the central part that does all the calculations and controls the other components (called peripherals).</a:t>
            </a:r>
          </a:p>
          <a:p>
            <a:pPr algn="just">
              <a:lnSpc>
                <a:spcPct val="150000"/>
              </a:lnSpc>
            </a:pPr>
            <a:r>
              <a:rPr lang="en-US" sz="2100" dirty="0">
                <a:latin typeface="Times New Roman" panose="02020603050405020304" pitchFamily="18" charset="0"/>
                <a:cs typeface="Times New Roman" panose="02020603050405020304" pitchFamily="18" charset="0"/>
              </a:rPr>
              <a:t>Here's a breakdown of the key points in simple terms:</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Processor's Role</a:t>
            </a:r>
            <a:r>
              <a:rPr lang="en-US" sz="2100" dirty="0">
                <a:latin typeface="Times New Roman" panose="02020603050405020304" pitchFamily="18" charset="0"/>
                <a:cs typeface="Times New Roman" panose="02020603050405020304" pitchFamily="18" charset="0"/>
              </a:rPr>
              <a:t>: The processor is like the command center of the MCU. It handles all the necessary calculations and makes decisions to control the peripherals, which are the other parts of the MCU that manage specific tasks (like communication or timing).</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Internal Data and Address Buses</a:t>
            </a:r>
            <a:r>
              <a:rPr lang="en-US" sz="2100" dirty="0">
                <a:latin typeface="Times New Roman" panose="02020603050405020304" pitchFamily="18" charset="0"/>
                <a:cs typeface="Times New Roman" panose="02020603050405020304" pitchFamily="18" charset="0"/>
              </a:rPr>
              <a:t>: Since the processor, memory, and peripheral controllers are all inside the same chip, the pathways (called data bus and address bus) that carry information between them are internal. This means everything happens within the chip, making it faster and more efficient.</a:t>
            </a:r>
          </a:p>
        </p:txBody>
      </p:sp>
      <p:sp>
        <p:nvSpPr>
          <p:cNvPr id="7" name="TextBox 6">
            <a:extLst>
              <a:ext uri="{FF2B5EF4-FFF2-40B4-BE49-F238E27FC236}">
                <a16:creationId xmlns:a16="http://schemas.microsoft.com/office/drawing/2014/main" xmlns="" id="{8F0FD7BA-1379-3787-FD96-632BA4C39924}"/>
              </a:ext>
            </a:extLst>
          </p:cNvPr>
          <p:cNvSpPr txBox="1"/>
          <p:nvPr/>
        </p:nvSpPr>
        <p:spPr>
          <a:xfrm>
            <a:off x="-46859" y="1339900"/>
            <a:ext cx="8723597" cy="518988"/>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6. Microcontroller Unit - </a:t>
            </a:r>
            <a:r>
              <a:rPr lang="en-US" sz="2100" b="1" i="1" dirty="0">
                <a:solidFill>
                  <a:srgbClr val="C00000"/>
                </a:solidFill>
                <a:latin typeface="Times New Roman" panose="02020603050405020304" pitchFamily="18" charset="0"/>
                <a:cs typeface="Times New Roman" panose="02020603050405020304" pitchFamily="18" charset="0"/>
              </a:rPr>
              <a:t>Processor</a:t>
            </a: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17896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45</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19" y="1875565"/>
            <a:ext cx="12120464" cy="3912225"/>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Performance Factors</a:t>
            </a:r>
            <a:r>
              <a:rPr lang="en-US" sz="2100" dirty="0">
                <a:latin typeface="Times New Roman" panose="02020603050405020304" pitchFamily="18" charset="0"/>
                <a:cs typeface="Times New Roman" panose="02020603050405020304" pitchFamily="18" charset="0"/>
              </a:rPr>
              <a:t>: How well the processor performs depends on several things:</a:t>
            </a:r>
          </a:p>
          <a:p>
            <a:pPr marL="800100" lvl="1"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Instruction Set Architecture (ISA)</a:t>
            </a:r>
            <a:r>
              <a:rPr lang="en-US" sz="2100" dirty="0">
                <a:latin typeface="Times New Roman" panose="02020603050405020304" pitchFamily="18" charset="0"/>
                <a:cs typeface="Times New Roman" panose="02020603050405020304" pitchFamily="18" charset="0"/>
              </a:rPr>
              <a:t>: This is a set of instructions that the processor understands and can execute. The ISA is crucial because it defines how the processor works with data, how it communicates with memory, and how it handles various tasks. It affects how complex and fast the processor can be.</a:t>
            </a:r>
          </a:p>
          <a:p>
            <a:pPr marL="800100" lvl="1"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Data Bus Width</a:t>
            </a:r>
            <a:r>
              <a:rPr lang="en-US" sz="2100" dirty="0">
                <a:latin typeface="Times New Roman" panose="02020603050405020304" pitchFamily="18" charset="0"/>
                <a:cs typeface="Times New Roman" panose="02020603050405020304" pitchFamily="18" charset="0"/>
              </a:rPr>
              <a:t>: This refers to how much data the processor can handle at once. A wider data bus can move more information at a time, improving performance.</a:t>
            </a:r>
          </a:p>
          <a:p>
            <a:pPr marL="800100" lvl="1"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Addressing Space</a:t>
            </a:r>
            <a:r>
              <a:rPr lang="en-US" sz="2100" dirty="0">
                <a:latin typeface="Times New Roman" panose="02020603050405020304" pitchFamily="18" charset="0"/>
                <a:cs typeface="Times New Roman" panose="02020603050405020304" pitchFamily="18" charset="0"/>
              </a:rPr>
              <a:t>: This determines how much memory the processor can access. More addressing space means the processor can work with larger amounts of data.</a:t>
            </a:r>
          </a:p>
        </p:txBody>
      </p:sp>
      <p:sp>
        <p:nvSpPr>
          <p:cNvPr id="7" name="TextBox 6">
            <a:extLst>
              <a:ext uri="{FF2B5EF4-FFF2-40B4-BE49-F238E27FC236}">
                <a16:creationId xmlns:a16="http://schemas.microsoft.com/office/drawing/2014/main" xmlns="" id="{8F0FD7BA-1379-3787-FD96-632BA4C39924}"/>
              </a:ext>
            </a:extLst>
          </p:cNvPr>
          <p:cNvSpPr txBox="1"/>
          <p:nvPr/>
        </p:nvSpPr>
        <p:spPr>
          <a:xfrm>
            <a:off x="-46859" y="1339900"/>
            <a:ext cx="8723597" cy="518988"/>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6. Microcontroller Unit - </a:t>
            </a:r>
            <a:r>
              <a:rPr lang="en-US" sz="2100" b="1" i="1" dirty="0">
                <a:solidFill>
                  <a:srgbClr val="C00000"/>
                </a:solidFill>
                <a:latin typeface="Times New Roman" panose="02020603050405020304" pitchFamily="18" charset="0"/>
                <a:cs typeface="Times New Roman" panose="02020603050405020304" pitchFamily="18" charset="0"/>
              </a:rPr>
              <a:t>Processor</a:t>
            </a: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30478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46</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19" y="1875565"/>
            <a:ext cx="12120464" cy="3912225"/>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Instruction Set Architecture (ISA)</a:t>
            </a:r>
            <a:r>
              <a:rPr lang="en-US" sz="2100" dirty="0">
                <a:latin typeface="Times New Roman" panose="02020603050405020304" pitchFamily="18" charset="0"/>
                <a:cs typeface="Times New Roman" panose="02020603050405020304" pitchFamily="18" charset="0"/>
              </a:rPr>
              <a:t>: The ISA is like the language the processor speaks. It includes:</a:t>
            </a:r>
          </a:p>
          <a:p>
            <a:pPr marL="800100" lvl="1"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Native Data Types</a:t>
            </a:r>
            <a:r>
              <a:rPr lang="en-US" sz="2100" dirty="0">
                <a:latin typeface="Times New Roman" panose="02020603050405020304" pitchFamily="18" charset="0"/>
                <a:cs typeface="Times New Roman" panose="02020603050405020304" pitchFamily="18" charset="0"/>
              </a:rPr>
              <a:t>: The types of data the processor can work with directly.</a:t>
            </a:r>
          </a:p>
          <a:p>
            <a:pPr marL="800100" lvl="1"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Instruction Registers</a:t>
            </a:r>
            <a:r>
              <a:rPr lang="en-US" sz="2100" dirty="0">
                <a:latin typeface="Times New Roman" panose="02020603050405020304" pitchFamily="18" charset="0"/>
                <a:cs typeface="Times New Roman" panose="02020603050405020304" pitchFamily="18" charset="0"/>
              </a:rPr>
              <a:t>: Special storage areas inside the processor where it keeps instructions and data temporarily.</a:t>
            </a:r>
          </a:p>
          <a:p>
            <a:pPr marL="800100" lvl="1"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Addressing Modes</a:t>
            </a:r>
            <a:r>
              <a:rPr lang="en-US" sz="2100" dirty="0">
                <a:latin typeface="Times New Roman" panose="02020603050405020304" pitchFamily="18" charset="0"/>
                <a:cs typeface="Times New Roman" panose="02020603050405020304" pitchFamily="18" charset="0"/>
              </a:rPr>
              <a:t>: The ways the processor can access data in memory.</a:t>
            </a:r>
          </a:p>
          <a:p>
            <a:pPr marL="800100" lvl="1"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Memory Architecture</a:t>
            </a:r>
            <a:r>
              <a:rPr lang="en-US" sz="2100" dirty="0">
                <a:latin typeface="Times New Roman" panose="02020603050405020304" pitchFamily="18" charset="0"/>
                <a:cs typeface="Times New Roman" panose="02020603050405020304" pitchFamily="18" charset="0"/>
              </a:rPr>
              <a:t>: How memory is organized and used by the processor.</a:t>
            </a:r>
          </a:p>
          <a:p>
            <a:pPr marL="800100" lvl="1"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Interrupt Handling</a:t>
            </a:r>
            <a:r>
              <a:rPr lang="en-US" sz="2100" dirty="0">
                <a:latin typeface="Times New Roman" panose="02020603050405020304" pitchFamily="18" charset="0"/>
                <a:cs typeface="Times New Roman" panose="02020603050405020304" pitchFamily="18" charset="0"/>
              </a:rPr>
              <a:t>: How the processor deals with interruptions, such as responding to external events while running a program.</a:t>
            </a:r>
          </a:p>
        </p:txBody>
      </p:sp>
      <p:sp>
        <p:nvSpPr>
          <p:cNvPr id="7" name="TextBox 6">
            <a:extLst>
              <a:ext uri="{FF2B5EF4-FFF2-40B4-BE49-F238E27FC236}">
                <a16:creationId xmlns:a16="http://schemas.microsoft.com/office/drawing/2014/main" xmlns="" id="{8F0FD7BA-1379-3787-FD96-632BA4C39924}"/>
              </a:ext>
            </a:extLst>
          </p:cNvPr>
          <p:cNvSpPr txBox="1"/>
          <p:nvPr/>
        </p:nvSpPr>
        <p:spPr>
          <a:xfrm>
            <a:off x="-46859" y="1339900"/>
            <a:ext cx="8723597" cy="518988"/>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6. Microcontroller Unit - </a:t>
            </a:r>
            <a:r>
              <a:rPr lang="en-US" sz="2100" b="1" i="1" dirty="0">
                <a:solidFill>
                  <a:srgbClr val="C00000"/>
                </a:solidFill>
                <a:latin typeface="Times New Roman" panose="02020603050405020304" pitchFamily="18" charset="0"/>
                <a:cs typeface="Times New Roman" panose="02020603050405020304" pitchFamily="18" charset="0"/>
              </a:rPr>
              <a:t>Processor</a:t>
            </a: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22357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47</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19" y="1875565"/>
            <a:ext cx="12120464" cy="1973232"/>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In summary, the processor is the core component of an MCU that executes commands and controls other parts of the system. Its performance is influenced by its instruction set, the width of the data bus, and how much memory it can address. The Instruction Set Architecture (ISA) is crucial as it defines how the processor operates and how it interacts with programs.</a:t>
            </a:r>
          </a:p>
        </p:txBody>
      </p:sp>
      <p:sp>
        <p:nvSpPr>
          <p:cNvPr id="7" name="TextBox 6">
            <a:extLst>
              <a:ext uri="{FF2B5EF4-FFF2-40B4-BE49-F238E27FC236}">
                <a16:creationId xmlns:a16="http://schemas.microsoft.com/office/drawing/2014/main" xmlns="" id="{8F0FD7BA-1379-3787-FD96-632BA4C39924}"/>
              </a:ext>
            </a:extLst>
          </p:cNvPr>
          <p:cNvSpPr txBox="1"/>
          <p:nvPr/>
        </p:nvSpPr>
        <p:spPr>
          <a:xfrm>
            <a:off x="-46859" y="1339900"/>
            <a:ext cx="8723597" cy="518988"/>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6. Microcontroller Unit - </a:t>
            </a:r>
            <a:r>
              <a:rPr lang="en-US" sz="2100" b="1" i="1" dirty="0">
                <a:solidFill>
                  <a:srgbClr val="C00000"/>
                </a:solidFill>
                <a:latin typeface="Times New Roman" panose="02020603050405020304" pitchFamily="18" charset="0"/>
                <a:cs typeface="Times New Roman" panose="02020603050405020304" pitchFamily="18" charset="0"/>
              </a:rPr>
              <a:t>Processor</a:t>
            </a: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71808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48</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19" y="1875565"/>
            <a:ext cx="7064462" cy="4396973"/>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The 8051 microcontroller, originally developed by Intel in 1980, is one of the most successful and widely used microcontrollers in the world. </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It belongs to the MCS-51 family and has become a standard in the industry due to its flexibility, ease of use, and availability from multiple manufacturers. </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The 8051 is known for its simplicity and the ability to perform a wide range of tasks, making it ideal for embedded systems that require real-time control.</a:t>
            </a:r>
          </a:p>
        </p:txBody>
      </p:sp>
      <p:sp>
        <p:nvSpPr>
          <p:cNvPr id="7" name="TextBox 6">
            <a:extLst>
              <a:ext uri="{FF2B5EF4-FFF2-40B4-BE49-F238E27FC236}">
                <a16:creationId xmlns:a16="http://schemas.microsoft.com/office/drawing/2014/main" xmlns="" id="{8F0FD7BA-1379-3787-FD96-632BA4C39924}"/>
              </a:ext>
            </a:extLst>
          </p:cNvPr>
          <p:cNvSpPr txBox="1"/>
          <p:nvPr/>
        </p:nvSpPr>
        <p:spPr>
          <a:xfrm>
            <a:off x="-46859" y="1339900"/>
            <a:ext cx="8723597" cy="518988"/>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7. 8-bit Microcontroller Unit - 8051</a:t>
            </a:r>
            <a:endParaRPr lang="en-US" sz="2100" b="1" i="1" dirty="0">
              <a:solidFill>
                <a:srgbClr val="C00000"/>
              </a:solidFill>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xmlns="" id="{2BF5CAD9-7562-4C2E-C7E2-944C78D1DDAA}"/>
              </a:ext>
            </a:extLst>
          </p:cNvPr>
          <p:cNvPicPr>
            <a:picLocks noChangeAspect="1"/>
          </p:cNvPicPr>
          <p:nvPr/>
        </p:nvPicPr>
        <p:blipFill rotWithShape="1">
          <a:blip r:embed="rId3"/>
          <a:srcRect r="49301"/>
          <a:stretch/>
        </p:blipFill>
        <p:spPr>
          <a:xfrm>
            <a:off x="7539585" y="3318576"/>
            <a:ext cx="4371679" cy="3402899"/>
          </a:xfrm>
          <a:prstGeom prst="rect">
            <a:avLst/>
          </a:prstGeom>
        </p:spPr>
      </p:pic>
      <p:pic>
        <p:nvPicPr>
          <p:cNvPr id="13" name="Picture 12">
            <a:extLst>
              <a:ext uri="{FF2B5EF4-FFF2-40B4-BE49-F238E27FC236}">
                <a16:creationId xmlns:a16="http://schemas.microsoft.com/office/drawing/2014/main" xmlns="" id="{F899DEC2-858E-711B-064A-D2F83F27F27C}"/>
              </a:ext>
            </a:extLst>
          </p:cNvPr>
          <p:cNvPicPr>
            <a:picLocks noChangeAspect="1"/>
          </p:cNvPicPr>
          <p:nvPr/>
        </p:nvPicPr>
        <p:blipFill>
          <a:blip r:embed="rId4"/>
          <a:stretch>
            <a:fillRect/>
          </a:stretch>
        </p:blipFill>
        <p:spPr>
          <a:xfrm>
            <a:off x="8523499" y="1790733"/>
            <a:ext cx="2778243" cy="2118850"/>
          </a:xfrm>
          <a:prstGeom prst="rect">
            <a:avLst/>
          </a:prstGeom>
        </p:spPr>
      </p:pic>
    </p:spTree>
    <p:extLst>
      <p:ext uri="{BB962C8B-B14F-4D97-AF65-F5344CB8AC3E}">
        <p14:creationId xmlns:p14="http://schemas.microsoft.com/office/powerpoint/2010/main" val="33927945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49</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19" y="1875565"/>
            <a:ext cx="6978481" cy="3912225"/>
          </a:xfrm>
          <a:prstGeom prst="rect">
            <a:avLst/>
          </a:prstGeom>
          <a:noFill/>
        </p:spPr>
        <p:txBody>
          <a:bodyPr wrap="square">
            <a:spAutoFit/>
          </a:bodyPr>
          <a:lstStyle/>
          <a:p>
            <a:pPr>
              <a:lnSpc>
                <a:spcPct val="150000"/>
              </a:lnSpc>
            </a:pPr>
            <a:r>
              <a:rPr lang="en-US" sz="2100" dirty="0">
                <a:latin typeface="Times New Roman" panose="02020603050405020304" pitchFamily="18" charset="0"/>
                <a:cs typeface="Times New Roman" panose="02020603050405020304" pitchFamily="18" charset="0"/>
              </a:rPr>
              <a:t>The 8051 microcontroller is built around an 8-bit Central Processing Unit (CPU) and includes several integrated components that make it a self-contained system on a chip (SoC). Here's a breakdown of its key architectural features:</a:t>
            </a:r>
          </a:p>
          <a:p>
            <a:pPr marL="342900" indent="-342900">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8-bit CPU</a:t>
            </a:r>
            <a:r>
              <a:rPr lang="en-US" sz="2100" dirty="0">
                <a:latin typeface="Times New Roman" panose="02020603050405020304" pitchFamily="18" charset="0"/>
                <a:cs typeface="Times New Roman" panose="02020603050405020304" pitchFamily="18" charset="0"/>
              </a:rPr>
              <a:t>:</a:t>
            </a:r>
          </a:p>
          <a:p>
            <a:pPr marL="800100" lvl="1" indent="-342900">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The CPU is the core of the 8051 and is responsible for executing instructions and controlling the operation of the microcontroller.</a:t>
            </a:r>
          </a:p>
        </p:txBody>
      </p:sp>
      <p:sp>
        <p:nvSpPr>
          <p:cNvPr id="7" name="TextBox 6">
            <a:extLst>
              <a:ext uri="{FF2B5EF4-FFF2-40B4-BE49-F238E27FC236}">
                <a16:creationId xmlns:a16="http://schemas.microsoft.com/office/drawing/2014/main" xmlns="" id="{8F0FD7BA-1379-3787-FD96-632BA4C39924}"/>
              </a:ext>
            </a:extLst>
          </p:cNvPr>
          <p:cNvSpPr txBox="1"/>
          <p:nvPr/>
        </p:nvSpPr>
        <p:spPr>
          <a:xfrm>
            <a:off x="-46859" y="1339900"/>
            <a:ext cx="8723597" cy="1003736"/>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7. 8-bit Microcontroller Unit - </a:t>
            </a:r>
            <a:r>
              <a:rPr lang="en-US" sz="2100" b="1" dirty="0">
                <a:latin typeface="Times New Roman" panose="02020603050405020304" pitchFamily="18" charset="0"/>
                <a:cs typeface="Times New Roman" panose="02020603050405020304" pitchFamily="18" charset="0"/>
              </a:rPr>
              <a:t>Architecture of the 8051</a:t>
            </a:r>
          </a:p>
          <a:p>
            <a:pPr algn="just">
              <a:lnSpc>
                <a:spcPct val="150000"/>
              </a:lnSpc>
            </a:pPr>
            <a:endParaRPr lang="en-US" sz="2100" b="1" i="1" dirty="0">
              <a:solidFill>
                <a:srgbClr val="C00000"/>
              </a:solidFill>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pic>
        <p:nvPicPr>
          <p:cNvPr id="2050" name="Picture 2">
            <a:extLst>
              <a:ext uri="{FF2B5EF4-FFF2-40B4-BE49-F238E27FC236}">
                <a16:creationId xmlns:a16="http://schemas.microsoft.com/office/drawing/2014/main" xmlns="" id="{790D6AC3-73A2-6B9C-5714-DE311FD29C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39759" y="2191271"/>
            <a:ext cx="5632801" cy="3218743"/>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xmlns="" id="{EF316711-E391-7EE7-6093-8E4BB1E4EDC9}"/>
              </a:ext>
            </a:extLst>
          </p:cNvPr>
          <p:cNvSpPr txBox="1"/>
          <p:nvPr/>
        </p:nvSpPr>
        <p:spPr>
          <a:xfrm>
            <a:off x="-158621" y="5679516"/>
            <a:ext cx="12213771" cy="1003736"/>
          </a:xfrm>
          <a:prstGeom prst="rect">
            <a:avLst/>
          </a:prstGeom>
          <a:noFill/>
        </p:spPr>
        <p:txBody>
          <a:bodyPr wrap="square">
            <a:spAutoFit/>
          </a:bodyPr>
          <a:lstStyle/>
          <a:p>
            <a:pPr marL="800100" lvl="1" indent="-342900">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Being an 8-bit processor, the 8051 handles data in 8-bit chunks, meaning it can process 8 bits of data at a time. This is suitable for many control-oriented applications.</a:t>
            </a:r>
          </a:p>
        </p:txBody>
      </p:sp>
    </p:spTree>
    <p:extLst>
      <p:ext uri="{BB962C8B-B14F-4D97-AF65-F5344CB8AC3E}">
        <p14:creationId xmlns:p14="http://schemas.microsoft.com/office/powerpoint/2010/main" val="1368585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50</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xmlns="" id="{CFD97008-16FF-6B2E-36D6-5AC8CB2397F4}"/>
              </a:ext>
            </a:extLst>
          </p:cNvPr>
          <p:cNvSpPr txBox="1"/>
          <p:nvPr/>
        </p:nvSpPr>
        <p:spPr>
          <a:xfrm>
            <a:off x="-158619" y="1875565"/>
            <a:ext cx="12139125" cy="4881721"/>
          </a:xfrm>
          <a:prstGeom prst="rect">
            <a:avLst/>
          </a:prstGeom>
          <a:noFill/>
        </p:spPr>
        <p:txBody>
          <a:bodyPr wrap="square">
            <a:spAutoFit/>
          </a:bodyPr>
          <a:lstStyle/>
          <a:p>
            <a:pPr algn="just">
              <a:lnSpc>
                <a:spcPct val="150000"/>
              </a:lnSpc>
            </a:pPr>
            <a:r>
              <a:rPr lang="en-US" sz="2100" b="1" dirty="0">
                <a:latin typeface="Times New Roman" panose="02020603050405020304" pitchFamily="18" charset="0"/>
                <a:cs typeface="Times New Roman" panose="02020603050405020304" pitchFamily="18" charset="0"/>
              </a:rPr>
              <a:t>Memory</a:t>
            </a:r>
            <a:r>
              <a:rPr lang="en-US" sz="2100" dirty="0">
                <a:latin typeface="Times New Roman" panose="02020603050405020304" pitchFamily="18" charset="0"/>
                <a:cs typeface="Times New Roman" panose="02020603050405020304" pitchFamily="18" charset="0"/>
              </a:rPr>
              <a:t>:</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ROM (Read-Only Memory)</a:t>
            </a:r>
            <a:r>
              <a:rPr lang="en-US" sz="2100" dirty="0">
                <a:latin typeface="Times New Roman" panose="02020603050405020304" pitchFamily="18" charset="0"/>
                <a:cs typeface="Times New Roman" panose="02020603050405020304" pitchFamily="18" charset="0"/>
              </a:rPr>
              <a:t>: The 8051 typically includes 4KB of on-chip ROM, which is used to store the program code permanently. This program is written by the developer and is executed by the CPU when the microcontroller is powered on.</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RAM (Random Access Memory)</a:t>
            </a:r>
            <a:r>
              <a:rPr lang="en-US" sz="2100" dirty="0">
                <a:latin typeface="Times New Roman" panose="02020603050405020304" pitchFamily="18" charset="0"/>
                <a:cs typeface="Times New Roman" panose="02020603050405020304" pitchFamily="18" charset="0"/>
              </a:rPr>
              <a:t>: The 8051 has 128 bytes of on-chip RAM for temporary data storage during operation. This RAM is used to store variables, temporary data, and the stack (a special area for managing function calls and local variables).</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External Memory</a:t>
            </a:r>
            <a:r>
              <a:rPr lang="en-US" sz="2100" dirty="0">
                <a:latin typeface="Times New Roman" panose="02020603050405020304" pitchFamily="18" charset="0"/>
                <a:cs typeface="Times New Roman" panose="02020603050405020304" pitchFamily="18" charset="0"/>
              </a:rPr>
              <a:t>: The 8051 can also interface with external memory if the internal memory is insufficient for the application. The address bus is 16 bits wide, allowing the microcontroller to access up to 64KB of external memory.</a:t>
            </a:r>
          </a:p>
        </p:txBody>
      </p:sp>
      <p:sp>
        <p:nvSpPr>
          <p:cNvPr id="7" name="TextBox 6">
            <a:extLst>
              <a:ext uri="{FF2B5EF4-FFF2-40B4-BE49-F238E27FC236}">
                <a16:creationId xmlns:a16="http://schemas.microsoft.com/office/drawing/2014/main" xmlns="" id="{8F0FD7BA-1379-3787-FD96-632BA4C39924}"/>
              </a:ext>
            </a:extLst>
          </p:cNvPr>
          <p:cNvSpPr txBox="1"/>
          <p:nvPr/>
        </p:nvSpPr>
        <p:spPr>
          <a:xfrm>
            <a:off x="-46859" y="1339900"/>
            <a:ext cx="8723597" cy="1003736"/>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7. 8-bit Microcontroller Unit - </a:t>
            </a:r>
            <a:r>
              <a:rPr lang="en-US" sz="2100" b="1" dirty="0">
                <a:latin typeface="Times New Roman" panose="02020603050405020304" pitchFamily="18" charset="0"/>
                <a:cs typeface="Times New Roman" panose="02020603050405020304" pitchFamily="18" charset="0"/>
              </a:rPr>
              <a:t>Architecture of the 8051</a:t>
            </a:r>
          </a:p>
          <a:p>
            <a:pPr algn="just">
              <a:lnSpc>
                <a:spcPct val="150000"/>
              </a:lnSpc>
            </a:pPr>
            <a:endParaRPr lang="en-US" sz="2100" b="1" i="1" dirty="0">
              <a:solidFill>
                <a:srgbClr val="C00000"/>
              </a:solidFill>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04287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51</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xmlns="" id="{8F0FD7BA-1379-3787-FD96-632BA4C39924}"/>
              </a:ext>
            </a:extLst>
          </p:cNvPr>
          <p:cNvSpPr txBox="1"/>
          <p:nvPr/>
        </p:nvSpPr>
        <p:spPr>
          <a:xfrm>
            <a:off x="-46859" y="1339900"/>
            <a:ext cx="8723597" cy="1003736"/>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7. 8-bit Microcontroller Unit - </a:t>
            </a:r>
            <a:r>
              <a:rPr lang="en-US" sz="2100" b="1" dirty="0">
                <a:latin typeface="Times New Roman" panose="02020603050405020304" pitchFamily="18" charset="0"/>
                <a:cs typeface="Times New Roman" panose="02020603050405020304" pitchFamily="18" charset="0"/>
              </a:rPr>
              <a:t>Architecture of the 8051</a:t>
            </a:r>
          </a:p>
          <a:p>
            <a:pPr algn="just">
              <a:lnSpc>
                <a:spcPct val="150000"/>
              </a:lnSpc>
            </a:pPr>
            <a:endParaRPr lang="en-US" sz="2100" b="1" i="1" dirty="0">
              <a:solidFill>
                <a:srgbClr val="C00000"/>
              </a:solidFill>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xmlns="" id="{01AD48AB-4EB3-2B3E-F328-99A2BCEEE137}"/>
              </a:ext>
            </a:extLst>
          </p:cNvPr>
          <p:cNvSpPr txBox="1"/>
          <p:nvPr/>
        </p:nvSpPr>
        <p:spPr>
          <a:xfrm>
            <a:off x="1" y="1796083"/>
            <a:ext cx="6246535" cy="4881721"/>
          </a:xfrm>
          <a:prstGeom prst="rect">
            <a:avLst/>
          </a:prstGeom>
          <a:noFill/>
        </p:spPr>
        <p:txBody>
          <a:bodyPr wrap="square">
            <a:spAutoFit/>
          </a:bodyPr>
          <a:lstStyle/>
          <a:p>
            <a:pPr algn="just">
              <a:lnSpc>
                <a:spcPct val="150000"/>
              </a:lnSpc>
            </a:pPr>
            <a:r>
              <a:rPr lang="en-US" sz="2100" b="1" dirty="0">
                <a:latin typeface="Times New Roman" panose="02020603050405020304" pitchFamily="18" charset="0"/>
                <a:cs typeface="Times New Roman" panose="02020603050405020304" pitchFamily="18" charset="0"/>
              </a:rPr>
              <a:t>Input/Output Ports</a:t>
            </a:r>
            <a:r>
              <a:rPr lang="en-US" sz="2100" dirty="0">
                <a:latin typeface="Times New Roman" panose="02020603050405020304" pitchFamily="18" charset="0"/>
                <a:cs typeface="Times New Roman" panose="02020603050405020304" pitchFamily="18" charset="0"/>
              </a:rPr>
              <a:t>:</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The 8051 has four general-purpose input/output (I/O) ports named P0, P1, P2, and P3. Each port is 8 bits wide, meaning it consists of 8 pins that can be used as inputs or outputs.</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These ports allow the 8051 to interface with external devices such as sensors, actuators, displays, and other peripherals. For example, Port 0 (P0) can be used as both a data bus for external memory and as general-purpose I/O.</a:t>
            </a:r>
          </a:p>
        </p:txBody>
      </p:sp>
      <p:pic>
        <p:nvPicPr>
          <p:cNvPr id="23" name="Picture 22">
            <a:extLst>
              <a:ext uri="{FF2B5EF4-FFF2-40B4-BE49-F238E27FC236}">
                <a16:creationId xmlns:a16="http://schemas.microsoft.com/office/drawing/2014/main" xmlns="" id="{48EF7CBE-229A-C102-EB12-1D7220680B50}"/>
              </a:ext>
            </a:extLst>
          </p:cNvPr>
          <p:cNvPicPr>
            <a:picLocks noChangeAspect="1"/>
          </p:cNvPicPr>
          <p:nvPr/>
        </p:nvPicPr>
        <p:blipFill>
          <a:blip r:embed="rId3"/>
          <a:stretch>
            <a:fillRect/>
          </a:stretch>
        </p:blipFill>
        <p:spPr>
          <a:xfrm>
            <a:off x="6246536" y="1942390"/>
            <a:ext cx="5992323" cy="3015617"/>
          </a:xfrm>
          <a:prstGeom prst="rect">
            <a:avLst/>
          </a:prstGeom>
        </p:spPr>
      </p:pic>
    </p:spTree>
    <p:extLst>
      <p:ext uri="{BB962C8B-B14F-4D97-AF65-F5344CB8AC3E}">
        <p14:creationId xmlns:p14="http://schemas.microsoft.com/office/powerpoint/2010/main" val="40510041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52</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xmlns="" id="{8F0FD7BA-1379-3787-FD96-632BA4C39924}"/>
              </a:ext>
            </a:extLst>
          </p:cNvPr>
          <p:cNvSpPr txBox="1"/>
          <p:nvPr/>
        </p:nvSpPr>
        <p:spPr>
          <a:xfrm>
            <a:off x="-46859" y="1339900"/>
            <a:ext cx="8723597" cy="1003736"/>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7. 8-bit Microcontroller Unit - </a:t>
            </a:r>
            <a:r>
              <a:rPr lang="en-US" sz="2100" b="1" dirty="0">
                <a:latin typeface="Times New Roman" panose="02020603050405020304" pitchFamily="18" charset="0"/>
                <a:cs typeface="Times New Roman" panose="02020603050405020304" pitchFamily="18" charset="0"/>
              </a:rPr>
              <a:t>Architecture of the 8051</a:t>
            </a:r>
          </a:p>
          <a:p>
            <a:pPr algn="just">
              <a:lnSpc>
                <a:spcPct val="150000"/>
              </a:lnSpc>
            </a:pPr>
            <a:endParaRPr lang="en-US" sz="2100" b="1" i="1" dirty="0">
              <a:solidFill>
                <a:srgbClr val="C00000"/>
              </a:solidFill>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xmlns="" id="{14519B9D-48D9-81E8-A939-BA2EC556A198}"/>
              </a:ext>
            </a:extLst>
          </p:cNvPr>
          <p:cNvSpPr txBox="1"/>
          <p:nvPr/>
        </p:nvSpPr>
        <p:spPr>
          <a:xfrm>
            <a:off x="-46859" y="1863013"/>
            <a:ext cx="12192000" cy="2457981"/>
          </a:xfrm>
          <a:prstGeom prst="rect">
            <a:avLst/>
          </a:prstGeom>
          <a:noFill/>
        </p:spPr>
        <p:txBody>
          <a:bodyPr wrap="square">
            <a:spAutoFit/>
          </a:bodyPr>
          <a:lstStyle/>
          <a:p>
            <a:pPr algn="just">
              <a:lnSpc>
                <a:spcPct val="150000"/>
              </a:lnSpc>
            </a:pPr>
            <a:r>
              <a:rPr lang="en-US" sz="2100" b="1" dirty="0">
                <a:latin typeface="Times New Roman" panose="02020603050405020304" pitchFamily="18" charset="0"/>
                <a:cs typeface="Times New Roman" panose="02020603050405020304" pitchFamily="18" charset="0"/>
              </a:rPr>
              <a:t>Timers and Counters</a:t>
            </a:r>
            <a:r>
              <a:rPr lang="en-US" sz="2100" dirty="0">
                <a:latin typeface="Times New Roman" panose="02020603050405020304" pitchFamily="18" charset="0"/>
                <a:cs typeface="Times New Roman" panose="02020603050405020304" pitchFamily="18" charset="0"/>
              </a:rPr>
              <a:t>:</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The 8051 includes two 16-bit timers/counters, named Timer 0 and Timer 1. These can be used to generate time delays, measure time intervals, or count events.</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Timers are crucial for tasks that require precise timing, such as generating PWM signals for motor control or managing communication protocols.</a:t>
            </a:r>
          </a:p>
        </p:txBody>
      </p:sp>
      <p:sp>
        <p:nvSpPr>
          <p:cNvPr id="8" name="TextBox 7">
            <a:extLst>
              <a:ext uri="{FF2B5EF4-FFF2-40B4-BE49-F238E27FC236}">
                <a16:creationId xmlns:a16="http://schemas.microsoft.com/office/drawing/2014/main" xmlns="" id="{BBA9876B-3361-F6AA-6292-868D3CF5D2FB}"/>
              </a:ext>
            </a:extLst>
          </p:cNvPr>
          <p:cNvSpPr txBox="1"/>
          <p:nvPr/>
        </p:nvSpPr>
        <p:spPr>
          <a:xfrm>
            <a:off x="-46859" y="4250613"/>
            <a:ext cx="12153627" cy="2457981"/>
          </a:xfrm>
          <a:prstGeom prst="rect">
            <a:avLst/>
          </a:prstGeom>
          <a:noFill/>
        </p:spPr>
        <p:txBody>
          <a:bodyPr wrap="square">
            <a:spAutoFit/>
          </a:bodyPr>
          <a:lstStyle/>
          <a:p>
            <a:pPr algn="just">
              <a:lnSpc>
                <a:spcPct val="150000"/>
              </a:lnSpc>
            </a:pPr>
            <a:r>
              <a:rPr lang="en-US" sz="2100" b="1" dirty="0">
                <a:latin typeface="Times New Roman" panose="02020603050405020304" pitchFamily="18" charset="0"/>
                <a:cs typeface="Times New Roman" panose="02020603050405020304" pitchFamily="18" charset="0"/>
              </a:rPr>
              <a:t>Serial Communication</a:t>
            </a:r>
            <a:r>
              <a:rPr lang="en-US" sz="2100" dirty="0">
                <a:latin typeface="Times New Roman" panose="02020603050405020304" pitchFamily="18" charset="0"/>
                <a:cs typeface="Times New Roman" panose="02020603050405020304" pitchFamily="18" charset="0"/>
              </a:rPr>
              <a:t>:</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The 8051 has an integrated UART (Universal Asynchronous Receiver/Transmitter) for serial communication, allowing it to send and receive data over serial lines.</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This feature is useful for connecting the 8051 to other microcontrollers, computers, or communication devices like modems.</a:t>
            </a:r>
          </a:p>
        </p:txBody>
      </p:sp>
    </p:spTree>
    <p:extLst>
      <p:ext uri="{BB962C8B-B14F-4D97-AF65-F5344CB8AC3E}">
        <p14:creationId xmlns:p14="http://schemas.microsoft.com/office/powerpoint/2010/main" val="38142319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53</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xmlns="" id="{8F0FD7BA-1379-3787-FD96-632BA4C39924}"/>
              </a:ext>
            </a:extLst>
          </p:cNvPr>
          <p:cNvSpPr txBox="1"/>
          <p:nvPr/>
        </p:nvSpPr>
        <p:spPr>
          <a:xfrm>
            <a:off x="-46859" y="1339900"/>
            <a:ext cx="8723597" cy="1003736"/>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7. 8-bit Microcontroller Unit - </a:t>
            </a:r>
            <a:r>
              <a:rPr lang="en-US" sz="2100" b="1" dirty="0">
                <a:latin typeface="Times New Roman" panose="02020603050405020304" pitchFamily="18" charset="0"/>
                <a:cs typeface="Times New Roman" panose="02020603050405020304" pitchFamily="18" charset="0"/>
              </a:rPr>
              <a:t>Architecture of the 8051</a:t>
            </a:r>
          </a:p>
          <a:p>
            <a:pPr algn="just">
              <a:lnSpc>
                <a:spcPct val="150000"/>
              </a:lnSpc>
            </a:pPr>
            <a:endParaRPr lang="en-US" sz="2100" b="1" i="1" dirty="0">
              <a:solidFill>
                <a:srgbClr val="C00000"/>
              </a:solidFill>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xmlns="" id="{14519B9D-48D9-81E8-A939-BA2EC556A198}"/>
              </a:ext>
            </a:extLst>
          </p:cNvPr>
          <p:cNvSpPr txBox="1"/>
          <p:nvPr/>
        </p:nvSpPr>
        <p:spPr>
          <a:xfrm>
            <a:off x="-46859" y="1743847"/>
            <a:ext cx="12192000" cy="2457981"/>
          </a:xfrm>
          <a:prstGeom prst="rect">
            <a:avLst/>
          </a:prstGeom>
          <a:noFill/>
        </p:spPr>
        <p:txBody>
          <a:bodyPr wrap="square">
            <a:spAutoFit/>
          </a:bodyPr>
          <a:lstStyle/>
          <a:p>
            <a:pPr algn="just">
              <a:lnSpc>
                <a:spcPct val="150000"/>
              </a:lnSpc>
            </a:pPr>
            <a:r>
              <a:rPr lang="en-US" sz="2100" b="1" dirty="0">
                <a:latin typeface="Times New Roman" panose="02020603050405020304" pitchFamily="18" charset="0"/>
                <a:cs typeface="Times New Roman" panose="02020603050405020304" pitchFamily="18" charset="0"/>
              </a:rPr>
              <a:t>Interrupt System</a:t>
            </a:r>
            <a:r>
              <a:rPr lang="en-US" sz="2100" dirty="0">
                <a:latin typeface="Times New Roman" panose="02020603050405020304" pitchFamily="18" charset="0"/>
                <a:cs typeface="Times New Roman" panose="02020603050405020304" pitchFamily="18" charset="0"/>
              </a:rPr>
              <a:t>:</a:t>
            </a:r>
          </a:p>
          <a:p>
            <a:pPr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The 8051 supports five interrupt sources: two external interrupts (INT0 and INT1), two timer interrupts (Timer 0 and Timer 1), and one serial communication interrupt.</a:t>
            </a:r>
          </a:p>
          <a:p>
            <a:pPr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Interrupts allow the 8051 to respond quickly to important events, such as a signal from a sensor or data arriving on a communication line, without constantly checking for these events in the main program (polling).</a:t>
            </a:r>
          </a:p>
        </p:txBody>
      </p:sp>
      <p:sp>
        <p:nvSpPr>
          <p:cNvPr id="8" name="TextBox 7">
            <a:extLst>
              <a:ext uri="{FF2B5EF4-FFF2-40B4-BE49-F238E27FC236}">
                <a16:creationId xmlns:a16="http://schemas.microsoft.com/office/drawing/2014/main" xmlns="" id="{01AD48AB-4EB3-2B3E-F328-99A2BCEEE137}"/>
              </a:ext>
            </a:extLst>
          </p:cNvPr>
          <p:cNvSpPr txBox="1"/>
          <p:nvPr/>
        </p:nvSpPr>
        <p:spPr>
          <a:xfrm>
            <a:off x="-27673" y="4131447"/>
            <a:ext cx="12153627" cy="2457981"/>
          </a:xfrm>
          <a:prstGeom prst="rect">
            <a:avLst/>
          </a:prstGeom>
          <a:noFill/>
        </p:spPr>
        <p:txBody>
          <a:bodyPr wrap="square">
            <a:spAutoFit/>
          </a:bodyPr>
          <a:lstStyle/>
          <a:p>
            <a:pPr algn="just">
              <a:lnSpc>
                <a:spcPct val="150000"/>
              </a:lnSpc>
            </a:pPr>
            <a:r>
              <a:rPr lang="en-US" sz="2100" b="1" dirty="0">
                <a:latin typeface="Times New Roman" panose="02020603050405020304" pitchFamily="18" charset="0"/>
                <a:cs typeface="Times New Roman" panose="02020603050405020304" pitchFamily="18" charset="0"/>
              </a:rPr>
              <a:t>Special Function Registers (SFRs)</a:t>
            </a:r>
            <a:r>
              <a:rPr lang="en-US" sz="2100" dirty="0">
                <a:latin typeface="Times New Roman" panose="02020603050405020304" pitchFamily="18" charset="0"/>
                <a:cs typeface="Times New Roman" panose="02020603050405020304" pitchFamily="18" charset="0"/>
              </a:rPr>
              <a:t>:</a:t>
            </a:r>
          </a:p>
          <a:p>
            <a:pPr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The 8051 includes a set of Special Function Registers (SFRs) that control various aspects of the microcontroller's operation. These registers are used to configure the I/O ports, timers, serial communication, and other features.</a:t>
            </a:r>
          </a:p>
          <a:p>
            <a:pPr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SFRs are accessible by the CPU and are essential for programming the 8051 to perform specific tasks.</a:t>
            </a:r>
          </a:p>
        </p:txBody>
      </p:sp>
    </p:spTree>
    <p:extLst>
      <p:ext uri="{BB962C8B-B14F-4D97-AF65-F5344CB8AC3E}">
        <p14:creationId xmlns:p14="http://schemas.microsoft.com/office/powerpoint/2010/main" val="35805918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54</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xmlns="" id="{8F0FD7BA-1379-3787-FD96-632BA4C39924}"/>
              </a:ext>
            </a:extLst>
          </p:cNvPr>
          <p:cNvSpPr txBox="1"/>
          <p:nvPr/>
        </p:nvSpPr>
        <p:spPr>
          <a:xfrm>
            <a:off x="-46859" y="1031993"/>
            <a:ext cx="8723597" cy="1003736"/>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7. 8-bit Microcontroller Unit - </a:t>
            </a:r>
            <a:r>
              <a:rPr lang="en-US" sz="2100" b="1" dirty="0">
                <a:latin typeface="Times New Roman" panose="02020603050405020304" pitchFamily="18" charset="0"/>
                <a:cs typeface="Times New Roman" panose="02020603050405020304" pitchFamily="18" charset="0"/>
              </a:rPr>
              <a:t>Pin Configuration of the 8051</a:t>
            </a:r>
          </a:p>
          <a:p>
            <a:pPr algn="just">
              <a:lnSpc>
                <a:spcPct val="150000"/>
              </a:lnSpc>
            </a:pPr>
            <a:endParaRPr lang="en-US" sz="2100" b="1" i="1" dirty="0">
              <a:solidFill>
                <a:srgbClr val="C00000"/>
              </a:solidFill>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xmlns="" id="{53ABE6EB-2B3A-17FB-D60A-AAAB189CB0E0}"/>
              </a:ext>
            </a:extLst>
          </p:cNvPr>
          <p:cNvPicPr>
            <a:picLocks noChangeAspect="1"/>
          </p:cNvPicPr>
          <p:nvPr/>
        </p:nvPicPr>
        <p:blipFill>
          <a:blip r:embed="rId3"/>
          <a:stretch>
            <a:fillRect/>
          </a:stretch>
        </p:blipFill>
        <p:spPr>
          <a:xfrm>
            <a:off x="8146712" y="1664071"/>
            <a:ext cx="3892888" cy="5015422"/>
          </a:xfrm>
          <a:prstGeom prst="rect">
            <a:avLst/>
          </a:prstGeom>
        </p:spPr>
      </p:pic>
      <p:sp>
        <p:nvSpPr>
          <p:cNvPr id="11" name="TextBox 10">
            <a:extLst>
              <a:ext uri="{FF2B5EF4-FFF2-40B4-BE49-F238E27FC236}">
                <a16:creationId xmlns:a16="http://schemas.microsoft.com/office/drawing/2014/main" xmlns="" id="{B6F06132-77EF-1B24-FA31-1A70F402CEA6}"/>
              </a:ext>
            </a:extLst>
          </p:cNvPr>
          <p:cNvSpPr txBox="1"/>
          <p:nvPr/>
        </p:nvSpPr>
        <p:spPr>
          <a:xfrm>
            <a:off x="-24882" y="1430462"/>
            <a:ext cx="8042988" cy="5366469"/>
          </a:xfrm>
          <a:prstGeom prst="rect">
            <a:avLst/>
          </a:prstGeom>
          <a:noFill/>
        </p:spPr>
        <p:txBody>
          <a:bodyPr wrap="square">
            <a:spAutoFit/>
          </a:bodyPr>
          <a:lstStyle/>
          <a:p>
            <a:pPr>
              <a:lnSpc>
                <a:spcPct val="150000"/>
              </a:lnSpc>
            </a:pPr>
            <a:r>
              <a:rPr lang="en-US" sz="2100" dirty="0">
                <a:latin typeface="Times New Roman" panose="02020603050405020304" pitchFamily="18" charset="0"/>
                <a:cs typeface="Times New Roman" panose="02020603050405020304" pitchFamily="18" charset="0"/>
              </a:rPr>
              <a:t>The 8051 comes in a 40-pin Dual Inline Package (DIP), and each pin has a specific function. Here are the main pin functions:</a:t>
            </a:r>
          </a:p>
          <a:p>
            <a:pPr marL="342900" indent="-342900">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VCC and GND</a:t>
            </a:r>
            <a:r>
              <a:rPr lang="en-US" sz="2100" dirty="0">
                <a:latin typeface="Times New Roman" panose="02020603050405020304" pitchFamily="18" charset="0"/>
                <a:cs typeface="Times New Roman" panose="02020603050405020304" pitchFamily="18" charset="0"/>
              </a:rPr>
              <a:t>: Power supply pins. VCC is typically 5V, and GND is the ground.</a:t>
            </a:r>
          </a:p>
          <a:p>
            <a:pPr marL="342900" indent="-342900">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P0 (Port 0)</a:t>
            </a:r>
            <a:r>
              <a:rPr lang="en-US" sz="2100" dirty="0">
                <a:latin typeface="Times New Roman" panose="02020603050405020304" pitchFamily="18" charset="0"/>
                <a:cs typeface="Times New Roman" panose="02020603050405020304" pitchFamily="18" charset="0"/>
              </a:rPr>
              <a:t>: A dual-purpose port that can be used as an 8-bit general-purpose I/O port or as the lower 8 bits of the address/data bus when interfacing with external memory.</a:t>
            </a:r>
          </a:p>
          <a:p>
            <a:pPr marL="342900" indent="-342900">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P1 (Port 1)</a:t>
            </a:r>
            <a:r>
              <a:rPr lang="en-US" sz="2100" dirty="0">
                <a:latin typeface="Times New Roman" panose="02020603050405020304" pitchFamily="18" charset="0"/>
                <a:cs typeface="Times New Roman" panose="02020603050405020304" pitchFamily="18" charset="0"/>
              </a:rPr>
              <a:t>: An 8-bit general-purpose I/O port.</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P2 (Port 2)</a:t>
            </a:r>
            <a:r>
              <a:rPr lang="en-US" sz="2100" dirty="0">
                <a:latin typeface="Times New Roman" panose="02020603050405020304" pitchFamily="18" charset="0"/>
                <a:cs typeface="Times New Roman" panose="02020603050405020304" pitchFamily="18" charset="0"/>
              </a:rPr>
              <a:t>: A dual-purpose port that can be used as an 8-bit general-purpose I/O port or as the upper 8 bits of the address bus when interfacing with external memory.</a:t>
            </a:r>
          </a:p>
        </p:txBody>
      </p:sp>
    </p:spTree>
    <p:extLst>
      <p:ext uri="{BB962C8B-B14F-4D97-AF65-F5344CB8AC3E}">
        <p14:creationId xmlns:p14="http://schemas.microsoft.com/office/powerpoint/2010/main" val="15564670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55</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xmlns="" id="{8F0FD7BA-1379-3787-FD96-632BA4C39924}"/>
              </a:ext>
            </a:extLst>
          </p:cNvPr>
          <p:cNvSpPr txBox="1"/>
          <p:nvPr/>
        </p:nvSpPr>
        <p:spPr>
          <a:xfrm>
            <a:off x="-46859" y="1218603"/>
            <a:ext cx="8723597" cy="1003736"/>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7. 8-bit Microcontroller Unit - </a:t>
            </a:r>
            <a:r>
              <a:rPr lang="en-US" sz="2100" b="1" dirty="0">
                <a:latin typeface="Times New Roman" panose="02020603050405020304" pitchFamily="18" charset="0"/>
                <a:cs typeface="Times New Roman" panose="02020603050405020304" pitchFamily="18" charset="0"/>
              </a:rPr>
              <a:t>Pin Configuration of the 8051</a:t>
            </a:r>
          </a:p>
          <a:p>
            <a:pPr algn="just">
              <a:lnSpc>
                <a:spcPct val="150000"/>
              </a:lnSpc>
            </a:pPr>
            <a:endParaRPr lang="en-US" sz="2100" b="1" i="1" dirty="0">
              <a:solidFill>
                <a:srgbClr val="C00000"/>
              </a:solidFill>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xmlns="" id="{53ABE6EB-2B3A-17FB-D60A-AAAB189CB0E0}"/>
              </a:ext>
            </a:extLst>
          </p:cNvPr>
          <p:cNvPicPr>
            <a:picLocks noChangeAspect="1"/>
          </p:cNvPicPr>
          <p:nvPr/>
        </p:nvPicPr>
        <p:blipFill>
          <a:blip r:embed="rId3"/>
          <a:stretch>
            <a:fillRect/>
          </a:stretch>
        </p:blipFill>
        <p:spPr>
          <a:xfrm>
            <a:off x="8146712" y="1664071"/>
            <a:ext cx="3892888" cy="5015422"/>
          </a:xfrm>
          <a:prstGeom prst="rect">
            <a:avLst/>
          </a:prstGeom>
        </p:spPr>
      </p:pic>
      <p:sp>
        <p:nvSpPr>
          <p:cNvPr id="11" name="TextBox 10">
            <a:extLst>
              <a:ext uri="{FF2B5EF4-FFF2-40B4-BE49-F238E27FC236}">
                <a16:creationId xmlns:a16="http://schemas.microsoft.com/office/drawing/2014/main" xmlns="" id="{B6F06132-77EF-1B24-FA31-1A70F402CEA6}"/>
              </a:ext>
            </a:extLst>
          </p:cNvPr>
          <p:cNvSpPr txBox="1"/>
          <p:nvPr/>
        </p:nvSpPr>
        <p:spPr>
          <a:xfrm>
            <a:off x="-46859" y="1812165"/>
            <a:ext cx="8042988" cy="1488484"/>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P3 (Port 3)</a:t>
            </a:r>
            <a:r>
              <a:rPr lang="en-US" sz="2100" dirty="0">
                <a:latin typeface="Times New Roman" panose="02020603050405020304" pitchFamily="18" charset="0"/>
                <a:cs typeface="Times New Roman" panose="02020603050405020304" pitchFamily="18" charset="0"/>
              </a:rPr>
              <a:t>: An 8-bit general-purpose I/O port with additional functions like serial communication (RXD, TXD), external interrupts (INT0, INT1), and control signals for external memory (RD, WR).</a:t>
            </a:r>
          </a:p>
        </p:txBody>
      </p:sp>
    </p:spTree>
    <p:extLst>
      <p:ext uri="{BB962C8B-B14F-4D97-AF65-F5344CB8AC3E}">
        <p14:creationId xmlns:p14="http://schemas.microsoft.com/office/powerpoint/2010/main" val="201971524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56</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xmlns="" id="{8F0FD7BA-1379-3787-FD96-632BA4C39924}"/>
              </a:ext>
            </a:extLst>
          </p:cNvPr>
          <p:cNvSpPr txBox="1"/>
          <p:nvPr/>
        </p:nvSpPr>
        <p:spPr>
          <a:xfrm>
            <a:off x="-46859" y="1031987"/>
            <a:ext cx="8723597" cy="518988"/>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7. 8-bit Microcontroller Unit - </a:t>
            </a:r>
            <a:r>
              <a:rPr lang="en-US" sz="2100" b="1" dirty="0">
                <a:latin typeface="Times New Roman" panose="02020603050405020304" pitchFamily="18" charset="0"/>
                <a:cs typeface="Times New Roman" panose="02020603050405020304" pitchFamily="18" charset="0"/>
              </a:rPr>
              <a:t>Popular Applications of the 8051</a:t>
            </a: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xmlns="" id="{B6F06132-77EF-1B24-FA31-1A70F402CEA6}"/>
              </a:ext>
            </a:extLst>
          </p:cNvPr>
          <p:cNvSpPr txBox="1"/>
          <p:nvPr/>
        </p:nvSpPr>
        <p:spPr>
          <a:xfrm>
            <a:off x="-46860" y="1513577"/>
            <a:ext cx="12238859" cy="5366469"/>
          </a:xfrm>
          <a:prstGeom prst="rect">
            <a:avLst/>
          </a:prstGeom>
          <a:noFill/>
        </p:spPr>
        <p:txBody>
          <a:bodyPr wrap="square">
            <a:spAutoFit/>
          </a:bodyPr>
          <a:lstStyle/>
          <a:p>
            <a:pPr algn="just">
              <a:lnSpc>
                <a:spcPct val="150000"/>
              </a:lnSpc>
            </a:pPr>
            <a:r>
              <a:rPr lang="en-US" sz="2100" dirty="0">
                <a:latin typeface="Times New Roman" panose="02020603050405020304" pitchFamily="18" charset="0"/>
                <a:cs typeface="Times New Roman" panose="02020603050405020304" pitchFamily="18" charset="0"/>
              </a:rPr>
              <a:t>The 8051 is used in a wide range of applications due to its versatility and simplicity:</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Home Appliances</a:t>
            </a:r>
            <a:r>
              <a:rPr lang="en-US" sz="2100" dirty="0">
                <a:latin typeface="Times New Roman" panose="02020603050405020304" pitchFamily="18" charset="0"/>
                <a:cs typeface="Times New Roman" panose="02020603050405020304" pitchFamily="18" charset="0"/>
              </a:rPr>
              <a:t>: The 8051 is commonly found in devices like washing machines, microwave ovens, and air conditioners, where it controls functions like timing, motor control, and user interfaces.</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Industrial Automation</a:t>
            </a:r>
            <a:r>
              <a:rPr lang="en-US" sz="2100" dirty="0">
                <a:latin typeface="Times New Roman" panose="02020603050405020304" pitchFamily="18" charset="0"/>
                <a:cs typeface="Times New Roman" panose="02020603050405020304" pitchFamily="18" charset="0"/>
              </a:rPr>
              <a:t>: It is used in factory automation systems to control processes, manage sensors and actuators, and handle communication between different parts of a system.</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Automotive Systems</a:t>
            </a:r>
            <a:r>
              <a:rPr lang="en-US" sz="2100" dirty="0">
                <a:latin typeface="Times New Roman" panose="02020603050405020304" pitchFamily="18" charset="0"/>
                <a:cs typeface="Times New Roman" panose="02020603050405020304" pitchFamily="18" charset="0"/>
              </a:rPr>
              <a:t>: The 8051 is used in various vehicle subsystems, such as engine control, braking systems, and dashboard displays.</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Consumer Electronics</a:t>
            </a:r>
            <a:r>
              <a:rPr lang="en-US" sz="2100" dirty="0">
                <a:latin typeface="Times New Roman" panose="02020603050405020304" pitchFamily="18" charset="0"/>
                <a:cs typeface="Times New Roman" panose="02020603050405020304" pitchFamily="18" charset="0"/>
              </a:rPr>
              <a:t>: Devices like remote controls, calculators, and handheld gaming consoles often use the 8051 for processing user inputs and controlling outputs.</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Medical Devices</a:t>
            </a:r>
            <a:r>
              <a:rPr lang="en-US" sz="2100" dirty="0">
                <a:latin typeface="Times New Roman" panose="02020603050405020304" pitchFamily="18" charset="0"/>
                <a:cs typeface="Times New Roman" panose="02020603050405020304" pitchFamily="18" charset="0"/>
              </a:rPr>
              <a:t>: The 8051 is used in medical instruments for monitoring, data logging, and control tasks, such as in blood glucose meters or portable diagnostic tools.</a:t>
            </a:r>
          </a:p>
        </p:txBody>
      </p:sp>
    </p:spTree>
    <p:extLst>
      <p:ext uri="{BB962C8B-B14F-4D97-AF65-F5344CB8AC3E}">
        <p14:creationId xmlns:p14="http://schemas.microsoft.com/office/powerpoint/2010/main" val="377825836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57</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xmlns="" id="{8F0FD7BA-1379-3787-FD96-632BA4C39924}"/>
              </a:ext>
            </a:extLst>
          </p:cNvPr>
          <p:cNvSpPr txBox="1"/>
          <p:nvPr/>
        </p:nvSpPr>
        <p:spPr>
          <a:xfrm>
            <a:off x="-46859" y="1031987"/>
            <a:ext cx="8723597" cy="518988"/>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7. 8-bit Microcontroller Unit - </a:t>
            </a:r>
            <a:r>
              <a:rPr lang="en-US" sz="2100" b="1" dirty="0">
                <a:latin typeface="Times New Roman" panose="02020603050405020304" pitchFamily="18" charset="0"/>
                <a:cs typeface="Times New Roman" panose="02020603050405020304" pitchFamily="18" charset="0"/>
              </a:rPr>
              <a:t>Summary</a:t>
            </a: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xmlns="" id="{B6F06132-77EF-1B24-FA31-1A70F402CEA6}"/>
              </a:ext>
            </a:extLst>
          </p:cNvPr>
          <p:cNvSpPr txBox="1"/>
          <p:nvPr/>
        </p:nvSpPr>
        <p:spPr>
          <a:xfrm>
            <a:off x="-46860" y="1513577"/>
            <a:ext cx="12238859" cy="4396973"/>
          </a:xfrm>
          <a:prstGeom prst="rect">
            <a:avLst/>
          </a:prstGeom>
          <a:noFill/>
        </p:spPr>
        <p:txBody>
          <a:bodyPr wrap="square">
            <a:spAutoFit/>
          </a:bodyPr>
          <a:lstStyle/>
          <a:p>
            <a:pPr algn="just">
              <a:lnSpc>
                <a:spcPct val="150000"/>
              </a:lnSpc>
            </a:pPr>
            <a:r>
              <a:rPr lang="en-US" sz="2100" b="1" dirty="0">
                <a:latin typeface="Times New Roman" panose="02020603050405020304" pitchFamily="18" charset="0"/>
                <a:cs typeface="Times New Roman" panose="02020603050405020304" pitchFamily="18" charset="0"/>
              </a:rPr>
              <a:t>Summary</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The 8051 microcontroller is a powerful, flexible, and widely-used 8-bit MCU that has become a standard in embedded systems. </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Its architecture includes a CPU, memory, I/O ports, timers, serial communication, and an interrupt system, all integrated into a single chip. </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This makes it ideal for a wide variety of applications, from simple home appliances to complex industrial control systems. </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Despite being developed decades ago, the 8051 remains relevant and is still widely used due to its simplicity, reliability, and the vast ecosystem of tools and resources available for it.</a:t>
            </a:r>
          </a:p>
        </p:txBody>
      </p:sp>
    </p:spTree>
    <p:extLst>
      <p:ext uri="{BB962C8B-B14F-4D97-AF65-F5344CB8AC3E}">
        <p14:creationId xmlns:p14="http://schemas.microsoft.com/office/powerpoint/2010/main" val="30290144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58</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xmlns="" id="{8F0FD7BA-1379-3787-FD96-632BA4C39924}"/>
              </a:ext>
            </a:extLst>
          </p:cNvPr>
          <p:cNvSpPr txBox="1"/>
          <p:nvPr/>
        </p:nvSpPr>
        <p:spPr>
          <a:xfrm>
            <a:off x="-46859" y="1031987"/>
            <a:ext cx="8723597" cy="518988"/>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8. Arduino Uno – </a:t>
            </a:r>
            <a:r>
              <a:rPr lang="en-US" sz="2100" b="1" dirty="0">
                <a:latin typeface="Times New Roman" panose="02020603050405020304" pitchFamily="18" charset="0"/>
                <a:cs typeface="Times New Roman" panose="02020603050405020304" pitchFamily="18" charset="0"/>
              </a:rPr>
              <a:t>8 bit MCU</a:t>
            </a: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xmlns="" id="{B6F06132-77EF-1B24-FA31-1A70F402CEA6}"/>
              </a:ext>
            </a:extLst>
          </p:cNvPr>
          <p:cNvSpPr txBox="1"/>
          <p:nvPr/>
        </p:nvSpPr>
        <p:spPr>
          <a:xfrm>
            <a:off x="-46860" y="1513577"/>
            <a:ext cx="12238859" cy="5714128"/>
          </a:xfrm>
          <a:prstGeom prst="rect">
            <a:avLst/>
          </a:prstGeom>
          <a:noFill/>
        </p:spPr>
        <p:txBody>
          <a:bodyPr wrap="square">
            <a:spAutoFit/>
          </a:bodyPr>
          <a:lstStyle/>
          <a:p>
            <a:pPr algn="just">
              <a:lnSpc>
                <a:spcPct val="150000"/>
              </a:lnSpc>
            </a:pPr>
            <a:r>
              <a:rPr lang="en-US" sz="2050" dirty="0">
                <a:latin typeface="Times New Roman" panose="02020603050405020304" pitchFamily="18" charset="0"/>
                <a:cs typeface="Times New Roman" panose="02020603050405020304" pitchFamily="18" charset="0"/>
              </a:rPr>
              <a:t>The Arduino Uno, a widely used microcontroller board, is based on the ATmega328P microcontroller, which is an 8-bit MCU. Let's explore the bit architecture of the Arduino Uno in a similar manner to the previous classification:</a:t>
            </a:r>
          </a:p>
          <a:p>
            <a:pPr marL="342900" indent="-342900" algn="just">
              <a:lnSpc>
                <a:spcPct val="150000"/>
              </a:lnSpc>
              <a:buFont typeface="Arial" panose="020B0604020202020204" pitchFamily="34" charset="0"/>
              <a:buChar char="•"/>
            </a:pPr>
            <a:r>
              <a:rPr lang="en-US" sz="2050" b="1" dirty="0">
                <a:latin typeface="Times New Roman" panose="02020603050405020304" pitchFamily="18" charset="0"/>
                <a:cs typeface="Times New Roman" panose="02020603050405020304" pitchFamily="18" charset="0"/>
              </a:rPr>
              <a:t>Applications</a:t>
            </a:r>
            <a:r>
              <a:rPr lang="en-US" sz="2050" dirty="0">
                <a:latin typeface="Times New Roman" panose="02020603050405020304" pitchFamily="18" charset="0"/>
                <a:cs typeface="Times New Roman" panose="02020603050405020304" pitchFamily="18" charset="0"/>
              </a:rPr>
              <a:t>: The Arduino Uno is ideal for educational purposes, prototyping, and small-scale embedded systems. It is well-suited for moderately complex operations, such as reading sensor data, controlling motors, handling simple communications, and performing basic computations. Due to its user-friendly environment and extensive community support, the Arduino Uno is a popular choice for beginners and hobbyists.</a:t>
            </a:r>
          </a:p>
          <a:p>
            <a:pPr marL="342900" indent="-342900" algn="just">
              <a:lnSpc>
                <a:spcPct val="150000"/>
              </a:lnSpc>
              <a:buFont typeface="Arial" panose="020B0604020202020204" pitchFamily="34" charset="0"/>
              <a:buChar char="•"/>
            </a:pPr>
            <a:r>
              <a:rPr lang="en-US" sz="2050" b="1" dirty="0">
                <a:latin typeface="Times New Roman" panose="02020603050405020304" pitchFamily="18" charset="0"/>
                <a:cs typeface="Times New Roman" panose="02020603050405020304" pitchFamily="18" charset="0"/>
              </a:rPr>
              <a:t>Microcontroller</a:t>
            </a:r>
            <a:r>
              <a:rPr lang="en-US" sz="2050" dirty="0">
                <a:latin typeface="Times New Roman" panose="02020603050405020304" pitchFamily="18" charset="0"/>
                <a:cs typeface="Times New Roman" panose="02020603050405020304" pitchFamily="18" charset="0"/>
              </a:rPr>
              <a:t>: The Arduino Uno is powered by the ATmega328P microcontroller, which belongs to the AVR family of 8-bit MCUs.</a:t>
            </a:r>
          </a:p>
          <a:p>
            <a:pPr marL="342900" indent="-342900" algn="just">
              <a:lnSpc>
                <a:spcPct val="150000"/>
              </a:lnSpc>
              <a:buFont typeface="Arial" panose="020B0604020202020204" pitchFamily="34" charset="0"/>
              <a:buChar char="•"/>
            </a:pPr>
            <a:r>
              <a:rPr lang="en-US" sz="2050" b="1" dirty="0">
                <a:latin typeface="Times New Roman" panose="02020603050405020304" pitchFamily="18" charset="0"/>
                <a:cs typeface="Times New Roman" panose="02020603050405020304" pitchFamily="18" charset="0"/>
              </a:rPr>
              <a:t>Characteristics</a:t>
            </a:r>
            <a:r>
              <a:rPr lang="en-US" sz="2050" dirty="0">
                <a:latin typeface="Times New Roman" panose="02020603050405020304" pitchFamily="18" charset="0"/>
                <a:cs typeface="Times New Roman" panose="02020603050405020304" pitchFamily="18" charset="0"/>
              </a:rPr>
              <a:t>: As an 8-bit MCU, the ATmega328P processes 8 bits of data at a time, which is sufficient for many simple to moderately complex embedded applications. It offers a balance between performance and simplicity, making it accessible for a wide range of projects.</a:t>
            </a:r>
          </a:p>
          <a:p>
            <a:pPr algn="just">
              <a:lnSpc>
                <a:spcPct val="150000"/>
              </a:lnSpc>
            </a:pPr>
            <a:endParaRPr lang="en-US" sz="20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28538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59</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xmlns="" id="{8F0FD7BA-1379-3787-FD96-632BA4C39924}"/>
              </a:ext>
            </a:extLst>
          </p:cNvPr>
          <p:cNvSpPr txBox="1"/>
          <p:nvPr/>
        </p:nvSpPr>
        <p:spPr>
          <a:xfrm>
            <a:off x="-46859" y="1031987"/>
            <a:ext cx="8723597" cy="518988"/>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8. Arduino Uno – </a:t>
            </a:r>
            <a:r>
              <a:rPr lang="en-US" sz="2100" b="1" dirty="0">
                <a:latin typeface="Times New Roman" panose="02020603050405020304" pitchFamily="18" charset="0"/>
                <a:cs typeface="Times New Roman" panose="02020603050405020304" pitchFamily="18" charset="0"/>
              </a:rPr>
              <a:t>8 bit MCU</a:t>
            </a: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xmlns="" id="{B6F06132-77EF-1B24-FA31-1A70F402CEA6}"/>
              </a:ext>
            </a:extLst>
          </p:cNvPr>
          <p:cNvSpPr txBox="1"/>
          <p:nvPr/>
        </p:nvSpPr>
        <p:spPr>
          <a:xfrm>
            <a:off x="-46860" y="1513577"/>
            <a:ext cx="12238859" cy="4881721"/>
          </a:xfrm>
          <a:prstGeom prst="rect">
            <a:avLst/>
          </a:prstGeom>
          <a:noFill/>
        </p:spPr>
        <p:txBody>
          <a:bodyPr wrap="square">
            <a:spAutoFit/>
          </a:bodyPr>
          <a:lstStyle/>
          <a:p>
            <a:pPr algn="just">
              <a:lnSpc>
                <a:spcPct val="150000"/>
              </a:lnSpc>
            </a:pPr>
            <a:r>
              <a:rPr lang="en-US" sz="2100" b="1" dirty="0">
                <a:latin typeface="Times New Roman" panose="02020603050405020304" pitchFamily="18" charset="0"/>
                <a:cs typeface="Times New Roman" panose="02020603050405020304" pitchFamily="18" charset="0"/>
              </a:rPr>
              <a:t>Memory Space</a:t>
            </a:r>
            <a:r>
              <a:rPr lang="en-US" sz="2100" dirty="0">
                <a:latin typeface="Times New Roman" panose="02020603050405020304" pitchFamily="18" charset="0"/>
                <a:cs typeface="Times New Roman" panose="02020603050405020304" pitchFamily="18" charset="0"/>
              </a:rPr>
              <a:t>:</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Flash Memory (Program Memory)</a:t>
            </a:r>
            <a:r>
              <a:rPr lang="en-US" sz="2100" dirty="0">
                <a:latin typeface="Times New Roman" panose="02020603050405020304" pitchFamily="18" charset="0"/>
                <a:cs typeface="Times New Roman" panose="02020603050405020304" pitchFamily="18" charset="0"/>
              </a:rPr>
              <a:t>: The ATmega328P features 32 KB of Flash memory, which is used to store the program code. This amount of memory is adequate for many applications, allowing for the implementation of reasonably complex logic and control systems.</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SRAM (Data Memory)</a:t>
            </a:r>
            <a:r>
              <a:rPr lang="en-US" sz="2100" dirty="0">
                <a:latin typeface="Times New Roman" panose="02020603050405020304" pitchFamily="18" charset="0"/>
                <a:cs typeface="Times New Roman" panose="02020603050405020304" pitchFamily="18" charset="0"/>
              </a:rPr>
              <a:t>: The microcontroller includes 2 KB of SRAM, which is used for storing variables and temporary data during program execution. While this is a relatively small amount of memory, it is sufficient for handling the data requirements of many typical Arduino projects.</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EEPROM (Non-Volatile Memory)</a:t>
            </a:r>
            <a:r>
              <a:rPr lang="en-US" sz="2100" dirty="0">
                <a:latin typeface="Times New Roman" panose="02020603050405020304" pitchFamily="18" charset="0"/>
                <a:cs typeface="Times New Roman" panose="02020603050405020304" pitchFamily="18" charset="0"/>
              </a:rPr>
              <a:t>: The ATmega328P also includes 1 KB of EEPROM, which is used for storing data that needs to persist even when the power is turned off. This can be useful for saving settings or calibration data.</a:t>
            </a:r>
          </a:p>
        </p:txBody>
      </p:sp>
    </p:spTree>
    <p:extLst>
      <p:ext uri="{BB962C8B-B14F-4D97-AF65-F5344CB8AC3E}">
        <p14:creationId xmlns:p14="http://schemas.microsoft.com/office/powerpoint/2010/main" val="416006409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60</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xmlns="" id="{8F0FD7BA-1379-3787-FD96-632BA4C39924}"/>
              </a:ext>
            </a:extLst>
          </p:cNvPr>
          <p:cNvSpPr txBox="1"/>
          <p:nvPr/>
        </p:nvSpPr>
        <p:spPr>
          <a:xfrm>
            <a:off x="-46859" y="1031987"/>
            <a:ext cx="8723597" cy="518988"/>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8. Arduino Uno – </a:t>
            </a:r>
            <a:r>
              <a:rPr lang="en-US" sz="2100" b="1" dirty="0">
                <a:latin typeface="Times New Roman" panose="02020603050405020304" pitchFamily="18" charset="0"/>
                <a:cs typeface="Times New Roman" panose="02020603050405020304" pitchFamily="18" charset="0"/>
              </a:rPr>
              <a:t>8 bit MCU</a:t>
            </a: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xmlns="" id="{B6F06132-77EF-1B24-FA31-1A70F402CEA6}"/>
              </a:ext>
            </a:extLst>
          </p:cNvPr>
          <p:cNvSpPr txBox="1"/>
          <p:nvPr/>
        </p:nvSpPr>
        <p:spPr>
          <a:xfrm>
            <a:off x="-46860" y="1513577"/>
            <a:ext cx="12238859" cy="4396973"/>
          </a:xfrm>
          <a:prstGeom prst="rect">
            <a:avLst/>
          </a:prstGeom>
          <a:noFill/>
        </p:spPr>
        <p:txBody>
          <a:bodyPr wrap="square">
            <a:spAutoFit/>
          </a:bodyPr>
          <a:lstStyle/>
          <a:p>
            <a:pPr algn="just">
              <a:lnSpc>
                <a:spcPct val="150000"/>
              </a:lnSpc>
            </a:pPr>
            <a:r>
              <a:rPr lang="en-US" sz="2100" b="1" dirty="0">
                <a:latin typeface="Times New Roman" panose="02020603050405020304" pitchFamily="18" charset="0"/>
                <a:cs typeface="Times New Roman" panose="02020603050405020304" pitchFamily="18" charset="0"/>
              </a:rPr>
              <a:t>Comparison with Other 8-bit MCUs</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Memory Space</a:t>
            </a:r>
            <a:r>
              <a:rPr lang="en-US" sz="2100" dirty="0">
                <a:latin typeface="Times New Roman" panose="02020603050405020304" pitchFamily="18" charset="0"/>
                <a:cs typeface="Times New Roman" panose="02020603050405020304" pitchFamily="18" charset="0"/>
              </a:rPr>
              <a:t>: The Arduino Uno’s 32 KB of Flash memory is on the higher side for 8-bit MCUs, making it more capable than some older 8-bit MCUs like the 8051 family, which might have as little as 4 KB to 64 KB of Flash memory. The 2 KB of SRAM, however, is quite typical for 8-bit MCUs, providing sufficient space for handling variables and runtime data.</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Ease of Use</a:t>
            </a:r>
            <a:r>
              <a:rPr lang="en-US" sz="2100" dirty="0">
                <a:latin typeface="Times New Roman" panose="02020603050405020304" pitchFamily="18" charset="0"/>
                <a:cs typeface="Times New Roman" panose="02020603050405020304" pitchFamily="18" charset="0"/>
              </a:rPr>
              <a:t>: The Arduino ecosystem enhances the usability of the ATmega328P by providing a simplified development environment (Arduino IDE), a vast library of ready-to-use code, and extensive documentation. This makes the Arduino Uno a practical choice for beginners and hobbyists, even though it operates with an 8-bit architecture.</a:t>
            </a:r>
          </a:p>
        </p:txBody>
      </p:sp>
    </p:spTree>
    <p:extLst>
      <p:ext uri="{BB962C8B-B14F-4D97-AF65-F5344CB8AC3E}">
        <p14:creationId xmlns:p14="http://schemas.microsoft.com/office/powerpoint/2010/main" val="85321776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61</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xmlns="" id="{8F0FD7BA-1379-3787-FD96-632BA4C39924}"/>
              </a:ext>
            </a:extLst>
          </p:cNvPr>
          <p:cNvSpPr txBox="1"/>
          <p:nvPr/>
        </p:nvSpPr>
        <p:spPr>
          <a:xfrm>
            <a:off x="-46859" y="1031987"/>
            <a:ext cx="8723597" cy="518988"/>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8. Arduino Uno – </a:t>
            </a:r>
            <a:r>
              <a:rPr lang="en-US" sz="2100" b="1" dirty="0">
                <a:latin typeface="Times New Roman" panose="02020603050405020304" pitchFamily="18" charset="0"/>
                <a:cs typeface="Times New Roman" panose="02020603050405020304" pitchFamily="18" charset="0"/>
              </a:rPr>
              <a:t>8 bit MCU</a:t>
            </a: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xmlns="" id="{B6F06132-77EF-1B24-FA31-1A70F402CEA6}"/>
              </a:ext>
            </a:extLst>
          </p:cNvPr>
          <p:cNvSpPr txBox="1"/>
          <p:nvPr/>
        </p:nvSpPr>
        <p:spPr>
          <a:xfrm>
            <a:off x="-46860" y="1513577"/>
            <a:ext cx="12238859" cy="3912225"/>
          </a:xfrm>
          <a:prstGeom prst="rect">
            <a:avLst/>
          </a:prstGeom>
          <a:noFill/>
        </p:spPr>
        <p:txBody>
          <a:bodyPr wrap="square">
            <a:spAutoFit/>
          </a:bodyPr>
          <a:lstStyle/>
          <a:p>
            <a:pPr algn="just">
              <a:lnSpc>
                <a:spcPct val="150000"/>
              </a:lnSpc>
            </a:pPr>
            <a:r>
              <a:rPr lang="en-US" sz="2100" b="1" dirty="0">
                <a:latin typeface="Times New Roman" panose="02020603050405020304" pitchFamily="18" charset="0"/>
                <a:cs typeface="Times New Roman" panose="02020603050405020304" pitchFamily="18" charset="0"/>
              </a:rPr>
              <a:t>Applications and Limitations</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Applications</a:t>
            </a:r>
            <a:r>
              <a:rPr lang="en-US" sz="2100" dirty="0">
                <a:latin typeface="Times New Roman" panose="02020603050405020304" pitchFamily="18" charset="0"/>
                <a:cs typeface="Times New Roman" panose="02020603050405020304" pitchFamily="18" charset="0"/>
              </a:rPr>
              <a:t>: The Arduino Uno is commonly used in projects like home automation, robotics, sensor monitoring, and educational kits. Its 8-bit architecture, combined with the available memory, supports tasks like reading and writing digital and analog signals, basic communication protocols (I2C, SPI, UART), and simple decision-making processes.</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Limitations</a:t>
            </a:r>
            <a:r>
              <a:rPr lang="en-US" sz="2100" dirty="0">
                <a:latin typeface="Times New Roman" panose="02020603050405020304" pitchFamily="18" charset="0"/>
                <a:cs typeface="Times New Roman" panose="02020603050405020304" pitchFamily="18" charset="0"/>
              </a:rPr>
              <a:t>: Despite its versatility, the Arduino Uno’s 8-bit architecture and limited memory space restrict its ability to handle more complex tasks, such as image processing, high-speed data acquisition, or running large, sophisticated algorithms. For such applications, a 16-bit or 32-bit MCU would be more appropriate.</a:t>
            </a:r>
          </a:p>
        </p:txBody>
      </p:sp>
    </p:spTree>
    <p:extLst>
      <p:ext uri="{BB962C8B-B14F-4D97-AF65-F5344CB8AC3E}">
        <p14:creationId xmlns:p14="http://schemas.microsoft.com/office/powerpoint/2010/main" val="19707957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62</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xmlns="" id="{8F0FD7BA-1379-3787-FD96-632BA4C39924}"/>
              </a:ext>
            </a:extLst>
          </p:cNvPr>
          <p:cNvSpPr txBox="1"/>
          <p:nvPr/>
        </p:nvSpPr>
        <p:spPr>
          <a:xfrm>
            <a:off x="-46859" y="1031987"/>
            <a:ext cx="8723597" cy="518988"/>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8. Arduino Uno – </a:t>
            </a:r>
            <a:r>
              <a:rPr lang="en-US" sz="2100" b="1" dirty="0">
                <a:latin typeface="Times New Roman" panose="02020603050405020304" pitchFamily="18" charset="0"/>
                <a:cs typeface="Times New Roman" panose="02020603050405020304" pitchFamily="18" charset="0"/>
              </a:rPr>
              <a:t>8 bit MCU</a:t>
            </a: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xmlns="" id="{B6F06132-77EF-1B24-FA31-1A70F402CEA6}"/>
              </a:ext>
            </a:extLst>
          </p:cNvPr>
          <p:cNvSpPr txBox="1"/>
          <p:nvPr/>
        </p:nvSpPr>
        <p:spPr>
          <a:xfrm>
            <a:off x="-46860" y="1513577"/>
            <a:ext cx="12238859" cy="3427477"/>
          </a:xfrm>
          <a:prstGeom prst="rect">
            <a:avLst/>
          </a:prstGeom>
          <a:noFill/>
        </p:spPr>
        <p:txBody>
          <a:bodyPr wrap="square">
            <a:spAutoFit/>
          </a:bodyPr>
          <a:lstStyle/>
          <a:p>
            <a:pPr algn="just">
              <a:lnSpc>
                <a:spcPct val="150000"/>
              </a:lnSpc>
            </a:pPr>
            <a:r>
              <a:rPr lang="en-US" sz="2100" b="1" dirty="0">
                <a:latin typeface="Times New Roman" panose="02020603050405020304" pitchFamily="18" charset="0"/>
                <a:cs typeface="Times New Roman" panose="02020603050405020304" pitchFamily="18" charset="0"/>
              </a:rPr>
              <a:t>Summary</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In summary, the Arduino Uno, with its 8-bit ATmega328P microcontroller, is a robust and accessible platform for a wide range of embedded applications, especially where moderate complexity and ease of use are key considerations. </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Its memory space and processing capabilities are well-suited to many common tasks in the maker and educational communities, though it may fall short in handling more demanding applications that require higher data throughput or more extensive memory.</a:t>
            </a:r>
          </a:p>
        </p:txBody>
      </p:sp>
    </p:spTree>
    <p:extLst>
      <p:ext uri="{BB962C8B-B14F-4D97-AF65-F5344CB8AC3E}">
        <p14:creationId xmlns:p14="http://schemas.microsoft.com/office/powerpoint/2010/main" val="129241500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63</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xmlns="" id="{8F0FD7BA-1379-3787-FD96-632BA4C39924}"/>
              </a:ext>
            </a:extLst>
          </p:cNvPr>
          <p:cNvSpPr txBox="1"/>
          <p:nvPr/>
        </p:nvSpPr>
        <p:spPr>
          <a:xfrm>
            <a:off x="-46859" y="1031987"/>
            <a:ext cx="8723597" cy="518988"/>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8. Raspberry Pi </a:t>
            </a:r>
            <a:r>
              <a:rPr lang="en-US" sz="2100" b="1" dirty="0">
                <a:latin typeface="Times New Roman" panose="02020603050405020304" pitchFamily="18" charset="0"/>
                <a:cs typeface="Times New Roman" panose="02020603050405020304" pitchFamily="18" charset="0"/>
              </a:rPr>
              <a:t>(32-bit/64-bit SoC)</a:t>
            </a: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xmlns="" id="{B6F06132-77EF-1B24-FA31-1A70F402CEA6}"/>
              </a:ext>
            </a:extLst>
          </p:cNvPr>
          <p:cNvSpPr txBox="1"/>
          <p:nvPr/>
        </p:nvSpPr>
        <p:spPr>
          <a:xfrm>
            <a:off x="-46860" y="1513577"/>
            <a:ext cx="6666197" cy="5366469"/>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The Raspberry Pi is a series of small single-board computers that are much more powerful and versatile compared to microcontroller-based platforms like the Arduino. </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Unlike the Arduino Uno, which is based on an 8-bit microcontroller, the Raspberry Pi uses a 32-bit or 64-bit system-on-chip (SoC) with significantly greater processing power, memory, and capabilities. </a:t>
            </a:r>
          </a:p>
          <a:p>
            <a:pPr marL="342900"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Let’s explore the architecture and capabilities of the Raspberry Pi in the context of its bit architecture, similar to how we analyzed the Arduino Uno:</a:t>
            </a:r>
          </a:p>
        </p:txBody>
      </p:sp>
      <p:pic>
        <p:nvPicPr>
          <p:cNvPr id="20482" name="Picture 2">
            <a:extLst>
              <a:ext uri="{FF2B5EF4-FFF2-40B4-BE49-F238E27FC236}">
                <a16:creationId xmlns:a16="http://schemas.microsoft.com/office/drawing/2014/main" xmlns="" id="{6DE7B379-44BF-F0DE-40AE-953BE3FC14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1060" y="1122363"/>
            <a:ext cx="3917982" cy="2879823"/>
          </a:xfrm>
          <a:prstGeom prst="rect">
            <a:avLst/>
          </a:prstGeom>
          <a:noFill/>
          <a:extLst>
            <a:ext uri="{909E8E84-426E-40DD-AFC4-6F175D3DCCD1}">
              <a14:hiddenFill xmlns:a14="http://schemas.microsoft.com/office/drawing/2010/main">
                <a:solidFill>
                  <a:srgbClr val="FFFFFF"/>
                </a:solidFill>
              </a14:hiddenFill>
            </a:ext>
          </a:extLst>
        </p:spPr>
      </p:pic>
      <p:pic>
        <p:nvPicPr>
          <p:cNvPr id="20484" name="Picture 4">
            <a:extLst>
              <a:ext uri="{FF2B5EF4-FFF2-40B4-BE49-F238E27FC236}">
                <a16:creationId xmlns:a16="http://schemas.microsoft.com/office/drawing/2014/main" xmlns="" id="{50737A00-1F6C-3140-BFE9-940A1F34C55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305137" y="4029702"/>
            <a:ext cx="4068924" cy="26325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838797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64</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xmlns="" id="{8F0FD7BA-1379-3787-FD96-632BA4C39924}"/>
              </a:ext>
            </a:extLst>
          </p:cNvPr>
          <p:cNvSpPr txBox="1"/>
          <p:nvPr/>
        </p:nvSpPr>
        <p:spPr>
          <a:xfrm>
            <a:off x="-46859" y="1031987"/>
            <a:ext cx="8723597" cy="518988"/>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8. Raspberry Pi </a:t>
            </a:r>
            <a:r>
              <a:rPr lang="en-US" sz="2100" b="1" dirty="0">
                <a:latin typeface="Times New Roman" panose="02020603050405020304" pitchFamily="18" charset="0"/>
                <a:cs typeface="Times New Roman" panose="02020603050405020304" pitchFamily="18" charset="0"/>
              </a:rPr>
              <a:t>(32-bit/64-bit SoC)</a:t>
            </a: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xmlns="" id="{B6F06132-77EF-1B24-FA31-1A70F402CEA6}"/>
              </a:ext>
            </a:extLst>
          </p:cNvPr>
          <p:cNvSpPr txBox="1"/>
          <p:nvPr/>
        </p:nvSpPr>
        <p:spPr>
          <a:xfrm>
            <a:off x="-46860" y="1513577"/>
            <a:ext cx="12111342" cy="4396973"/>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Applications: </a:t>
            </a:r>
          </a:p>
          <a:p>
            <a:pPr marL="800100" lvl="1"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The Raspberry Pi is capable of running a full Linux operating system, making it suitable for a wide range of applications that go far beyond simple embedded systems. </a:t>
            </a:r>
          </a:p>
          <a:p>
            <a:pPr marL="800100" lvl="1"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These include desktop computing, software development, media centers, web servers, IoT applications, robotics, and more complex tasks like image processing, machine learning, and data analysis.</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System-on-Chip (SoC): </a:t>
            </a:r>
          </a:p>
          <a:p>
            <a:pPr marL="800100" lvl="1"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The core of most Raspberry Pi models is a Broadcom SoC, which typically includes a 32-bit ARM Cortex-A processor (in older models) or a 64-bit ARM Cortex-A72 processor (in more recent models like the Raspberry Pi 4).</a:t>
            </a:r>
          </a:p>
        </p:txBody>
      </p:sp>
    </p:spTree>
    <p:extLst>
      <p:ext uri="{BB962C8B-B14F-4D97-AF65-F5344CB8AC3E}">
        <p14:creationId xmlns:p14="http://schemas.microsoft.com/office/powerpoint/2010/main" val="62298392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65</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xmlns="" id="{8F0FD7BA-1379-3787-FD96-632BA4C39924}"/>
              </a:ext>
            </a:extLst>
          </p:cNvPr>
          <p:cNvSpPr txBox="1"/>
          <p:nvPr/>
        </p:nvSpPr>
        <p:spPr>
          <a:xfrm>
            <a:off x="-46859" y="1031987"/>
            <a:ext cx="8723597" cy="518988"/>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8. Raspberry Pi </a:t>
            </a:r>
            <a:r>
              <a:rPr lang="en-US" sz="2100" b="1" dirty="0">
                <a:latin typeface="Times New Roman" panose="02020603050405020304" pitchFamily="18" charset="0"/>
                <a:cs typeface="Times New Roman" panose="02020603050405020304" pitchFamily="18" charset="0"/>
              </a:rPr>
              <a:t>(32-bit/64-bit SoC)</a:t>
            </a: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xmlns="" id="{B6F06132-77EF-1B24-FA31-1A70F402CEA6}"/>
              </a:ext>
            </a:extLst>
          </p:cNvPr>
          <p:cNvSpPr txBox="1"/>
          <p:nvPr/>
        </p:nvSpPr>
        <p:spPr>
          <a:xfrm>
            <a:off x="-46859" y="1600200"/>
            <a:ext cx="12111342" cy="4396973"/>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Characteristics</a:t>
            </a:r>
            <a:r>
              <a:rPr lang="en-US" sz="2100" dirty="0">
                <a:latin typeface="Times New Roman" panose="02020603050405020304" pitchFamily="18" charset="0"/>
                <a:cs typeface="Times New Roman" panose="02020603050405020304" pitchFamily="18" charset="0"/>
              </a:rPr>
              <a:t>:</a:t>
            </a:r>
            <a:r>
              <a:rPr lang="en-US" sz="2100" b="1" dirty="0">
                <a:latin typeface="Times New Roman" panose="02020603050405020304" pitchFamily="18" charset="0"/>
                <a:cs typeface="Times New Roman" panose="02020603050405020304" pitchFamily="18" charset="0"/>
              </a:rPr>
              <a:t>32-bit/64-bit Architecture</a:t>
            </a:r>
            <a:r>
              <a:rPr lang="en-US" sz="2100" dirty="0">
                <a:latin typeface="Times New Roman" panose="02020603050405020304" pitchFamily="18" charset="0"/>
                <a:cs typeface="Times New Roman" panose="02020603050405020304" pitchFamily="18" charset="0"/>
              </a:rPr>
              <a:t>: </a:t>
            </a:r>
          </a:p>
          <a:p>
            <a:pPr marL="800100" lvl="1"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The ARM Cortex-A processors in Raspberry Pi devices can handle either 32-bit or 64-bit instructions, depending on the specific model and the operating system used. </a:t>
            </a:r>
          </a:p>
          <a:p>
            <a:pPr marL="800100" lvl="1"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This architecture enables the Raspberry Pi to perform complex computational tasks that are far beyond the capabilities of 8-bit microcontrollers.</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Multi-Core Processing</a:t>
            </a:r>
            <a:r>
              <a:rPr lang="en-US" sz="2100" dirty="0">
                <a:latin typeface="Times New Roman" panose="02020603050405020304" pitchFamily="18" charset="0"/>
                <a:cs typeface="Times New Roman" panose="02020603050405020304" pitchFamily="18" charset="0"/>
              </a:rPr>
              <a:t>: </a:t>
            </a:r>
          </a:p>
          <a:p>
            <a:pPr marL="800100" lvl="1"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Unlike microcontrollers, the Raspberry Pi typically features multi-core processors (e.g., a quad-core or even octa-core setup), allowing it to handle multiple tasks simultaneously, greatly increasing its versatility and performance.</a:t>
            </a:r>
          </a:p>
        </p:txBody>
      </p:sp>
    </p:spTree>
    <p:extLst>
      <p:ext uri="{BB962C8B-B14F-4D97-AF65-F5344CB8AC3E}">
        <p14:creationId xmlns:p14="http://schemas.microsoft.com/office/powerpoint/2010/main" val="26039851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66</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xmlns="" id="{8F0FD7BA-1379-3787-FD96-632BA4C39924}"/>
              </a:ext>
            </a:extLst>
          </p:cNvPr>
          <p:cNvSpPr txBox="1"/>
          <p:nvPr/>
        </p:nvSpPr>
        <p:spPr>
          <a:xfrm>
            <a:off x="-46859" y="1031987"/>
            <a:ext cx="8723597" cy="518988"/>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8. Raspberry Pi </a:t>
            </a:r>
            <a:r>
              <a:rPr lang="en-US" sz="2100" b="1" dirty="0">
                <a:latin typeface="Times New Roman" panose="02020603050405020304" pitchFamily="18" charset="0"/>
                <a:cs typeface="Times New Roman" panose="02020603050405020304" pitchFamily="18" charset="0"/>
              </a:rPr>
              <a:t>(32-bit/64-bit SoC)</a:t>
            </a: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xmlns="" id="{B6F06132-77EF-1B24-FA31-1A70F402CEA6}"/>
              </a:ext>
            </a:extLst>
          </p:cNvPr>
          <p:cNvSpPr txBox="1"/>
          <p:nvPr/>
        </p:nvSpPr>
        <p:spPr>
          <a:xfrm>
            <a:off x="-46859" y="1600200"/>
            <a:ext cx="12111342" cy="4881721"/>
          </a:xfrm>
          <a:prstGeom prst="rect">
            <a:avLst/>
          </a:prstGeom>
          <a:noFill/>
        </p:spPr>
        <p:txBody>
          <a:bodyPr wrap="square">
            <a:spAutoFit/>
          </a:bodyPr>
          <a:lstStyle/>
          <a:p>
            <a:pPr algn="just">
              <a:lnSpc>
                <a:spcPct val="150000"/>
              </a:lnSpc>
            </a:pPr>
            <a:r>
              <a:rPr lang="en-US" sz="2100" b="1" dirty="0">
                <a:latin typeface="Times New Roman" panose="02020603050405020304" pitchFamily="18" charset="0"/>
                <a:cs typeface="Times New Roman" panose="02020603050405020304" pitchFamily="18" charset="0"/>
              </a:rPr>
              <a:t>Memory Space:</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RAM</a:t>
            </a:r>
            <a:r>
              <a:rPr lang="en-US" sz="2100" dirty="0">
                <a:latin typeface="Times New Roman" panose="02020603050405020304" pitchFamily="18" charset="0"/>
                <a:cs typeface="Times New Roman" panose="02020603050405020304" pitchFamily="18" charset="0"/>
              </a:rPr>
              <a:t>: The Raspberry Pi models come with varying amounts of RAM, depending on the version:</a:t>
            </a:r>
          </a:p>
          <a:p>
            <a:pPr marL="800100" lvl="1"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Raspberry Pi Zero</a:t>
            </a:r>
            <a:r>
              <a:rPr lang="en-US" sz="2100" dirty="0">
                <a:latin typeface="Times New Roman" panose="02020603050405020304" pitchFamily="18" charset="0"/>
                <a:cs typeface="Times New Roman" panose="02020603050405020304" pitchFamily="18" charset="0"/>
              </a:rPr>
              <a:t>: 512 MB of RAM.</a:t>
            </a:r>
          </a:p>
          <a:p>
            <a:pPr marL="800100" lvl="1"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Raspberry Pi 3 Model B</a:t>
            </a:r>
            <a:r>
              <a:rPr lang="en-US" sz="2100" dirty="0">
                <a:latin typeface="Times New Roman" panose="02020603050405020304" pitchFamily="18" charset="0"/>
                <a:cs typeface="Times New Roman" panose="02020603050405020304" pitchFamily="18" charset="0"/>
              </a:rPr>
              <a:t>: 1 GB of RAM.</a:t>
            </a:r>
          </a:p>
          <a:p>
            <a:pPr marL="800100" lvl="1"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Raspberry Pi 4 Model B</a:t>
            </a:r>
            <a:r>
              <a:rPr lang="en-US" sz="2100" dirty="0">
                <a:latin typeface="Times New Roman" panose="02020603050405020304" pitchFamily="18" charset="0"/>
                <a:cs typeface="Times New Roman" panose="02020603050405020304" pitchFamily="18" charset="0"/>
              </a:rPr>
              <a:t>: Available with 2 GB, 4 GB, or even 8 GB of RAM.</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Storage</a:t>
            </a:r>
            <a:r>
              <a:rPr lang="en-US" sz="2100" dirty="0">
                <a:latin typeface="Times New Roman" panose="02020603050405020304" pitchFamily="18" charset="0"/>
                <a:cs typeface="Times New Roman" panose="02020603050405020304" pitchFamily="18" charset="0"/>
              </a:rPr>
              <a:t>: Unlike microcontrollers that typically have onboard Flash memory, the Raspberry Pi uses a microSD card as its primary storage medium, which can range from a few GB to several hundred GB. This allows the Raspberry Pi to store large operating systems, applications, and data.</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Cache Memory</a:t>
            </a:r>
            <a:r>
              <a:rPr lang="en-US" sz="2100" dirty="0">
                <a:latin typeface="Times New Roman" panose="02020603050405020304" pitchFamily="18" charset="0"/>
                <a:cs typeface="Times New Roman" panose="02020603050405020304" pitchFamily="18" charset="0"/>
              </a:rPr>
              <a:t>: The processors in the Raspberry Pi also include several levels of cache memory (L1, L2, sometimes L3), which help speed up processing by temporarily storing frequently accessed data.</a:t>
            </a:r>
          </a:p>
        </p:txBody>
      </p:sp>
    </p:spTree>
    <p:extLst>
      <p:ext uri="{BB962C8B-B14F-4D97-AF65-F5344CB8AC3E}">
        <p14:creationId xmlns:p14="http://schemas.microsoft.com/office/powerpoint/2010/main" val="103127203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67</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xmlns="" id="{8F0FD7BA-1379-3787-FD96-632BA4C39924}"/>
              </a:ext>
            </a:extLst>
          </p:cNvPr>
          <p:cNvSpPr txBox="1"/>
          <p:nvPr/>
        </p:nvSpPr>
        <p:spPr>
          <a:xfrm>
            <a:off x="-46859" y="1031987"/>
            <a:ext cx="8723597" cy="518988"/>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8. Raspberry Pi </a:t>
            </a:r>
            <a:r>
              <a:rPr lang="en-US" sz="2100" b="1" dirty="0">
                <a:latin typeface="Times New Roman" panose="02020603050405020304" pitchFamily="18" charset="0"/>
                <a:cs typeface="Times New Roman" panose="02020603050405020304" pitchFamily="18" charset="0"/>
              </a:rPr>
              <a:t>(32-bit/64-bit SoC)</a:t>
            </a: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xmlns="" id="{B6F06132-77EF-1B24-FA31-1A70F402CEA6}"/>
              </a:ext>
            </a:extLst>
          </p:cNvPr>
          <p:cNvSpPr txBox="1"/>
          <p:nvPr/>
        </p:nvSpPr>
        <p:spPr>
          <a:xfrm>
            <a:off x="-46859" y="1600200"/>
            <a:ext cx="12111342" cy="5366469"/>
          </a:xfrm>
          <a:prstGeom prst="rect">
            <a:avLst/>
          </a:prstGeom>
          <a:noFill/>
        </p:spPr>
        <p:txBody>
          <a:bodyPr wrap="square">
            <a:spAutoFit/>
          </a:bodyPr>
          <a:lstStyle/>
          <a:p>
            <a:pPr algn="just">
              <a:lnSpc>
                <a:spcPct val="150000"/>
              </a:lnSpc>
            </a:pPr>
            <a:r>
              <a:rPr lang="en-US" sz="2100" b="1" dirty="0">
                <a:latin typeface="Times New Roman" panose="02020603050405020304" pitchFamily="18" charset="0"/>
                <a:cs typeface="Times New Roman" panose="02020603050405020304" pitchFamily="18" charset="0"/>
              </a:rPr>
              <a:t>Comparison with Microcontrollers (like Arduino)</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Processing Power</a:t>
            </a:r>
            <a:r>
              <a:rPr lang="en-US" sz="2100" dirty="0">
                <a:latin typeface="Times New Roman" panose="02020603050405020304" pitchFamily="18" charset="0"/>
                <a:cs typeface="Times New Roman" panose="02020603050405020304" pitchFamily="18" charset="0"/>
              </a:rPr>
              <a:t>: The Raspberry Pi’s ARM Cortex processors are significantly more powerful than the 8-bit microcontroller used in the Arduino Uno. This difference allows the Raspberry Pi to run complex operating systems and software applications, manage multitasking environments, and perform computationally intensive tasks.</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Memory</a:t>
            </a:r>
            <a:r>
              <a:rPr lang="en-US" sz="2100" dirty="0">
                <a:latin typeface="Times New Roman" panose="02020603050405020304" pitchFamily="18" charset="0"/>
                <a:cs typeface="Times New Roman" panose="02020603050405020304" pitchFamily="18" charset="0"/>
              </a:rPr>
              <a:t>: The RAM available on the Raspberry Pi is orders of magnitude larger than the SRAM found on microcontrollers. This allows for the execution of larger programs, the handling of large datasets, and the running of memory-intensive applications.</a:t>
            </a:r>
          </a:p>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Storage</a:t>
            </a:r>
            <a:r>
              <a:rPr lang="en-US" sz="2100" dirty="0">
                <a:latin typeface="Times New Roman" panose="02020603050405020304" pitchFamily="18" charset="0"/>
                <a:cs typeface="Times New Roman" panose="02020603050405020304" pitchFamily="18" charset="0"/>
              </a:rPr>
              <a:t>: The ability to use a microSD card or external storage devices gives the Raspberry Pi flexibility in storing large amounts of data, something that microcontrollers with their limited onboard memory cannot do.</a:t>
            </a:r>
          </a:p>
        </p:txBody>
      </p:sp>
    </p:spTree>
    <p:extLst>
      <p:ext uri="{BB962C8B-B14F-4D97-AF65-F5344CB8AC3E}">
        <p14:creationId xmlns:p14="http://schemas.microsoft.com/office/powerpoint/2010/main" val="287298528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68</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xmlns="" id="{8F0FD7BA-1379-3787-FD96-632BA4C39924}"/>
              </a:ext>
            </a:extLst>
          </p:cNvPr>
          <p:cNvSpPr txBox="1"/>
          <p:nvPr/>
        </p:nvSpPr>
        <p:spPr>
          <a:xfrm>
            <a:off x="-46859" y="1031987"/>
            <a:ext cx="8723597" cy="518988"/>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8. Raspberry Pi </a:t>
            </a:r>
            <a:r>
              <a:rPr lang="en-US" sz="2100" b="1" dirty="0">
                <a:latin typeface="Times New Roman" panose="02020603050405020304" pitchFamily="18" charset="0"/>
                <a:cs typeface="Times New Roman" panose="02020603050405020304" pitchFamily="18" charset="0"/>
              </a:rPr>
              <a:t>(32-bit/64-bit SoC)</a:t>
            </a: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xmlns="" id="{B6F06132-77EF-1B24-FA31-1A70F402CEA6}"/>
              </a:ext>
            </a:extLst>
          </p:cNvPr>
          <p:cNvSpPr txBox="1"/>
          <p:nvPr/>
        </p:nvSpPr>
        <p:spPr>
          <a:xfrm>
            <a:off x="-46859" y="1600200"/>
            <a:ext cx="12111342" cy="3427477"/>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Applications</a:t>
            </a:r>
            <a:r>
              <a:rPr lang="en-US" sz="2100" dirty="0">
                <a:latin typeface="Times New Roman" panose="02020603050405020304" pitchFamily="18" charset="0"/>
                <a:cs typeface="Times New Roman" panose="02020603050405020304" pitchFamily="18" charset="0"/>
              </a:rPr>
              <a:t>: The Raspberry Pi can be used for a wide array of applications, including but not limited to:</a:t>
            </a:r>
          </a:p>
          <a:p>
            <a:pPr marL="800100" lvl="1"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General-Purpose Computing</a:t>
            </a:r>
            <a:r>
              <a:rPr lang="en-US" sz="2100" dirty="0">
                <a:latin typeface="Times New Roman" panose="02020603050405020304" pitchFamily="18" charset="0"/>
                <a:cs typeface="Times New Roman" panose="02020603050405020304" pitchFamily="18" charset="0"/>
              </a:rPr>
              <a:t>: Acting as a low-cost, fully functional desktop computer.</a:t>
            </a:r>
          </a:p>
          <a:p>
            <a:pPr marL="800100" lvl="1"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Educational Purposes</a:t>
            </a:r>
            <a:r>
              <a:rPr lang="en-US" sz="2100" dirty="0">
                <a:latin typeface="Times New Roman" panose="02020603050405020304" pitchFamily="18" charset="0"/>
                <a:cs typeface="Times New Roman" panose="02020603050405020304" pitchFamily="18" charset="0"/>
              </a:rPr>
              <a:t>: Teaching programming and computer science concepts.</a:t>
            </a:r>
          </a:p>
          <a:p>
            <a:pPr marL="800100" lvl="1"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Media Centers</a:t>
            </a:r>
            <a:r>
              <a:rPr lang="en-US" sz="2100" dirty="0">
                <a:latin typeface="Times New Roman" panose="02020603050405020304" pitchFamily="18" charset="0"/>
                <a:cs typeface="Times New Roman" panose="02020603050405020304" pitchFamily="18" charset="0"/>
              </a:rPr>
              <a:t>: Running software like Kodi to serve as a home media center.</a:t>
            </a:r>
          </a:p>
          <a:p>
            <a:pPr marL="800100" lvl="1"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IoT Devices</a:t>
            </a:r>
            <a:r>
              <a:rPr lang="en-US" sz="2100" dirty="0">
                <a:latin typeface="Times New Roman" panose="02020603050405020304" pitchFamily="18" charset="0"/>
                <a:cs typeface="Times New Roman" panose="02020603050405020304" pitchFamily="18" charset="0"/>
              </a:rPr>
              <a:t>: Collecting and processing data in Internet of Things applications.</a:t>
            </a:r>
          </a:p>
          <a:p>
            <a:pPr marL="800100" lvl="1"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Robotics</a:t>
            </a:r>
            <a:r>
              <a:rPr lang="en-US" sz="2100" dirty="0">
                <a:latin typeface="Times New Roman" panose="02020603050405020304" pitchFamily="18" charset="0"/>
                <a:cs typeface="Times New Roman" panose="02020603050405020304" pitchFamily="18" charset="0"/>
              </a:rPr>
              <a:t>: Controlling complex robots with vision processing and autonomous navigation.</a:t>
            </a:r>
          </a:p>
          <a:p>
            <a:pPr marL="800100" lvl="1"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Home Automation</a:t>
            </a:r>
            <a:r>
              <a:rPr lang="en-US" sz="2100" dirty="0">
                <a:latin typeface="Times New Roman" panose="02020603050405020304" pitchFamily="18" charset="0"/>
                <a:cs typeface="Times New Roman" panose="02020603050405020304" pitchFamily="18" charset="0"/>
              </a:rPr>
              <a:t>: Managing smart home devices and automating various tasks.</a:t>
            </a:r>
          </a:p>
        </p:txBody>
      </p:sp>
    </p:spTree>
    <p:extLst>
      <p:ext uri="{BB962C8B-B14F-4D97-AF65-F5344CB8AC3E}">
        <p14:creationId xmlns:p14="http://schemas.microsoft.com/office/powerpoint/2010/main" val="97343389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69</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xmlns="" id="{8F0FD7BA-1379-3787-FD96-632BA4C39924}"/>
              </a:ext>
            </a:extLst>
          </p:cNvPr>
          <p:cNvSpPr txBox="1"/>
          <p:nvPr/>
        </p:nvSpPr>
        <p:spPr>
          <a:xfrm>
            <a:off x="-121211" y="1184115"/>
            <a:ext cx="8723597" cy="518988"/>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8. Raspberry Pi </a:t>
            </a:r>
            <a:r>
              <a:rPr lang="en-US" sz="2100" b="1" dirty="0">
                <a:latin typeface="Times New Roman" panose="02020603050405020304" pitchFamily="18" charset="0"/>
                <a:cs typeface="Times New Roman" panose="02020603050405020304" pitchFamily="18" charset="0"/>
              </a:rPr>
              <a:t>(32-bit/64-bit SoC)</a:t>
            </a: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xmlns="" id="{B6F06132-77EF-1B24-FA31-1A70F402CEA6}"/>
              </a:ext>
            </a:extLst>
          </p:cNvPr>
          <p:cNvSpPr txBox="1"/>
          <p:nvPr/>
        </p:nvSpPr>
        <p:spPr>
          <a:xfrm>
            <a:off x="-111759" y="1685027"/>
            <a:ext cx="12167324" cy="2942729"/>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Limitations</a:t>
            </a:r>
            <a:r>
              <a:rPr lang="en-US" sz="2100" dirty="0">
                <a:latin typeface="Times New Roman" panose="02020603050405020304" pitchFamily="18" charset="0"/>
                <a:cs typeface="Times New Roman" panose="02020603050405020304" pitchFamily="18" charset="0"/>
              </a:rPr>
              <a:t>: </a:t>
            </a:r>
          </a:p>
          <a:p>
            <a:pPr marL="800100" lvl="1"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Despite its power, the Raspberry Pi is not a real-time system and is not suitable for applications where precise timing is critical. </a:t>
            </a:r>
          </a:p>
          <a:p>
            <a:pPr marL="800100" lvl="1"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For tasks requiring real-time processing, a microcontroller might still be preferred.</a:t>
            </a:r>
          </a:p>
          <a:p>
            <a:pPr marL="800100" lvl="1"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Additionally, while the Raspberry Pi is versatile, it can be overkill for very simple tasks where an 8-bit or 16-bit microcontroller would suffice.</a:t>
            </a:r>
          </a:p>
        </p:txBody>
      </p:sp>
    </p:spTree>
    <p:extLst>
      <p:ext uri="{BB962C8B-B14F-4D97-AF65-F5344CB8AC3E}">
        <p14:creationId xmlns:p14="http://schemas.microsoft.com/office/powerpoint/2010/main" val="372788052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70</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xmlns="" id="{8F0FD7BA-1379-3787-FD96-632BA4C39924}"/>
              </a:ext>
            </a:extLst>
          </p:cNvPr>
          <p:cNvSpPr txBox="1"/>
          <p:nvPr/>
        </p:nvSpPr>
        <p:spPr>
          <a:xfrm>
            <a:off x="-46859" y="1031987"/>
            <a:ext cx="8723597" cy="518988"/>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8. Raspberry Pi </a:t>
            </a:r>
            <a:r>
              <a:rPr lang="en-US" sz="2100" b="1" dirty="0">
                <a:latin typeface="Times New Roman" panose="02020603050405020304" pitchFamily="18" charset="0"/>
                <a:cs typeface="Times New Roman" panose="02020603050405020304" pitchFamily="18" charset="0"/>
              </a:rPr>
              <a:t>(32-bit/64-bit SoC)</a:t>
            </a: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xmlns="" id="{B6F06132-77EF-1B24-FA31-1A70F402CEA6}"/>
              </a:ext>
            </a:extLst>
          </p:cNvPr>
          <p:cNvSpPr txBox="1"/>
          <p:nvPr/>
        </p:nvSpPr>
        <p:spPr>
          <a:xfrm>
            <a:off x="-46859" y="1600200"/>
            <a:ext cx="12111342" cy="3912225"/>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Summary: </a:t>
            </a:r>
          </a:p>
          <a:p>
            <a:pPr marL="800100" lvl="1"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The Raspberry Pi, with its 32-bit or 64-bit ARM Cortex-A processor, offers significantly more processing power, memory, and flexibility than an 8-bit microcontroller like the Arduino Uno. </a:t>
            </a:r>
          </a:p>
          <a:p>
            <a:pPr marL="800100" lvl="1"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It is capable of running a full operating system, executing complex applications, and handling large amounts of data, making it suitable for a wide range of more advanced and resource-intensive applications. </a:t>
            </a:r>
          </a:p>
          <a:p>
            <a:pPr marL="800100" lvl="1"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However, for simple, real-time control tasks, a microcontroller like the Arduino Uno might still be the better choice due to its simplicity, lower power consumption, and real-time capabilities.</a:t>
            </a:r>
          </a:p>
        </p:txBody>
      </p:sp>
    </p:spTree>
    <p:extLst>
      <p:ext uri="{BB962C8B-B14F-4D97-AF65-F5344CB8AC3E}">
        <p14:creationId xmlns:p14="http://schemas.microsoft.com/office/powerpoint/2010/main" val="265795692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71</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xmlns="" id="{8F0FD7BA-1379-3787-FD96-632BA4C39924}"/>
              </a:ext>
            </a:extLst>
          </p:cNvPr>
          <p:cNvSpPr txBox="1"/>
          <p:nvPr/>
        </p:nvSpPr>
        <p:spPr>
          <a:xfrm>
            <a:off x="-46859" y="1031987"/>
            <a:ext cx="8723597" cy="518988"/>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9. Arduino Uno Vs Raspberry Pi </a:t>
            </a:r>
            <a:endParaRPr lang="en-US" sz="2100" b="1"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xmlns="" id="{B6F06132-77EF-1B24-FA31-1A70F402CEA6}"/>
              </a:ext>
            </a:extLst>
          </p:cNvPr>
          <p:cNvSpPr txBox="1"/>
          <p:nvPr/>
        </p:nvSpPr>
        <p:spPr>
          <a:xfrm>
            <a:off x="-46859" y="1600200"/>
            <a:ext cx="12111342" cy="2942729"/>
          </a:xfrm>
          <a:prstGeom prst="rect">
            <a:avLst/>
          </a:prstGeom>
          <a:noFill/>
        </p:spPr>
        <p:txBody>
          <a:bodyPr wrap="square">
            <a:spAutoFit/>
          </a:bodyPr>
          <a:lstStyle/>
          <a:p>
            <a:pPr marL="800100" lvl="1"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Arduino Uno is best suited for simple, control-oriented projects like sensor reading, motor control, and other basic embedded systems tasks. It's great for beginners and projects that require low power and real-time operations.</a:t>
            </a:r>
          </a:p>
          <a:p>
            <a:pPr marL="800100" lvl="1" indent="-342900" algn="just">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Raspberry Pi is a more powerful and versatile platform capable of running a full operating system, making it suitable for more complex projects like robotics, home automation, and media centers. It's ideal for tasks that require multitasking, networking, and more computational power.</a:t>
            </a:r>
          </a:p>
        </p:txBody>
      </p:sp>
    </p:spTree>
    <p:extLst>
      <p:ext uri="{BB962C8B-B14F-4D97-AF65-F5344CB8AC3E}">
        <p14:creationId xmlns:p14="http://schemas.microsoft.com/office/powerpoint/2010/main" val="137467193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72</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xmlns="" id="{8F0FD7BA-1379-3787-FD96-632BA4C39924}"/>
              </a:ext>
            </a:extLst>
          </p:cNvPr>
          <p:cNvSpPr txBox="1"/>
          <p:nvPr/>
        </p:nvSpPr>
        <p:spPr>
          <a:xfrm>
            <a:off x="-46859" y="1031987"/>
            <a:ext cx="8723597" cy="518988"/>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9. Arduino Uno Vs Raspberry Pi </a:t>
            </a:r>
            <a:endParaRPr lang="en-US" sz="2100" b="1"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xmlns="" id="{B6F06132-77EF-1B24-FA31-1A70F402CEA6}"/>
              </a:ext>
            </a:extLst>
          </p:cNvPr>
          <p:cNvSpPr txBox="1"/>
          <p:nvPr/>
        </p:nvSpPr>
        <p:spPr>
          <a:xfrm>
            <a:off x="-46859" y="1600200"/>
            <a:ext cx="12111342" cy="518988"/>
          </a:xfrm>
          <a:prstGeom prst="rect">
            <a:avLst/>
          </a:prstGeom>
          <a:noFill/>
        </p:spPr>
        <p:txBody>
          <a:bodyPr wrap="square">
            <a:spAutoFit/>
          </a:bodyPr>
          <a:lstStyle/>
          <a:p>
            <a:pPr marL="342900" indent="-342900" algn="just">
              <a:lnSpc>
                <a:spcPct val="150000"/>
              </a:lnSpc>
              <a:buFont typeface="Arial" panose="020B0604020202020204" pitchFamily="34" charset="0"/>
              <a:buChar char="•"/>
            </a:pPr>
            <a:endParaRPr lang="en-US" sz="2100" dirty="0">
              <a:latin typeface="Times New Roman" panose="02020603050405020304" pitchFamily="18" charset="0"/>
              <a:cs typeface="Times New Roman" panose="02020603050405020304" pitchFamily="18" charset="0"/>
            </a:endParaRPr>
          </a:p>
        </p:txBody>
      </p:sp>
      <p:graphicFrame>
        <p:nvGraphicFramePr>
          <p:cNvPr id="8" name="Table 7">
            <a:extLst>
              <a:ext uri="{FF2B5EF4-FFF2-40B4-BE49-F238E27FC236}">
                <a16:creationId xmlns:a16="http://schemas.microsoft.com/office/drawing/2014/main" xmlns="" id="{C3FB3F8C-40F6-B15B-BDD0-A85A14BA6116}"/>
              </a:ext>
            </a:extLst>
          </p:cNvPr>
          <p:cNvGraphicFramePr>
            <a:graphicFrameLocks noGrp="1"/>
          </p:cNvGraphicFramePr>
          <p:nvPr>
            <p:extLst>
              <p:ext uri="{D42A27DB-BD31-4B8C-83A1-F6EECF244321}">
                <p14:modId xmlns:p14="http://schemas.microsoft.com/office/powerpoint/2010/main" val="3376814120"/>
              </p:ext>
            </p:extLst>
          </p:nvPr>
        </p:nvGraphicFramePr>
        <p:xfrm>
          <a:off x="-158620" y="1550975"/>
          <a:ext cx="12462378" cy="5205053"/>
        </p:xfrm>
        <a:graphic>
          <a:graphicData uri="http://schemas.openxmlformats.org/drawingml/2006/table">
            <a:tbl>
              <a:tblPr>
                <a:tableStyleId>{21E4AEA4-8DFA-4A89-87EB-49C32662AFE0}</a:tableStyleId>
              </a:tblPr>
              <a:tblGrid>
                <a:gridCol w="2304661">
                  <a:extLst>
                    <a:ext uri="{9D8B030D-6E8A-4147-A177-3AD203B41FA5}">
                      <a16:colId xmlns:a16="http://schemas.microsoft.com/office/drawing/2014/main" xmlns="" val="1396367541"/>
                    </a:ext>
                  </a:extLst>
                </a:gridCol>
                <a:gridCol w="4982547">
                  <a:extLst>
                    <a:ext uri="{9D8B030D-6E8A-4147-A177-3AD203B41FA5}">
                      <a16:colId xmlns:a16="http://schemas.microsoft.com/office/drawing/2014/main" xmlns="" val="34574421"/>
                    </a:ext>
                  </a:extLst>
                </a:gridCol>
                <a:gridCol w="5175170">
                  <a:extLst>
                    <a:ext uri="{9D8B030D-6E8A-4147-A177-3AD203B41FA5}">
                      <a16:colId xmlns:a16="http://schemas.microsoft.com/office/drawing/2014/main" xmlns="" val="379673242"/>
                    </a:ext>
                  </a:extLst>
                </a:gridCol>
              </a:tblGrid>
              <a:tr h="239376">
                <a:tc>
                  <a:txBody>
                    <a:bodyPr/>
                    <a:lstStyle/>
                    <a:p>
                      <a:pPr algn="ctr" fontAlgn="b"/>
                      <a:r>
                        <a:rPr lang="en-IN" sz="1800" b="1" u="none" strike="noStrike" dirty="0">
                          <a:effectLst/>
                        </a:rPr>
                        <a:t>Feature</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2725" marR="2725" marT="27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1" u="none" strike="noStrike">
                          <a:effectLst/>
                        </a:rPr>
                        <a:t>Arduino Uno</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2725" marR="2725" marT="27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1" u="none" strike="noStrike" dirty="0">
                          <a:effectLst/>
                        </a:rPr>
                        <a:t>Raspberry Pi</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2725" marR="2725" marT="27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80773131"/>
                  </a:ext>
                </a:extLst>
              </a:tr>
              <a:tr h="327005">
                <a:tc>
                  <a:txBody>
                    <a:bodyPr/>
                    <a:lstStyle/>
                    <a:p>
                      <a:pPr algn="ctr" fontAlgn="b"/>
                      <a:r>
                        <a:rPr lang="en-IN" sz="1800" u="none" strike="noStrike" dirty="0">
                          <a:effectLst/>
                        </a:rPr>
                        <a:t>Type</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2725" marR="2725" marT="27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b"/>
                      <a:r>
                        <a:rPr lang="en-IN" sz="1800" u="none" strike="noStrike">
                          <a:effectLst/>
                        </a:rPr>
                        <a:t>Microcontroller Board</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2725" marR="2725" marT="27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b"/>
                      <a:r>
                        <a:rPr lang="en-IN" sz="1800" u="none" strike="noStrike">
                          <a:effectLst/>
                        </a:rPr>
                        <a:t>Single-Board Computer</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2725" marR="2725" marT="27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xmlns="" val="2149953681"/>
                  </a:ext>
                </a:extLst>
              </a:tr>
              <a:tr h="389818">
                <a:tc>
                  <a:txBody>
                    <a:bodyPr/>
                    <a:lstStyle/>
                    <a:p>
                      <a:pPr algn="ctr" fontAlgn="b"/>
                      <a:r>
                        <a:rPr lang="en-IN" sz="1800" u="none" strike="noStrike" dirty="0">
                          <a:effectLst/>
                        </a:rPr>
                        <a:t>Processor</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2725" marR="2725" marT="27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b"/>
                      <a:r>
                        <a:rPr lang="en-IN" sz="1800" u="none" strike="noStrike" dirty="0">
                          <a:effectLst/>
                        </a:rPr>
                        <a:t>ATmega328P (8-bit microcontroller)</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2725" marR="2725" marT="27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b"/>
                      <a:r>
                        <a:rPr lang="en-IN" sz="1800" u="none" strike="noStrike">
                          <a:effectLst/>
                        </a:rPr>
                        <a:t>ARM Cortex-A series (e.g., ARM Cortex-A53)</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2725" marR="2725" marT="27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xmlns="" val="2862032155"/>
                  </a:ext>
                </a:extLst>
              </a:tr>
              <a:tr h="325337">
                <a:tc>
                  <a:txBody>
                    <a:bodyPr/>
                    <a:lstStyle/>
                    <a:p>
                      <a:pPr algn="ctr" fontAlgn="b"/>
                      <a:r>
                        <a:rPr lang="en-IN" sz="1800" u="none" strike="noStrike">
                          <a:effectLst/>
                        </a:rPr>
                        <a:t>Clock Speed</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2725" marR="2725" marT="27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b"/>
                      <a:r>
                        <a:rPr lang="en-IN" sz="1800" u="none" strike="noStrike" dirty="0">
                          <a:effectLst/>
                        </a:rPr>
                        <a:t>16 MHz</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2725" marR="2725" marT="27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b"/>
                      <a:r>
                        <a:rPr lang="en-US" sz="1800" u="none" strike="noStrike">
                          <a:effectLst/>
                        </a:rPr>
                        <a:t>700 MHz to 1.5 GHz (depending on the model)</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2725" marR="2725" marT="27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xmlns="" val="3408570444"/>
                  </a:ext>
                </a:extLst>
              </a:tr>
              <a:tr h="325337">
                <a:tc>
                  <a:txBody>
                    <a:bodyPr/>
                    <a:lstStyle/>
                    <a:p>
                      <a:pPr algn="ctr" fontAlgn="b"/>
                      <a:r>
                        <a:rPr lang="en-IN" sz="1800" u="none" strike="noStrike">
                          <a:effectLst/>
                        </a:rPr>
                        <a:t>Memory (RAM)</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2725" marR="2725" marT="27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b"/>
                      <a:r>
                        <a:rPr lang="en-IN" sz="1800" u="none" strike="noStrike" dirty="0">
                          <a:effectLst/>
                        </a:rPr>
                        <a:t>2 KB SRAM</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2725" marR="2725" marT="27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b"/>
                      <a:r>
                        <a:rPr lang="en-US" sz="1800" u="none" strike="noStrike" dirty="0">
                          <a:effectLst/>
                        </a:rPr>
                        <a:t>512 MB to 8 GB (depending on the model)</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2725" marR="2725" marT="27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xmlns="" val="1824362638"/>
                  </a:ext>
                </a:extLst>
              </a:tr>
              <a:tr h="476106">
                <a:tc>
                  <a:txBody>
                    <a:bodyPr/>
                    <a:lstStyle/>
                    <a:p>
                      <a:pPr algn="ctr" fontAlgn="b"/>
                      <a:r>
                        <a:rPr lang="en-IN" sz="1800" u="none" strike="noStrike">
                          <a:effectLst/>
                        </a:rPr>
                        <a:t>Storage</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2725" marR="2725" marT="27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b"/>
                      <a:r>
                        <a:rPr lang="en-US" sz="1800" u="none" strike="noStrike" dirty="0">
                          <a:effectLst/>
                        </a:rPr>
                        <a:t>No onboard storage, programs are stored on Flash memory</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2725" marR="2725" marT="27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b"/>
                      <a:r>
                        <a:rPr lang="en-US" sz="1800" u="none" strike="noStrike">
                          <a:effectLst/>
                        </a:rPr>
                        <a:t>SD card for OS and storage</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2725" marR="2725" marT="27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xmlns="" val="3008423502"/>
                  </a:ext>
                </a:extLst>
              </a:tr>
              <a:tr h="476106">
                <a:tc>
                  <a:txBody>
                    <a:bodyPr/>
                    <a:lstStyle/>
                    <a:p>
                      <a:pPr algn="ctr" fontAlgn="b"/>
                      <a:r>
                        <a:rPr lang="en-IN" sz="1800" u="none" strike="noStrike">
                          <a:effectLst/>
                        </a:rPr>
                        <a:t>Operating System</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2725" marR="2725" marT="27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b"/>
                      <a:r>
                        <a:rPr lang="en-US" sz="1800" u="none" strike="noStrike" dirty="0">
                          <a:effectLst/>
                        </a:rPr>
                        <a:t>No operating system, runs a single program</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2725" marR="2725" marT="27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b"/>
                      <a:r>
                        <a:rPr lang="en-IN" sz="1800" u="none" strike="noStrike">
                          <a:effectLst/>
                        </a:rPr>
                        <a:t>Runs a full operating system (e.g., Linux, Raspbian)</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2725" marR="2725" marT="27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xmlns="" val="1915468092"/>
                  </a:ext>
                </a:extLst>
              </a:tr>
              <a:tr h="325337">
                <a:tc>
                  <a:txBody>
                    <a:bodyPr/>
                    <a:lstStyle/>
                    <a:p>
                      <a:pPr algn="ctr" fontAlgn="b"/>
                      <a:r>
                        <a:rPr lang="en-IN" sz="1800" u="none" strike="noStrike">
                          <a:effectLst/>
                        </a:rPr>
                        <a:t>Power Consumption</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2725" marR="2725" marT="27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b"/>
                      <a:r>
                        <a:rPr lang="en-US" sz="1800" u="none" strike="noStrike">
                          <a:effectLst/>
                        </a:rPr>
                        <a:t>Low power (5V, 20-50 mA)</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2725" marR="2725" marT="27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b"/>
                      <a:r>
                        <a:rPr lang="en-US" sz="1800" u="none" strike="noStrike" dirty="0">
                          <a:effectLst/>
                        </a:rPr>
                        <a:t>Higher power consumption (5V, 2-3 A)</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2725" marR="2725" marT="27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xmlns="" val="2942491218"/>
                  </a:ext>
                </a:extLst>
              </a:tr>
              <a:tr h="389818">
                <a:tc>
                  <a:txBody>
                    <a:bodyPr/>
                    <a:lstStyle/>
                    <a:p>
                      <a:pPr algn="ctr" fontAlgn="b"/>
                      <a:r>
                        <a:rPr lang="en-IN" sz="1800" u="none" strike="noStrike">
                          <a:effectLst/>
                        </a:rPr>
                        <a:t>Input/Output (I/O)</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2725" marR="2725" marT="27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b"/>
                      <a:r>
                        <a:rPr lang="en-IN" sz="1800" u="none" strike="noStrike">
                          <a:effectLst/>
                        </a:rPr>
                        <a:t>14 digital I/O pins, 6 analog input pins</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2725" marR="2725" marT="27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b"/>
                      <a:r>
                        <a:rPr lang="fr-FR" sz="1800" u="none" strike="noStrike">
                          <a:effectLst/>
                        </a:rPr>
                        <a:t>40 GPIO pins, USB ports, HDMI, Ethernet, etc.</a:t>
                      </a:r>
                      <a:endParaRPr lang="fr-FR" sz="1800" b="0" i="0" u="none" strike="noStrike">
                        <a:solidFill>
                          <a:srgbClr val="000000"/>
                        </a:solidFill>
                        <a:effectLst/>
                        <a:latin typeface="Times New Roman" panose="02020603050405020304" pitchFamily="18" charset="0"/>
                        <a:cs typeface="Times New Roman" panose="02020603050405020304" pitchFamily="18" charset="0"/>
                      </a:endParaRPr>
                    </a:p>
                  </a:txBody>
                  <a:tcPr marL="2725" marR="2725" marT="27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xmlns="" val="1559461954"/>
                  </a:ext>
                </a:extLst>
              </a:tr>
              <a:tr h="325337">
                <a:tc>
                  <a:txBody>
                    <a:bodyPr/>
                    <a:lstStyle/>
                    <a:p>
                      <a:pPr algn="ctr" fontAlgn="b"/>
                      <a:r>
                        <a:rPr lang="en-IN" sz="1800" u="none" strike="noStrike">
                          <a:effectLst/>
                        </a:rPr>
                        <a:t>Programming Language</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2725" marR="2725" marT="27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b"/>
                      <a:r>
                        <a:rPr lang="en-US" sz="1800" u="none" strike="noStrike" dirty="0">
                          <a:effectLst/>
                        </a:rPr>
                        <a:t>Primarily C/C++ (Arduino IDE)</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2725" marR="2725" marT="27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b"/>
                      <a:r>
                        <a:rPr lang="fr-FR" sz="1800" u="none" strike="noStrike">
                          <a:effectLst/>
                        </a:rPr>
                        <a:t>Multiple languages (Python, C++, Java, etc.)</a:t>
                      </a:r>
                      <a:endParaRPr lang="fr-FR" sz="1800" b="0" i="0" u="none" strike="noStrike">
                        <a:solidFill>
                          <a:srgbClr val="000000"/>
                        </a:solidFill>
                        <a:effectLst/>
                        <a:latin typeface="Times New Roman" panose="02020603050405020304" pitchFamily="18" charset="0"/>
                        <a:cs typeface="Times New Roman" panose="02020603050405020304" pitchFamily="18" charset="0"/>
                      </a:endParaRPr>
                    </a:p>
                  </a:txBody>
                  <a:tcPr marL="2725" marR="2725" marT="27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xmlns="" val="3340424931"/>
                  </a:ext>
                </a:extLst>
              </a:tr>
              <a:tr h="518781">
                <a:tc>
                  <a:txBody>
                    <a:bodyPr/>
                    <a:lstStyle/>
                    <a:p>
                      <a:pPr algn="ctr" fontAlgn="b"/>
                      <a:r>
                        <a:rPr lang="en-IN" sz="1800" u="none" strike="noStrike">
                          <a:effectLst/>
                        </a:rPr>
                        <a:t>Ease of Use</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2725" marR="2725" marT="27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b"/>
                      <a:r>
                        <a:rPr lang="en-US" sz="1800" u="none" strike="noStrike">
                          <a:effectLst/>
                        </a:rPr>
                        <a:t>Easier for beginners, ideal for simple projects</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2725" marR="2725" marT="27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b"/>
                      <a:r>
                        <a:rPr lang="en-US" sz="1800" u="none" strike="noStrike" dirty="0">
                          <a:effectLst/>
                        </a:rPr>
                        <a:t>More complex, suited for advanced projects and multitasking</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2725" marR="2725" marT="27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xmlns="" val="3336084575"/>
                  </a:ext>
                </a:extLst>
              </a:tr>
              <a:tr h="389818">
                <a:tc>
                  <a:txBody>
                    <a:bodyPr/>
                    <a:lstStyle/>
                    <a:p>
                      <a:pPr algn="ctr" fontAlgn="b"/>
                      <a:r>
                        <a:rPr lang="en-IN" sz="1800" u="none" strike="noStrike">
                          <a:effectLst/>
                        </a:rPr>
                        <a:t>Networking</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2725" marR="2725" marT="27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b"/>
                      <a:r>
                        <a:rPr lang="en-IN" sz="1800" u="none" strike="noStrike" dirty="0">
                          <a:effectLst/>
                        </a:rPr>
                        <a:t>No built-in networking capabilities</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2725" marR="2725" marT="27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1800" u="none" strike="noStrike" dirty="0">
                          <a:effectLst/>
                        </a:rPr>
                        <a:t>Built-in Ethernet and Wi-Fi (in newer models)</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2725" marR="2725" marT="27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xmlns="" val="485578392"/>
                  </a:ext>
                </a:extLst>
              </a:tr>
              <a:tr h="518781">
                <a:tc>
                  <a:txBody>
                    <a:bodyPr/>
                    <a:lstStyle/>
                    <a:p>
                      <a:pPr algn="ctr" fontAlgn="b"/>
                      <a:r>
                        <a:rPr lang="en-IN" sz="1800" u="none" strike="noStrike">
                          <a:effectLst/>
                        </a:rPr>
                        <a:t>Use Cases</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2725" marR="2725" marT="27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b"/>
                      <a:r>
                        <a:rPr lang="en-US" sz="1800" u="none" strike="noStrike">
                          <a:effectLst/>
                        </a:rPr>
                        <a:t>Simple control systems, sensors, and actuators</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2725" marR="2725" marT="27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b"/>
                      <a:r>
                        <a:rPr lang="en-US" sz="1800" u="none" strike="noStrike" dirty="0">
                          <a:effectLst/>
                        </a:rPr>
                        <a:t>Complex projects like web servers, media centers, IoT devices</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2725" marR="2725" marT="27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xmlns="" val="371754773"/>
                  </a:ext>
                </a:extLst>
              </a:tr>
            </a:tbl>
          </a:graphicData>
        </a:graphic>
      </p:graphicFrame>
    </p:spTree>
    <p:extLst>
      <p:ext uri="{BB962C8B-B14F-4D97-AF65-F5344CB8AC3E}">
        <p14:creationId xmlns:p14="http://schemas.microsoft.com/office/powerpoint/2010/main" val="195076733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73</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xmlns="" id="{8F0FD7BA-1379-3787-FD96-632BA4C39924}"/>
              </a:ext>
            </a:extLst>
          </p:cNvPr>
          <p:cNvSpPr txBox="1"/>
          <p:nvPr/>
        </p:nvSpPr>
        <p:spPr>
          <a:xfrm>
            <a:off x="-46859" y="994663"/>
            <a:ext cx="8723597" cy="1003736"/>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10. Functional blocks of a mobile phone</a:t>
            </a:r>
          </a:p>
          <a:p>
            <a:pPr algn="just">
              <a:lnSpc>
                <a:spcPct val="150000"/>
              </a:lnSpc>
            </a:pPr>
            <a:endParaRPr lang="en-US" sz="2100" b="1"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xmlns="" id="{B6F06132-77EF-1B24-FA31-1A70F402CEA6}"/>
              </a:ext>
            </a:extLst>
          </p:cNvPr>
          <p:cNvSpPr txBox="1"/>
          <p:nvPr/>
        </p:nvSpPr>
        <p:spPr>
          <a:xfrm>
            <a:off x="-46859" y="1460237"/>
            <a:ext cx="12350618" cy="518988"/>
          </a:xfrm>
          <a:prstGeom prst="rect">
            <a:avLst/>
          </a:prstGeom>
          <a:noFill/>
        </p:spPr>
        <p:txBody>
          <a:bodyPr wrap="square">
            <a:spAutoFit/>
          </a:bodyPr>
          <a:lstStyle/>
          <a:p>
            <a:pPr algn="just">
              <a:lnSpc>
                <a:spcPct val="150000"/>
              </a:lnSpc>
            </a:pPr>
            <a:endParaRPr lang="en-US" sz="2100" dirty="0">
              <a:latin typeface="Times"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xmlns="" id="{3461BD2A-9157-7423-3A5D-D68CA6B52D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3256" y="1588614"/>
            <a:ext cx="8840820" cy="4904871"/>
          </a:xfrm>
          <a:prstGeom prst="rect">
            <a:avLst/>
          </a:prstGeom>
        </p:spPr>
      </p:pic>
    </p:spTree>
    <p:extLst>
      <p:ext uri="{BB962C8B-B14F-4D97-AF65-F5344CB8AC3E}">
        <p14:creationId xmlns:p14="http://schemas.microsoft.com/office/powerpoint/2010/main" val="107807319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74</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xmlns="" id="{8F0FD7BA-1379-3787-FD96-632BA4C39924}"/>
              </a:ext>
            </a:extLst>
          </p:cNvPr>
          <p:cNvSpPr txBox="1"/>
          <p:nvPr/>
        </p:nvSpPr>
        <p:spPr>
          <a:xfrm>
            <a:off x="-46859" y="994663"/>
            <a:ext cx="8723597" cy="1003736"/>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10. Functional blocks of a mobile phone</a:t>
            </a:r>
          </a:p>
          <a:p>
            <a:pPr algn="just">
              <a:lnSpc>
                <a:spcPct val="150000"/>
              </a:lnSpc>
            </a:pPr>
            <a:endParaRPr lang="en-US" sz="2100" b="1"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xmlns="" id="{B6F06132-77EF-1B24-FA31-1A70F402CEA6}"/>
              </a:ext>
            </a:extLst>
          </p:cNvPr>
          <p:cNvSpPr txBox="1"/>
          <p:nvPr/>
        </p:nvSpPr>
        <p:spPr>
          <a:xfrm>
            <a:off x="-46859" y="1460237"/>
            <a:ext cx="12350618" cy="5851217"/>
          </a:xfrm>
          <a:prstGeom prst="rect">
            <a:avLst/>
          </a:prstGeom>
          <a:noFill/>
        </p:spPr>
        <p:txBody>
          <a:bodyPr wrap="square">
            <a:spAutoFit/>
          </a:bodyPr>
          <a:lstStyle/>
          <a:p>
            <a:pPr>
              <a:lnSpc>
                <a:spcPct val="150000"/>
              </a:lnSpc>
            </a:pPr>
            <a:r>
              <a:rPr lang="en-US" sz="2100" dirty="0">
                <a:latin typeface="Times" panose="02020603050405020304" pitchFamily="18" charset="0"/>
              </a:rPr>
              <a:t>A mobile phone is a complex device made up of several functional blocks, each serving a specific purpose. Here's a technical yet simple breakdown:</a:t>
            </a:r>
          </a:p>
          <a:p>
            <a:pPr>
              <a:lnSpc>
                <a:spcPct val="150000"/>
              </a:lnSpc>
            </a:pPr>
            <a:r>
              <a:rPr lang="en-US" sz="2100" b="1" dirty="0">
                <a:latin typeface="Times" panose="02020603050405020304" pitchFamily="18" charset="0"/>
              </a:rPr>
              <a:t>1. Power Management Unit (PMU)</a:t>
            </a:r>
          </a:p>
          <a:p>
            <a:pPr>
              <a:lnSpc>
                <a:spcPct val="150000"/>
              </a:lnSpc>
              <a:buFont typeface="Arial" panose="020B0604020202020204" pitchFamily="34" charset="0"/>
              <a:buChar char="•"/>
            </a:pPr>
            <a:r>
              <a:rPr lang="en-US" sz="2100" b="1" dirty="0">
                <a:latin typeface="Times" panose="02020603050405020304" pitchFamily="18" charset="0"/>
              </a:rPr>
              <a:t> Function</a:t>
            </a:r>
            <a:r>
              <a:rPr lang="en-US" sz="2100" dirty="0">
                <a:latin typeface="Times" panose="02020603050405020304" pitchFamily="18" charset="0"/>
              </a:rPr>
              <a:t>: Manages the power supply to the phone's components. It regulates voltage levels and controls power distribution to different parts like the CPU, screen, and sensors.</a:t>
            </a:r>
          </a:p>
          <a:p>
            <a:pPr>
              <a:lnSpc>
                <a:spcPct val="150000"/>
              </a:lnSpc>
              <a:buFont typeface="Arial" panose="020B0604020202020204" pitchFamily="34" charset="0"/>
              <a:buChar char="•"/>
            </a:pPr>
            <a:r>
              <a:rPr lang="en-US" sz="2100" b="1" dirty="0">
                <a:latin typeface="Times" panose="02020603050405020304" pitchFamily="18" charset="0"/>
              </a:rPr>
              <a:t> Key Components</a:t>
            </a:r>
            <a:r>
              <a:rPr lang="en-US" sz="2100" dirty="0">
                <a:latin typeface="Times" panose="02020603050405020304" pitchFamily="18" charset="0"/>
              </a:rPr>
              <a:t>: Battery, charging circuit, voltage regulators.</a:t>
            </a:r>
          </a:p>
          <a:p>
            <a:pPr>
              <a:lnSpc>
                <a:spcPct val="150000"/>
              </a:lnSpc>
            </a:pPr>
            <a:r>
              <a:rPr lang="en-US" sz="2100" b="1" dirty="0">
                <a:latin typeface="Times" panose="02020603050405020304" pitchFamily="18" charset="0"/>
              </a:rPr>
              <a:t>2. Central Processing Unit (CPU)</a:t>
            </a:r>
          </a:p>
          <a:p>
            <a:pPr>
              <a:lnSpc>
                <a:spcPct val="150000"/>
              </a:lnSpc>
              <a:buFont typeface="Arial" panose="020B0604020202020204" pitchFamily="34" charset="0"/>
              <a:buChar char="•"/>
            </a:pPr>
            <a:r>
              <a:rPr lang="en-US" sz="2100" b="1" dirty="0">
                <a:latin typeface="Times" panose="02020603050405020304" pitchFamily="18" charset="0"/>
              </a:rPr>
              <a:t> Function</a:t>
            </a:r>
            <a:r>
              <a:rPr lang="en-US" sz="2100" dirty="0">
                <a:latin typeface="Times" panose="02020603050405020304" pitchFamily="18" charset="0"/>
              </a:rPr>
              <a:t>: Acts as the brain of the phone. It executes instructions from software applications and controls other hardware components. The CPU handles tasks like running apps, processing data, and managing system resources.</a:t>
            </a:r>
          </a:p>
          <a:p>
            <a:pPr>
              <a:lnSpc>
                <a:spcPct val="150000"/>
              </a:lnSpc>
              <a:buFont typeface="Arial" panose="020B0604020202020204" pitchFamily="34" charset="0"/>
              <a:buChar char="•"/>
            </a:pPr>
            <a:r>
              <a:rPr lang="en-US" sz="2100" b="1" dirty="0">
                <a:latin typeface="Times" panose="02020603050405020304" pitchFamily="18" charset="0"/>
              </a:rPr>
              <a:t> Key Components</a:t>
            </a:r>
            <a:r>
              <a:rPr lang="en-US" sz="2100" dirty="0">
                <a:latin typeface="Times" panose="02020603050405020304" pitchFamily="18" charset="0"/>
              </a:rPr>
              <a:t>: Processor cores, cache memory.</a:t>
            </a:r>
          </a:p>
          <a:p>
            <a:pPr algn="just">
              <a:lnSpc>
                <a:spcPct val="150000"/>
              </a:lnSpc>
            </a:pPr>
            <a:endParaRPr lang="en-US" sz="2100" dirty="0">
              <a:latin typeface="Times"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4182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75</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xmlns="" id="{8F0FD7BA-1379-3787-FD96-632BA4C39924}"/>
              </a:ext>
            </a:extLst>
          </p:cNvPr>
          <p:cNvSpPr txBox="1"/>
          <p:nvPr/>
        </p:nvSpPr>
        <p:spPr>
          <a:xfrm>
            <a:off x="-46859" y="1031987"/>
            <a:ext cx="8723597" cy="1003736"/>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10. Functional blocks of a mobile phone</a:t>
            </a:r>
          </a:p>
          <a:p>
            <a:pPr algn="just">
              <a:lnSpc>
                <a:spcPct val="150000"/>
              </a:lnSpc>
            </a:pPr>
            <a:endParaRPr lang="en-US" sz="2100" b="1"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xmlns="" id="{B6F06132-77EF-1B24-FA31-1A70F402CEA6}"/>
              </a:ext>
            </a:extLst>
          </p:cNvPr>
          <p:cNvSpPr txBox="1"/>
          <p:nvPr/>
        </p:nvSpPr>
        <p:spPr>
          <a:xfrm>
            <a:off x="-46859" y="1609531"/>
            <a:ext cx="12350618" cy="3911840"/>
          </a:xfrm>
          <a:prstGeom prst="rect">
            <a:avLst/>
          </a:prstGeom>
          <a:noFill/>
        </p:spPr>
        <p:txBody>
          <a:bodyPr wrap="square">
            <a:spAutoFit/>
          </a:bodyPr>
          <a:lstStyle/>
          <a:p>
            <a:pPr algn="just">
              <a:lnSpc>
                <a:spcPct val="150000"/>
              </a:lnSpc>
            </a:pPr>
            <a:r>
              <a:rPr lang="en-US" sz="2100" b="1" dirty="0">
                <a:latin typeface="Times" panose="02020603050405020304" pitchFamily="18" charset="0"/>
              </a:rPr>
              <a:t>3. Memory (RAM and Storage)</a:t>
            </a:r>
          </a:p>
          <a:p>
            <a:pPr algn="just">
              <a:lnSpc>
                <a:spcPct val="150000"/>
              </a:lnSpc>
              <a:buFont typeface="Arial" panose="020B0604020202020204" pitchFamily="34" charset="0"/>
              <a:buChar char="•"/>
            </a:pPr>
            <a:r>
              <a:rPr lang="en-US" sz="2100" b="1" dirty="0">
                <a:latin typeface="Times" panose="02020603050405020304" pitchFamily="18" charset="0"/>
              </a:rPr>
              <a:t> Function</a:t>
            </a:r>
            <a:r>
              <a:rPr lang="en-US" sz="2100" dirty="0">
                <a:latin typeface="Times" panose="02020603050405020304" pitchFamily="18" charset="0"/>
              </a:rPr>
              <a:t>: RAM temporarily stores data that the CPU needs to access quickly, like running apps. Storage (ROM or Flash Memory) holds the phone's operating system, apps, and user data like photos and videos.</a:t>
            </a:r>
          </a:p>
          <a:p>
            <a:pPr algn="just">
              <a:lnSpc>
                <a:spcPct val="150000"/>
              </a:lnSpc>
              <a:buFont typeface="Arial" panose="020B0604020202020204" pitchFamily="34" charset="0"/>
              <a:buChar char="•"/>
            </a:pPr>
            <a:r>
              <a:rPr lang="en-US" sz="2100" b="1" dirty="0">
                <a:latin typeface="Times" panose="02020603050405020304" pitchFamily="18" charset="0"/>
              </a:rPr>
              <a:t> Key Components</a:t>
            </a:r>
            <a:r>
              <a:rPr lang="en-US" sz="2100" dirty="0">
                <a:latin typeface="Times" panose="02020603050405020304" pitchFamily="18" charset="0"/>
              </a:rPr>
              <a:t>: RAM chips, flash memory chips.</a:t>
            </a:r>
          </a:p>
          <a:p>
            <a:pPr algn="just">
              <a:lnSpc>
                <a:spcPct val="150000"/>
              </a:lnSpc>
            </a:pPr>
            <a:r>
              <a:rPr lang="en-US" sz="2100" b="1" dirty="0">
                <a:latin typeface="Times" panose="02020603050405020304" pitchFamily="18" charset="0"/>
              </a:rPr>
              <a:t>4. Display and Touchscreen Interface</a:t>
            </a:r>
          </a:p>
          <a:p>
            <a:pPr algn="just">
              <a:lnSpc>
                <a:spcPct val="150000"/>
              </a:lnSpc>
              <a:buFont typeface="Arial" panose="020B0604020202020204" pitchFamily="34" charset="0"/>
              <a:buChar char="•"/>
            </a:pPr>
            <a:r>
              <a:rPr lang="en-US" sz="2100" b="1" dirty="0">
                <a:latin typeface="Times" panose="02020603050405020304" pitchFamily="18" charset="0"/>
              </a:rPr>
              <a:t> Function</a:t>
            </a:r>
            <a:r>
              <a:rPr lang="en-US" sz="2100" dirty="0">
                <a:latin typeface="Times" panose="02020603050405020304" pitchFamily="18" charset="0"/>
              </a:rPr>
              <a:t>: The display shows the graphical user interface, while the touchscreen allows users to interact with the phone by touching the screen.</a:t>
            </a:r>
          </a:p>
          <a:p>
            <a:pPr algn="just">
              <a:lnSpc>
                <a:spcPct val="150000"/>
              </a:lnSpc>
              <a:buFont typeface="Arial" panose="020B0604020202020204" pitchFamily="34" charset="0"/>
              <a:buChar char="•"/>
            </a:pPr>
            <a:r>
              <a:rPr lang="en-US" sz="2100" b="1" dirty="0">
                <a:latin typeface="Times" panose="02020603050405020304" pitchFamily="18" charset="0"/>
              </a:rPr>
              <a:t> Key Components</a:t>
            </a:r>
            <a:r>
              <a:rPr lang="en-US" sz="2100" dirty="0">
                <a:latin typeface="Times" panose="02020603050405020304" pitchFamily="18" charset="0"/>
              </a:rPr>
              <a:t>: LCD or OLED display panel, touch sensor layers.</a:t>
            </a:r>
          </a:p>
        </p:txBody>
      </p:sp>
    </p:spTree>
    <p:extLst>
      <p:ext uri="{BB962C8B-B14F-4D97-AF65-F5344CB8AC3E}">
        <p14:creationId xmlns:p14="http://schemas.microsoft.com/office/powerpoint/2010/main" val="24156723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76</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xmlns="" id="{8F0FD7BA-1379-3787-FD96-632BA4C39924}"/>
              </a:ext>
            </a:extLst>
          </p:cNvPr>
          <p:cNvSpPr txBox="1"/>
          <p:nvPr/>
        </p:nvSpPr>
        <p:spPr>
          <a:xfrm>
            <a:off x="-46859" y="1031987"/>
            <a:ext cx="8723597" cy="1003736"/>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10. Functional blocks of a mobile phone</a:t>
            </a:r>
          </a:p>
          <a:p>
            <a:pPr algn="just">
              <a:lnSpc>
                <a:spcPct val="150000"/>
              </a:lnSpc>
            </a:pPr>
            <a:endParaRPr lang="en-US" sz="2100" b="1"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xmlns="" id="{B6F06132-77EF-1B24-FA31-1A70F402CEA6}"/>
              </a:ext>
            </a:extLst>
          </p:cNvPr>
          <p:cNvSpPr txBox="1"/>
          <p:nvPr/>
        </p:nvSpPr>
        <p:spPr>
          <a:xfrm>
            <a:off x="-46859" y="1600200"/>
            <a:ext cx="12350618" cy="3911840"/>
          </a:xfrm>
          <a:prstGeom prst="rect">
            <a:avLst/>
          </a:prstGeom>
          <a:noFill/>
        </p:spPr>
        <p:txBody>
          <a:bodyPr wrap="square">
            <a:spAutoFit/>
          </a:bodyPr>
          <a:lstStyle/>
          <a:p>
            <a:pPr algn="just">
              <a:lnSpc>
                <a:spcPct val="150000"/>
              </a:lnSpc>
            </a:pPr>
            <a:r>
              <a:rPr lang="en-IN" sz="2100" b="1" dirty="0">
                <a:latin typeface="Times" panose="02020603050405020304" pitchFamily="18" charset="0"/>
              </a:rPr>
              <a:t>5. Baseband Processor</a:t>
            </a:r>
          </a:p>
          <a:p>
            <a:pPr algn="just">
              <a:lnSpc>
                <a:spcPct val="150000"/>
              </a:lnSpc>
              <a:buFont typeface="Arial" panose="020B0604020202020204" pitchFamily="34" charset="0"/>
              <a:buChar char="•"/>
            </a:pPr>
            <a:r>
              <a:rPr lang="en-IN" sz="2100" b="1" dirty="0">
                <a:latin typeface="Times" panose="02020603050405020304" pitchFamily="18" charset="0"/>
              </a:rPr>
              <a:t> Function</a:t>
            </a:r>
            <a:r>
              <a:rPr lang="en-IN" sz="2100" dirty="0">
                <a:latin typeface="Times" panose="02020603050405020304" pitchFamily="18" charset="0"/>
              </a:rPr>
              <a:t>: Manages all communication functions, including voice calls, data, and text messaging. It handles signal processing for cellular networks (e.g., 4G, 5G).</a:t>
            </a:r>
          </a:p>
          <a:p>
            <a:pPr algn="just">
              <a:lnSpc>
                <a:spcPct val="150000"/>
              </a:lnSpc>
              <a:buFont typeface="Arial" panose="020B0604020202020204" pitchFamily="34" charset="0"/>
              <a:buChar char="•"/>
            </a:pPr>
            <a:r>
              <a:rPr lang="en-IN" sz="2100" b="1" dirty="0">
                <a:latin typeface="Times" panose="02020603050405020304" pitchFamily="18" charset="0"/>
              </a:rPr>
              <a:t> Key Components</a:t>
            </a:r>
            <a:r>
              <a:rPr lang="en-IN" sz="2100" dirty="0">
                <a:latin typeface="Times" panose="02020603050405020304" pitchFamily="18" charset="0"/>
              </a:rPr>
              <a:t>: Modem, radio transceiver.</a:t>
            </a:r>
          </a:p>
          <a:p>
            <a:pPr algn="just">
              <a:lnSpc>
                <a:spcPct val="150000"/>
              </a:lnSpc>
            </a:pPr>
            <a:r>
              <a:rPr lang="en-IN" sz="2100" b="1" dirty="0">
                <a:latin typeface="Times" panose="02020603050405020304" pitchFamily="18" charset="0"/>
              </a:rPr>
              <a:t>6. Radio Frequency (RF) Module</a:t>
            </a:r>
          </a:p>
          <a:p>
            <a:pPr algn="just">
              <a:lnSpc>
                <a:spcPct val="150000"/>
              </a:lnSpc>
              <a:buFont typeface="Arial" panose="020B0604020202020204" pitchFamily="34" charset="0"/>
              <a:buChar char="•"/>
            </a:pPr>
            <a:r>
              <a:rPr lang="en-IN" sz="2100" b="1" dirty="0">
                <a:latin typeface="Times" panose="02020603050405020304" pitchFamily="18" charset="0"/>
              </a:rPr>
              <a:t> Function</a:t>
            </a:r>
            <a:r>
              <a:rPr lang="en-IN" sz="2100" dirty="0">
                <a:latin typeface="Times" panose="02020603050405020304" pitchFamily="18" charset="0"/>
              </a:rPr>
              <a:t>: Handles wireless communication, including cellular, Wi-Fi, Bluetooth, and GPS signals. It converts digital signals from the phone into radio waves and vice versa.</a:t>
            </a:r>
          </a:p>
          <a:p>
            <a:pPr algn="just">
              <a:lnSpc>
                <a:spcPct val="150000"/>
              </a:lnSpc>
              <a:buFont typeface="Arial" panose="020B0604020202020204" pitchFamily="34" charset="0"/>
              <a:buChar char="•"/>
            </a:pPr>
            <a:r>
              <a:rPr lang="en-IN" sz="2100" b="1" dirty="0">
                <a:latin typeface="Times" panose="02020603050405020304" pitchFamily="18" charset="0"/>
              </a:rPr>
              <a:t> Key Components</a:t>
            </a:r>
            <a:r>
              <a:rPr lang="en-IN" sz="2100" dirty="0">
                <a:latin typeface="Times" panose="02020603050405020304" pitchFamily="18" charset="0"/>
              </a:rPr>
              <a:t>: RF transceivers, antennas, filters.</a:t>
            </a:r>
          </a:p>
        </p:txBody>
      </p:sp>
    </p:spTree>
    <p:extLst>
      <p:ext uri="{BB962C8B-B14F-4D97-AF65-F5344CB8AC3E}">
        <p14:creationId xmlns:p14="http://schemas.microsoft.com/office/powerpoint/2010/main" val="143819032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77</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xmlns="" id="{8F0FD7BA-1379-3787-FD96-632BA4C39924}"/>
              </a:ext>
            </a:extLst>
          </p:cNvPr>
          <p:cNvSpPr txBox="1"/>
          <p:nvPr/>
        </p:nvSpPr>
        <p:spPr>
          <a:xfrm>
            <a:off x="-46859" y="1031987"/>
            <a:ext cx="8723597" cy="1003736"/>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10. Functional blocks of a mobile phone</a:t>
            </a:r>
          </a:p>
          <a:p>
            <a:pPr algn="just">
              <a:lnSpc>
                <a:spcPct val="150000"/>
              </a:lnSpc>
            </a:pPr>
            <a:endParaRPr lang="en-US" sz="2100" b="1"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xmlns="" id="{B6F06132-77EF-1B24-FA31-1A70F402CEA6}"/>
              </a:ext>
            </a:extLst>
          </p:cNvPr>
          <p:cNvSpPr txBox="1"/>
          <p:nvPr/>
        </p:nvSpPr>
        <p:spPr>
          <a:xfrm>
            <a:off x="-46859" y="1600200"/>
            <a:ext cx="12350618" cy="4396588"/>
          </a:xfrm>
          <a:prstGeom prst="rect">
            <a:avLst/>
          </a:prstGeom>
          <a:noFill/>
        </p:spPr>
        <p:txBody>
          <a:bodyPr wrap="square">
            <a:spAutoFit/>
          </a:bodyPr>
          <a:lstStyle/>
          <a:p>
            <a:pPr algn="just">
              <a:lnSpc>
                <a:spcPct val="150000"/>
              </a:lnSpc>
            </a:pPr>
            <a:r>
              <a:rPr lang="en-US" sz="2100" b="1" dirty="0">
                <a:latin typeface="Times" panose="02020603050405020304" pitchFamily="18" charset="0"/>
              </a:rPr>
              <a:t>7. Audio Codec and Speaker System</a:t>
            </a:r>
          </a:p>
          <a:p>
            <a:pPr algn="just">
              <a:lnSpc>
                <a:spcPct val="150000"/>
              </a:lnSpc>
              <a:buFont typeface="Arial" panose="020B0604020202020204" pitchFamily="34" charset="0"/>
              <a:buChar char="•"/>
            </a:pPr>
            <a:r>
              <a:rPr lang="en-US" sz="2100" b="1" dirty="0">
                <a:latin typeface="Times" panose="02020603050405020304" pitchFamily="18" charset="0"/>
              </a:rPr>
              <a:t> Function</a:t>
            </a:r>
            <a:r>
              <a:rPr lang="en-US" sz="2100" dirty="0">
                <a:latin typeface="Times" panose="02020603050405020304" pitchFamily="18" charset="0"/>
              </a:rPr>
              <a:t>: Converts digital audio signals to analog signals for speakers and vice versa for the microphone. It manages audio input and output, including calls and media playback.</a:t>
            </a:r>
          </a:p>
          <a:p>
            <a:pPr algn="just">
              <a:lnSpc>
                <a:spcPct val="150000"/>
              </a:lnSpc>
              <a:buFont typeface="Arial" panose="020B0604020202020204" pitchFamily="34" charset="0"/>
              <a:buChar char="•"/>
            </a:pPr>
            <a:r>
              <a:rPr lang="en-US" sz="2100" b="1" dirty="0">
                <a:latin typeface="Times" panose="02020603050405020304" pitchFamily="18" charset="0"/>
              </a:rPr>
              <a:t> Key Components</a:t>
            </a:r>
            <a:r>
              <a:rPr lang="en-US" sz="2100" dirty="0">
                <a:latin typeface="Times" panose="02020603050405020304" pitchFamily="18" charset="0"/>
              </a:rPr>
              <a:t>: Digital-to-analog converter (DAC), analog-to-digital converter (ADC), speakers, microphones.</a:t>
            </a:r>
          </a:p>
          <a:p>
            <a:pPr algn="just">
              <a:lnSpc>
                <a:spcPct val="150000"/>
              </a:lnSpc>
            </a:pPr>
            <a:r>
              <a:rPr lang="en-US" sz="2100" b="1" dirty="0">
                <a:latin typeface="Times" panose="02020603050405020304" pitchFamily="18" charset="0"/>
              </a:rPr>
              <a:t>8. Camera System</a:t>
            </a:r>
          </a:p>
          <a:p>
            <a:pPr algn="just">
              <a:lnSpc>
                <a:spcPct val="150000"/>
              </a:lnSpc>
              <a:buFont typeface="Arial" panose="020B0604020202020204" pitchFamily="34" charset="0"/>
              <a:buChar char="•"/>
            </a:pPr>
            <a:r>
              <a:rPr lang="en-US" sz="2100" b="1" dirty="0">
                <a:latin typeface="Times" panose="02020603050405020304" pitchFamily="18" charset="0"/>
              </a:rPr>
              <a:t> Function</a:t>
            </a:r>
            <a:r>
              <a:rPr lang="en-US" sz="2100" dirty="0">
                <a:latin typeface="Times" panose="02020603050405020304" pitchFamily="18" charset="0"/>
              </a:rPr>
              <a:t>: Captures images and videos. It consists of sensors that detect light and convert it into electrical signals, which are then processed into images.</a:t>
            </a:r>
          </a:p>
          <a:p>
            <a:pPr algn="just">
              <a:lnSpc>
                <a:spcPct val="150000"/>
              </a:lnSpc>
              <a:buFont typeface="Arial" panose="020B0604020202020204" pitchFamily="34" charset="0"/>
              <a:buChar char="•"/>
            </a:pPr>
            <a:r>
              <a:rPr lang="en-US" sz="2100" b="1" dirty="0">
                <a:latin typeface="Times" panose="02020603050405020304" pitchFamily="18" charset="0"/>
              </a:rPr>
              <a:t> Key Components</a:t>
            </a:r>
            <a:r>
              <a:rPr lang="en-US" sz="2100" dirty="0">
                <a:latin typeface="Times" panose="02020603050405020304" pitchFamily="18" charset="0"/>
              </a:rPr>
              <a:t>: Image sensors (CMOS), lenses, image signal processor (ISP).</a:t>
            </a:r>
          </a:p>
        </p:txBody>
      </p:sp>
    </p:spTree>
    <p:extLst>
      <p:ext uri="{BB962C8B-B14F-4D97-AF65-F5344CB8AC3E}">
        <p14:creationId xmlns:p14="http://schemas.microsoft.com/office/powerpoint/2010/main" val="158791236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78</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xmlns="" id="{8F0FD7BA-1379-3787-FD96-632BA4C39924}"/>
              </a:ext>
            </a:extLst>
          </p:cNvPr>
          <p:cNvSpPr txBox="1"/>
          <p:nvPr/>
        </p:nvSpPr>
        <p:spPr>
          <a:xfrm>
            <a:off x="-46859" y="1031987"/>
            <a:ext cx="8723597" cy="1003736"/>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10. Functional blocks of a mobile phone</a:t>
            </a:r>
          </a:p>
          <a:p>
            <a:pPr algn="just">
              <a:lnSpc>
                <a:spcPct val="150000"/>
              </a:lnSpc>
            </a:pPr>
            <a:endParaRPr lang="en-US" sz="2100" b="1"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xmlns="" id="{B6F06132-77EF-1B24-FA31-1A70F402CEA6}"/>
              </a:ext>
            </a:extLst>
          </p:cNvPr>
          <p:cNvSpPr txBox="1"/>
          <p:nvPr/>
        </p:nvSpPr>
        <p:spPr>
          <a:xfrm>
            <a:off x="-46859" y="1600200"/>
            <a:ext cx="12350618" cy="4396588"/>
          </a:xfrm>
          <a:prstGeom prst="rect">
            <a:avLst/>
          </a:prstGeom>
          <a:noFill/>
        </p:spPr>
        <p:txBody>
          <a:bodyPr wrap="square">
            <a:spAutoFit/>
          </a:bodyPr>
          <a:lstStyle/>
          <a:p>
            <a:pPr algn="just">
              <a:lnSpc>
                <a:spcPct val="150000"/>
              </a:lnSpc>
            </a:pPr>
            <a:r>
              <a:rPr lang="en-US" sz="2100" b="1" dirty="0">
                <a:latin typeface="Times" panose="02020603050405020304" pitchFamily="18" charset="0"/>
              </a:rPr>
              <a:t>9. Sensors</a:t>
            </a:r>
          </a:p>
          <a:p>
            <a:pPr algn="just">
              <a:lnSpc>
                <a:spcPct val="150000"/>
              </a:lnSpc>
              <a:buFont typeface="Arial" panose="020B0604020202020204" pitchFamily="34" charset="0"/>
              <a:buChar char="•"/>
            </a:pPr>
            <a:r>
              <a:rPr lang="en-US" sz="2100" b="1" dirty="0">
                <a:latin typeface="Times" panose="02020603050405020304" pitchFamily="18" charset="0"/>
              </a:rPr>
              <a:t>Function</a:t>
            </a:r>
            <a:r>
              <a:rPr lang="en-US" sz="2100" dirty="0">
                <a:latin typeface="Times" panose="02020603050405020304" pitchFamily="18" charset="0"/>
              </a:rPr>
              <a:t>: Provide data to the phone about its environment and user interactions. Common sensors include accelerometers (detects movement), gyroscopes (detects orientation), proximity sensors, and ambient light sensors.</a:t>
            </a:r>
          </a:p>
          <a:p>
            <a:pPr algn="just">
              <a:lnSpc>
                <a:spcPct val="150000"/>
              </a:lnSpc>
              <a:buFont typeface="Arial" panose="020B0604020202020204" pitchFamily="34" charset="0"/>
              <a:buChar char="•"/>
            </a:pPr>
            <a:r>
              <a:rPr lang="en-US" sz="2100" b="1" dirty="0">
                <a:latin typeface="Times" panose="02020603050405020304" pitchFamily="18" charset="0"/>
              </a:rPr>
              <a:t>Key Components</a:t>
            </a:r>
            <a:r>
              <a:rPr lang="en-US" sz="2100" dirty="0">
                <a:latin typeface="Times" panose="02020603050405020304" pitchFamily="18" charset="0"/>
              </a:rPr>
              <a:t>: Accelerometer, gyroscope, proximity sensor, light sensor.</a:t>
            </a:r>
          </a:p>
          <a:p>
            <a:pPr algn="just">
              <a:lnSpc>
                <a:spcPct val="150000"/>
              </a:lnSpc>
            </a:pPr>
            <a:r>
              <a:rPr lang="en-US" sz="2100" b="1" dirty="0">
                <a:latin typeface="Times" panose="02020603050405020304" pitchFamily="18" charset="0"/>
              </a:rPr>
              <a:t>10. Connectivity Modules</a:t>
            </a:r>
          </a:p>
          <a:p>
            <a:pPr algn="just">
              <a:lnSpc>
                <a:spcPct val="150000"/>
              </a:lnSpc>
              <a:buFont typeface="Arial" panose="020B0604020202020204" pitchFamily="34" charset="0"/>
              <a:buChar char="•"/>
            </a:pPr>
            <a:r>
              <a:rPr lang="en-US" sz="2100" b="1" dirty="0">
                <a:latin typeface="Times" panose="02020603050405020304" pitchFamily="18" charset="0"/>
              </a:rPr>
              <a:t>Function</a:t>
            </a:r>
            <a:r>
              <a:rPr lang="en-US" sz="2100" dirty="0">
                <a:latin typeface="Times" panose="02020603050405020304" pitchFamily="18" charset="0"/>
              </a:rPr>
              <a:t>: Facilitate connections to networks and other devices, including Wi-Fi, Bluetooth, and GPS. These modules ensure the phone can connect to the internet, pair with other devices, and provide location services.</a:t>
            </a:r>
          </a:p>
          <a:p>
            <a:pPr algn="just">
              <a:lnSpc>
                <a:spcPct val="150000"/>
              </a:lnSpc>
              <a:buFont typeface="Arial" panose="020B0604020202020204" pitchFamily="34" charset="0"/>
              <a:buChar char="•"/>
            </a:pPr>
            <a:r>
              <a:rPr lang="en-US" sz="2100" b="1" dirty="0">
                <a:latin typeface="Times" panose="02020603050405020304" pitchFamily="18" charset="0"/>
              </a:rPr>
              <a:t>Key Components</a:t>
            </a:r>
            <a:r>
              <a:rPr lang="en-US" sz="2100" dirty="0">
                <a:latin typeface="Times" panose="02020603050405020304" pitchFamily="18" charset="0"/>
              </a:rPr>
              <a:t>: Wi-Fi module, Bluetooth module, GPS receiver.</a:t>
            </a:r>
          </a:p>
        </p:txBody>
      </p:sp>
    </p:spTree>
    <p:extLst>
      <p:ext uri="{BB962C8B-B14F-4D97-AF65-F5344CB8AC3E}">
        <p14:creationId xmlns:p14="http://schemas.microsoft.com/office/powerpoint/2010/main" val="314476326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79</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xmlns="" id="{8F0FD7BA-1379-3787-FD96-632BA4C39924}"/>
              </a:ext>
            </a:extLst>
          </p:cNvPr>
          <p:cNvSpPr txBox="1"/>
          <p:nvPr/>
        </p:nvSpPr>
        <p:spPr>
          <a:xfrm>
            <a:off x="-46859" y="1031987"/>
            <a:ext cx="8723597" cy="1003736"/>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10. Functional blocks of a mobile phone</a:t>
            </a:r>
          </a:p>
          <a:p>
            <a:pPr algn="just">
              <a:lnSpc>
                <a:spcPct val="150000"/>
              </a:lnSpc>
            </a:pPr>
            <a:endParaRPr lang="en-US" sz="2100" b="1"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xmlns="" id="{B6F06132-77EF-1B24-FA31-1A70F402CEA6}"/>
              </a:ext>
            </a:extLst>
          </p:cNvPr>
          <p:cNvSpPr txBox="1"/>
          <p:nvPr/>
        </p:nvSpPr>
        <p:spPr>
          <a:xfrm>
            <a:off x="-46859" y="1600200"/>
            <a:ext cx="12350618" cy="4881721"/>
          </a:xfrm>
          <a:prstGeom prst="rect">
            <a:avLst/>
          </a:prstGeom>
          <a:noFill/>
        </p:spPr>
        <p:txBody>
          <a:bodyPr wrap="square">
            <a:spAutoFit/>
          </a:bodyPr>
          <a:lstStyle/>
          <a:p>
            <a:pPr algn="just">
              <a:lnSpc>
                <a:spcPct val="150000"/>
              </a:lnSpc>
            </a:pPr>
            <a:r>
              <a:rPr lang="en-US" sz="2100" b="1" dirty="0">
                <a:latin typeface="Times" panose="02020603050405020304" pitchFamily="18" charset="0"/>
              </a:rPr>
              <a:t>11. Battery and Charging Circuit</a:t>
            </a:r>
          </a:p>
          <a:p>
            <a:pPr algn="just">
              <a:lnSpc>
                <a:spcPct val="150000"/>
              </a:lnSpc>
              <a:buFont typeface="Arial" panose="020B0604020202020204" pitchFamily="34" charset="0"/>
              <a:buChar char="•"/>
            </a:pPr>
            <a:r>
              <a:rPr lang="en-US" sz="2100" b="1" dirty="0">
                <a:latin typeface="Times" panose="02020603050405020304" pitchFamily="18" charset="0"/>
              </a:rPr>
              <a:t> Function</a:t>
            </a:r>
            <a:r>
              <a:rPr lang="en-US" sz="2100" dirty="0">
                <a:latin typeface="Times" panose="02020603050405020304" pitchFamily="18" charset="0"/>
              </a:rPr>
              <a:t>: Stores energy to power the phone. The charging circuit controls how the battery is charged and ensures it operates safely.</a:t>
            </a:r>
          </a:p>
          <a:p>
            <a:pPr algn="just">
              <a:lnSpc>
                <a:spcPct val="150000"/>
              </a:lnSpc>
              <a:buFont typeface="Arial" panose="020B0604020202020204" pitchFamily="34" charset="0"/>
              <a:buChar char="•"/>
            </a:pPr>
            <a:r>
              <a:rPr lang="en-US" sz="2100" b="1" dirty="0">
                <a:latin typeface="Times" panose="02020603050405020304" pitchFamily="18" charset="0"/>
              </a:rPr>
              <a:t> Key Components</a:t>
            </a:r>
            <a:r>
              <a:rPr lang="en-US" sz="2100" dirty="0">
                <a:latin typeface="Times" panose="02020603050405020304" pitchFamily="18" charset="0"/>
              </a:rPr>
              <a:t>: Lithium-ion battery, charging IC, power management circuits.</a:t>
            </a:r>
          </a:p>
          <a:p>
            <a:pPr algn="just">
              <a:lnSpc>
                <a:spcPct val="150000"/>
              </a:lnSpc>
            </a:pPr>
            <a:r>
              <a:rPr lang="en-US" sz="2100" b="1" dirty="0">
                <a:latin typeface="Times" panose="02020603050405020304" pitchFamily="18" charset="0"/>
              </a:rPr>
              <a:t>12. Operating System (OS)</a:t>
            </a:r>
          </a:p>
          <a:p>
            <a:pPr algn="just">
              <a:lnSpc>
                <a:spcPct val="150000"/>
              </a:lnSpc>
              <a:buFont typeface="Arial" panose="020B0604020202020204" pitchFamily="34" charset="0"/>
              <a:buChar char="•"/>
            </a:pPr>
            <a:r>
              <a:rPr lang="en-US" sz="2100" b="1" dirty="0">
                <a:latin typeface="Times" panose="02020603050405020304" pitchFamily="18" charset="0"/>
              </a:rPr>
              <a:t> Function</a:t>
            </a:r>
            <a:r>
              <a:rPr lang="en-US" sz="2100" dirty="0">
                <a:latin typeface="Times" panose="02020603050405020304" pitchFamily="18" charset="0"/>
              </a:rPr>
              <a:t>: Software that manages hardware resources and provides a platform for applications to run. The OS coordinates the phone's operations and provides user interface elements.</a:t>
            </a:r>
          </a:p>
          <a:p>
            <a:pPr algn="just">
              <a:lnSpc>
                <a:spcPct val="150000"/>
              </a:lnSpc>
              <a:buFont typeface="Arial" panose="020B0604020202020204" pitchFamily="34" charset="0"/>
              <a:buChar char="•"/>
            </a:pPr>
            <a:r>
              <a:rPr lang="en-US" sz="2100" b="1" dirty="0">
                <a:latin typeface="Times" panose="02020603050405020304" pitchFamily="18" charset="0"/>
              </a:rPr>
              <a:t> Key Components</a:t>
            </a:r>
            <a:r>
              <a:rPr lang="en-US" sz="2100" dirty="0">
                <a:latin typeface="Times" panose="02020603050405020304" pitchFamily="18" charset="0"/>
              </a:rPr>
              <a:t>: Kernel, system libraries, user interface framework.</a:t>
            </a:r>
          </a:p>
          <a:p>
            <a:pPr algn="just">
              <a:lnSpc>
                <a:spcPct val="150000"/>
              </a:lnSpc>
            </a:pPr>
            <a:r>
              <a:rPr lang="en-US" sz="2100" dirty="0">
                <a:latin typeface="Times" panose="02020603050405020304" pitchFamily="18" charset="0"/>
              </a:rPr>
              <a:t>Each of these functional blocks works together to make a mobile phone operate smoothly, enabling communication, media consumption, and a wide range of other functions.</a:t>
            </a:r>
          </a:p>
        </p:txBody>
      </p:sp>
    </p:spTree>
    <p:extLst>
      <p:ext uri="{BB962C8B-B14F-4D97-AF65-F5344CB8AC3E}">
        <p14:creationId xmlns:p14="http://schemas.microsoft.com/office/powerpoint/2010/main" val="193484804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80</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xmlns="" id="{8F0FD7BA-1379-3787-FD96-632BA4C39924}"/>
              </a:ext>
            </a:extLst>
          </p:cNvPr>
          <p:cNvSpPr txBox="1"/>
          <p:nvPr/>
        </p:nvSpPr>
        <p:spPr>
          <a:xfrm>
            <a:off x="-46859" y="1031987"/>
            <a:ext cx="8723597" cy="1003736"/>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11. Embedded Processing Unit of Mobile Phones</a:t>
            </a:r>
          </a:p>
          <a:p>
            <a:pPr algn="just">
              <a:lnSpc>
                <a:spcPct val="150000"/>
              </a:lnSpc>
            </a:pPr>
            <a:endParaRPr lang="en-US" sz="2100" b="1"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xmlns="" id="{B6F06132-77EF-1B24-FA31-1A70F402CEA6}"/>
              </a:ext>
            </a:extLst>
          </p:cNvPr>
          <p:cNvSpPr txBox="1"/>
          <p:nvPr/>
        </p:nvSpPr>
        <p:spPr>
          <a:xfrm>
            <a:off x="-79310" y="1600200"/>
            <a:ext cx="12350618" cy="5576976"/>
          </a:xfrm>
          <a:prstGeom prst="rect">
            <a:avLst/>
          </a:prstGeom>
          <a:noFill/>
        </p:spPr>
        <p:txBody>
          <a:bodyPr wrap="square">
            <a:spAutoFit/>
          </a:bodyPr>
          <a:lstStyle/>
          <a:p>
            <a:pPr algn="just">
              <a:lnSpc>
                <a:spcPct val="150000"/>
              </a:lnSpc>
            </a:pPr>
            <a:r>
              <a:rPr lang="en-US" sz="2000" dirty="0">
                <a:latin typeface="Times" panose="02020603050405020304" pitchFamily="18" charset="0"/>
              </a:rPr>
              <a:t>The embedded processing part of a mobile phone is crucial for managing the device's various tasks and functions in an efficient, low-power environment. This part primarily involves the Central Processing Unit (CPU) and its associated components, which are designed to handle specific operations that are fundamental to the phone's functionality.</a:t>
            </a:r>
          </a:p>
          <a:p>
            <a:pPr algn="just">
              <a:lnSpc>
                <a:spcPct val="150000"/>
              </a:lnSpc>
            </a:pPr>
            <a:r>
              <a:rPr lang="en-US" sz="2000" b="1" dirty="0">
                <a:latin typeface="Times" panose="02020603050405020304" pitchFamily="18" charset="0"/>
              </a:rPr>
              <a:t>1. Central Processing Block: </a:t>
            </a:r>
          </a:p>
          <a:p>
            <a:pPr algn="just">
              <a:lnSpc>
                <a:spcPct val="150000"/>
              </a:lnSpc>
            </a:pPr>
            <a:r>
              <a:rPr lang="en-US" sz="2000" dirty="0">
                <a:latin typeface="Times" panose="02020603050405020304" pitchFamily="18" charset="0"/>
              </a:rPr>
              <a:t>This block is at the heart of the phone's processing capabilities. It typically includes:</a:t>
            </a:r>
          </a:p>
          <a:p>
            <a:pPr algn="just">
              <a:lnSpc>
                <a:spcPct val="150000"/>
              </a:lnSpc>
              <a:buFont typeface="Arial" panose="020B0604020202020204" pitchFamily="34" charset="0"/>
              <a:buChar char="•"/>
            </a:pPr>
            <a:r>
              <a:rPr lang="en-US" sz="2000" b="1" dirty="0">
                <a:latin typeface="Times" panose="02020603050405020304" pitchFamily="18" charset="0"/>
              </a:rPr>
              <a:t> ARM Core Processors</a:t>
            </a:r>
            <a:r>
              <a:rPr lang="en-US" sz="2000" dirty="0">
                <a:latin typeface="Times" panose="02020603050405020304" pitchFamily="18" charset="0"/>
              </a:rPr>
              <a:t>: These are general-purpose processors based on ARM architecture, which is popular for its efficiency and performance in mobile devices. Modern phones often use single or dual-core ARM processors, though some advanced models may use more cores.</a:t>
            </a:r>
          </a:p>
          <a:p>
            <a:pPr algn="just">
              <a:lnSpc>
                <a:spcPct val="150000"/>
              </a:lnSpc>
              <a:buFont typeface="Arial" panose="020B0604020202020204" pitchFamily="34" charset="0"/>
              <a:buChar char="•"/>
            </a:pPr>
            <a:r>
              <a:rPr lang="en-US" sz="2000" b="1" dirty="0">
                <a:latin typeface="Times" panose="02020603050405020304" pitchFamily="18" charset="0"/>
              </a:rPr>
              <a:t> Co-processors</a:t>
            </a:r>
            <a:r>
              <a:rPr lang="en-US" sz="2000" dirty="0">
                <a:latin typeface="Times" panose="02020603050405020304" pitchFamily="18" charset="0"/>
              </a:rPr>
              <a:t>: These are specialized processors that assist the main ARM core by handling specific tasks, particularly </a:t>
            </a:r>
            <a:r>
              <a:rPr lang="en-US" sz="2000" b="1" dirty="0">
                <a:latin typeface="Times" panose="02020603050405020304" pitchFamily="18" charset="0"/>
              </a:rPr>
              <a:t>signal processing</a:t>
            </a:r>
            <a:r>
              <a:rPr lang="en-US" sz="2000" dirty="0">
                <a:latin typeface="Times" panose="02020603050405020304" pitchFamily="18" charset="0"/>
              </a:rPr>
              <a:t>. For example, tasks like processing audio, video, or handling communications can be offloaded to these co-processors, freeing up the main processor for other tasks.</a:t>
            </a:r>
          </a:p>
          <a:p>
            <a:pPr algn="just">
              <a:lnSpc>
                <a:spcPct val="150000"/>
              </a:lnSpc>
            </a:pPr>
            <a:endParaRPr lang="en-US" sz="2000" dirty="0">
              <a:latin typeface="Times" panose="02020603050405020304" pitchFamily="18" charset="0"/>
            </a:endParaRPr>
          </a:p>
        </p:txBody>
      </p:sp>
    </p:spTree>
    <p:extLst>
      <p:ext uri="{BB962C8B-B14F-4D97-AF65-F5344CB8AC3E}">
        <p14:creationId xmlns:p14="http://schemas.microsoft.com/office/powerpoint/2010/main" val="374280396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81</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xmlns="" id="{8F0FD7BA-1379-3787-FD96-632BA4C39924}"/>
              </a:ext>
            </a:extLst>
          </p:cNvPr>
          <p:cNvSpPr txBox="1"/>
          <p:nvPr/>
        </p:nvSpPr>
        <p:spPr>
          <a:xfrm>
            <a:off x="-46859" y="1031987"/>
            <a:ext cx="8723597" cy="1003736"/>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11. Embedded Processing Unit of Mobile Phones</a:t>
            </a:r>
          </a:p>
          <a:p>
            <a:pPr algn="just">
              <a:lnSpc>
                <a:spcPct val="150000"/>
              </a:lnSpc>
            </a:pPr>
            <a:endParaRPr lang="en-US" sz="2100" b="1"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23447" y="5950824"/>
            <a:ext cx="11947861" cy="518988"/>
          </a:xfrm>
          <a:prstGeom prst="rect">
            <a:avLst/>
          </a:prstGeom>
          <a:noFill/>
        </p:spPr>
        <p:txBody>
          <a:bodyPr wrap="square">
            <a:spAutoFit/>
          </a:bodyPr>
          <a:lstStyle/>
          <a:p>
            <a:pPr algn="ctr">
              <a:lnSpc>
                <a:spcPct val="150000"/>
              </a:lnSpc>
            </a:pPr>
            <a:r>
              <a:rPr lang="en-US" sz="2100" b="1" dirty="0">
                <a:latin typeface="Times New Roman" panose="02020603050405020304" pitchFamily="18" charset="0"/>
                <a:cs typeface="Times New Roman" panose="02020603050405020304" pitchFamily="18" charset="0"/>
              </a:rPr>
              <a:t>Popular SoC</a:t>
            </a:r>
          </a:p>
        </p:txBody>
      </p:sp>
      <p:sp>
        <p:nvSpPr>
          <p:cNvPr id="11" name="TextBox 10">
            <a:extLst>
              <a:ext uri="{FF2B5EF4-FFF2-40B4-BE49-F238E27FC236}">
                <a16:creationId xmlns:a16="http://schemas.microsoft.com/office/drawing/2014/main" xmlns="" id="{B6F06132-77EF-1B24-FA31-1A70F402CEA6}"/>
              </a:ext>
            </a:extLst>
          </p:cNvPr>
          <p:cNvSpPr txBox="1"/>
          <p:nvPr/>
        </p:nvSpPr>
        <p:spPr>
          <a:xfrm>
            <a:off x="-79310" y="1600200"/>
            <a:ext cx="12350618" cy="498663"/>
          </a:xfrm>
          <a:prstGeom prst="rect">
            <a:avLst/>
          </a:prstGeom>
          <a:noFill/>
        </p:spPr>
        <p:txBody>
          <a:bodyPr wrap="square">
            <a:spAutoFit/>
          </a:bodyPr>
          <a:lstStyle/>
          <a:p>
            <a:pPr algn="just">
              <a:lnSpc>
                <a:spcPct val="150000"/>
              </a:lnSpc>
            </a:pPr>
            <a:endParaRPr lang="en-US" sz="2000" dirty="0">
              <a:latin typeface="Times" panose="02020603050405020304" pitchFamily="18" charset="0"/>
            </a:endParaRPr>
          </a:p>
        </p:txBody>
      </p:sp>
      <p:pic>
        <p:nvPicPr>
          <p:cNvPr id="9" name="Picture 8">
            <a:extLst>
              <a:ext uri="{FF2B5EF4-FFF2-40B4-BE49-F238E27FC236}">
                <a16:creationId xmlns:a16="http://schemas.microsoft.com/office/drawing/2014/main" xmlns="" id="{47F044A2-01FE-38A1-00FC-BED40CC81470}"/>
              </a:ext>
            </a:extLst>
          </p:cNvPr>
          <p:cNvPicPr>
            <a:picLocks noChangeAspect="1"/>
          </p:cNvPicPr>
          <p:nvPr/>
        </p:nvPicPr>
        <p:blipFill>
          <a:blip r:embed="rId3"/>
          <a:stretch>
            <a:fillRect/>
          </a:stretch>
        </p:blipFill>
        <p:spPr>
          <a:xfrm>
            <a:off x="3684060" y="1725750"/>
            <a:ext cx="4823878" cy="4359018"/>
          </a:xfrm>
          <a:prstGeom prst="rect">
            <a:avLst/>
          </a:prstGeom>
        </p:spPr>
      </p:pic>
    </p:spTree>
    <p:extLst>
      <p:ext uri="{BB962C8B-B14F-4D97-AF65-F5344CB8AC3E}">
        <p14:creationId xmlns:p14="http://schemas.microsoft.com/office/powerpoint/2010/main" val="140744669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82</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xmlns="" id="{8F0FD7BA-1379-3787-FD96-632BA4C39924}"/>
              </a:ext>
            </a:extLst>
          </p:cNvPr>
          <p:cNvSpPr txBox="1"/>
          <p:nvPr/>
        </p:nvSpPr>
        <p:spPr>
          <a:xfrm>
            <a:off x="-46859" y="1031987"/>
            <a:ext cx="8723597" cy="1003736"/>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11. Embedded Processing Unit of Mobile Phones</a:t>
            </a:r>
          </a:p>
          <a:p>
            <a:pPr algn="just">
              <a:lnSpc>
                <a:spcPct val="150000"/>
              </a:lnSpc>
            </a:pPr>
            <a:endParaRPr lang="en-US" sz="2100" b="1"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xmlns="" id="{B6F06132-77EF-1B24-FA31-1A70F402CEA6}"/>
              </a:ext>
            </a:extLst>
          </p:cNvPr>
          <p:cNvSpPr txBox="1"/>
          <p:nvPr/>
        </p:nvSpPr>
        <p:spPr>
          <a:xfrm>
            <a:off x="-79310" y="1600200"/>
            <a:ext cx="12350618" cy="5115311"/>
          </a:xfrm>
          <a:prstGeom prst="rect">
            <a:avLst/>
          </a:prstGeom>
          <a:noFill/>
        </p:spPr>
        <p:txBody>
          <a:bodyPr wrap="square">
            <a:spAutoFit/>
          </a:bodyPr>
          <a:lstStyle/>
          <a:p>
            <a:pPr algn="just">
              <a:lnSpc>
                <a:spcPct val="150000"/>
              </a:lnSpc>
            </a:pPr>
            <a:r>
              <a:rPr lang="en-US" sz="2000" b="1" dirty="0">
                <a:latin typeface="Times" panose="02020603050405020304" pitchFamily="18" charset="0"/>
              </a:rPr>
              <a:t>2. System-on-Chip (SoC)</a:t>
            </a:r>
          </a:p>
          <a:p>
            <a:pPr algn="just">
              <a:lnSpc>
                <a:spcPct val="150000"/>
              </a:lnSpc>
            </a:pPr>
            <a:r>
              <a:rPr lang="en-US" sz="2000" dirty="0">
                <a:latin typeface="Times" panose="02020603050405020304" pitchFamily="18" charset="0"/>
              </a:rPr>
              <a:t>The </a:t>
            </a:r>
            <a:r>
              <a:rPr lang="en-US" sz="2000" b="1" dirty="0">
                <a:latin typeface="Times" panose="02020603050405020304" pitchFamily="18" charset="0"/>
              </a:rPr>
              <a:t>SoC (System-on-Chip)</a:t>
            </a:r>
            <a:r>
              <a:rPr lang="en-US" sz="2000" dirty="0">
                <a:latin typeface="Times" panose="02020603050405020304" pitchFamily="18" charset="0"/>
              </a:rPr>
              <a:t> is a crucial component that integrates multiple functions into a single chip. In modern smartphones, the SoC handles not just the main processing tasks but also manages microcontroller unit (MCU) tasks and digital signal processing (DSP) applications.</a:t>
            </a:r>
          </a:p>
          <a:p>
            <a:pPr algn="just">
              <a:lnSpc>
                <a:spcPct val="150000"/>
              </a:lnSpc>
              <a:buFont typeface="Arial" panose="020B0604020202020204" pitchFamily="34" charset="0"/>
              <a:buChar char="•"/>
            </a:pPr>
            <a:r>
              <a:rPr lang="en-US" sz="2000" b="1" dirty="0">
                <a:latin typeface="Times" panose="02020603050405020304" pitchFamily="18" charset="0"/>
              </a:rPr>
              <a:t> MCU</a:t>
            </a:r>
            <a:r>
              <a:rPr lang="en-US" sz="2000" dirty="0">
                <a:latin typeface="Times" panose="02020603050405020304" pitchFamily="18" charset="0"/>
              </a:rPr>
              <a:t>: The microcontroller unit manages low-level operations, like interfacing with sensors or controlling the power management.</a:t>
            </a:r>
          </a:p>
          <a:p>
            <a:pPr algn="just">
              <a:lnSpc>
                <a:spcPct val="150000"/>
              </a:lnSpc>
              <a:buFont typeface="Arial" panose="020B0604020202020204" pitchFamily="34" charset="0"/>
              <a:buChar char="•"/>
            </a:pPr>
            <a:r>
              <a:rPr lang="en-US" sz="2000" b="1" dirty="0">
                <a:latin typeface="Times" panose="02020603050405020304" pitchFamily="18" charset="0"/>
              </a:rPr>
              <a:t> DSP</a:t>
            </a:r>
            <a:r>
              <a:rPr lang="en-US" sz="2000" dirty="0">
                <a:latin typeface="Times" panose="02020603050405020304" pitchFamily="18" charset="0"/>
              </a:rPr>
              <a:t>: The digital signal processor focuses on tasks like audio processing, video decoding, or enhancing images.</a:t>
            </a:r>
          </a:p>
          <a:p>
            <a:pPr algn="just">
              <a:lnSpc>
                <a:spcPct val="150000"/>
              </a:lnSpc>
            </a:pPr>
            <a:r>
              <a:rPr lang="en-US" sz="2000" b="1" dirty="0">
                <a:latin typeface="Times" panose="02020603050405020304" pitchFamily="18" charset="0"/>
              </a:rPr>
              <a:t>3. Capabilities of Modern Processors</a:t>
            </a:r>
          </a:p>
          <a:p>
            <a:pPr algn="just">
              <a:lnSpc>
                <a:spcPct val="150000"/>
              </a:lnSpc>
            </a:pPr>
            <a:r>
              <a:rPr lang="en-US" sz="2000" dirty="0">
                <a:latin typeface="Times" panose="02020603050405020304" pitchFamily="18" charset="0"/>
              </a:rPr>
              <a:t>The processors used in today's smartphones are incredibly powerful, capable of running full operating systems like </a:t>
            </a:r>
            <a:r>
              <a:rPr lang="en-US" sz="2000" b="1" dirty="0">
                <a:latin typeface="Times" panose="02020603050405020304" pitchFamily="18" charset="0"/>
              </a:rPr>
              <a:t>Linux</a:t>
            </a:r>
            <a:r>
              <a:rPr lang="en-US" sz="2000" dirty="0">
                <a:latin typeface="Times" panose="02020603050405020304" pitchFamily="18" charset="0"/>
              </a:rPr>
              <a:t> and </a:t>
            </a:r>
            <a:r>
              <a:rPr lang="en-US" sz="2000" b="1" dirty="0">
                <a:latin typeface="Times" panose="02020603050405020304" pitchFamily="18" charset="0"/>
              </a:rPr>
              <a:t>Android</a:t>
            </a:r>
            <a:r>
              <a:rPr lang="en-US" sz="2000" dirty="0">
                <a:latin typeface="Times" panose="02020603050405020304" pitchFamily="18" charset="0"/>
              </a:rPr>
              <a:t>. These operating systems enable the phone to perform a wide range of tasks, from running apps to handling complex multitasking, similar to what a personal computer (PC) does.</a:t>
            </a:r>
          </a:p>
        </p:txBody>
      </p:sp>
    </p:spTree>
    <p:extLst>
      <p:ext uri="{BB962C8B-B14F-4D97-AF65-F5344CB8AC3E}">
        <p14:creationId xmlns:p14="http://schemas.microsoft.com/office/powerpoint/2010/main" val="13694255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83</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xmlns="" id="{8F0FD7BA-1379-3787-FD96-632BA4C39924}"/>
              </a:ext>
            </a:extLst>
          </p:cNvPr>
          <p:cNvSpPr txBox="1"/>
          <p:nvPr/>
        </p:nvSpPr>
        <p:spPr>
          <a:xfrm>
            <a:off x="-46859" y="1031987"/>
            <a:ext cx="8723597" cy="1003736"/>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11. Embedded Processing Unit of Mobile Phones</a:t>
            </a:r>
          </a:p>
          <a:p>
            <a:pPr algn="just">
              <a:lnSpc>
                <a:spcPct val="150000"/>
              </a:lnSpc>
            </a:pPr>
            <a:endParaRPr lang="en-US" sz="2100" b="1"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xmlns="" id="{B6F06132-77EF-1B24-FA31-1A70F402CEA6}"/>
              </a:ext>
            </a:extLst>
          </p:cNvPr>
          <p:cNvSpPr txBox="1"/>
          <p:nvPr/>
        </p:nvSpPr>
        <p:spPr>
          <a:xfrm>
            <a:off x="-79310" y="1600200"/>
            <a:ext cx="12350618" cy="4653262"/>
          </a:xfrm>
          <a:prstGeom prst="rect">
            <a:avLst/>
          </a:prstGeom>
          <a:noFill/>
        </p:spPr>
        <p:txBody>
          <a:bodyPr wrap="square">
            <a:spAutoFit/>
          </a:bodyPr>
          <a:lstStyle/>
          <a:p>
            <a:pPr algn="just">
              <a:lnSpc>
                <a:spcPct val="150000"/>
              </a:lnSpc>
            </a:pPr>
            <a:r>
              <a:rPr lang="en-US" sz="2000" b="1" dirty="0">
                <a:latin typeface="Times" panose="02020603050405020304" pitchFamily="18" charset="0"/>
              </a:rPr>
              <a:t>4. Popular Mobile Processors</a:t>
            </a:r>
          </a:p>
          <a:p>
            <a:pPr algn="just">
              <a:lnSpc>
                <a:spcPct val="150000"/>
              </a:lnSpc>
            </a:pPr>
            <a:r>
              <a:rPr lang="en-US" sz="2000" dirty="0">
                <a:latin typeface="Times" panose="02020603050405020304" pitchFamily="18" charset="0"/>
              </a:rPr>
              <a:t>Several companies produce the powerful processors used in smartphones. Some well-known examples include:</a:t>
            </a:r>
          </a:p>
          <a:p>
            <a:pPr algn="just">
              <a:lnSpc>
                <a:spcPct val="150000"/>
              </a:lnSpc>
              <a:buFont typeface="Arial" panose="020B0604020202020204" pitchFamily="34" charset="0"/>
              <a:buChar char="•"/>
            </a:pPr>
            <a:r>
              <a:rPr lang="en-US" sz="2000" b="1" dirty="0">
                <a:latin typeface="Times" panose="02020603050405020304" pitchFamily="18" charset="0"/>
              </a:rPr>
              <a:t>Texas Instruments’ OMAP</a:t>
            </a:r>
            <a:r>
              <a:rPr lang="en-US" sz="2000" dirty="0">
                <a:latin typeface="Times" panose="02020603050405020304" pitchFamily="18" charset="0"/>
              </a:rPr>
              <a:t>: Known for its strong performance in multimedia processing.</a:t>
            </a:r>
          </a:p>
          <a:p>
            <a:pPr algn="just">
              <a:lnSpc>
                <a:spcPct val="150000"/>
              </a:lnSpc>
              <a:buFont typeface="Arial" panose="020B0604020202020204" pitchFamily="34" charset="0"/>
              <a:buChar char="•"/>
            </a:pPr>
            <a:r>
              <a:rPr lang="en-US" sz="2000" b="1" dirty="0">
                <a:latin typeface="Times" panose="02020603050405020304" pitchFamily="18" charset="0"/>
              </a:rPr>
              <a:t>Samsung’s </a:t>
            </a:r>
            <a:r>
              <a:rPr lang="en-US" sz="2000" b="1" dirty="0" err="1">
                <a:latin typeface="Times" panose="02020603050405020304" pitchFamily="18" charset="0"/>
              </a:rPr>
              <a:t>Exynos</a:t>
            </a:r>
            <a:r>
              <a:rPr lang="en-US" sz="2000" dirty="0">
                <a:latin typeface="Times" panose="02020603050405020304" pitchFamily="18" charset="0"/>
              </a:rPr>
              <a:t>: Often used in Samsung’s own smartphones, offering a balance of power and efficiency.</a:t>
            </a:r>
          </a:p>
          <a:p>
            <a:pPr algn="just">
              <a:lnSpc>
                <a:spcPct val="150000"/>
              </a:lnSpc>
              <a:buFont typeface="Arial" panose="020B0604020202020204" pitchFamily="34" charset="0"/>
              <a:buChar char="•"/>
            </a:pPr>
            <a:r>
              <a:rPr lang="en-US" sz="2000" b="1" dirty="0">
                <a:latin typeface="Times" panose="02020603050405020304" pitchFamily="18" charset="0"/>
              </a:rPr>
              <a:t>Qualcomm’s Snapdragon</a:t>
            </a:r>
            <a:r>
              <a:rPr lang="en-US" sz="2000" dirty="0">
                <a:latin typeface="Times" panose="02020603050405020304" pitchFamily="18" charset="0"/>
              </a:rPr>
              <a:t>: One of the most popular mobile processors, widely used across many brands for its high performance and advanced features.</a:t>
            </a:r>
          </a:p>
          <a:p>
            <a:pPr algn="just">
              <a:lnSpc>
                <a:spcPct val="150000"/>
              </a:lnSpc>
              <a:buFont typeface="Arial" panose="020B0604020202020204" pitchFamily="34" charset="0"/>
              <a:buChar char="•"/>
            </a:pPr>
            <a:r>
              <a:rPr lang="en-US" sz="2000" b="1" dirty="0">
                <a:latin typeface="Times" panose="02020603050405020304" pitchFamily="18" charset="0"/>
              </a:rPr>
              <a:t>Apple’s Ax Series</a:t>
            </a:r>
            <a:r>
              <a:rPr lang="en-US" sz="2000" dirty="0">
                <a:latin typeface="Times" panose="02020603050405020304" pitchFamily="18" charset="0"/>
              </a:rPr>
              <a:t>: Custom-designed processors that power iPhones, known for their seamless integration with Apple’s software.</a:t>
            </a:r>
          </a:p>
          <a:p>
            <a:pPr algn="just">
              <a:lnSpc>
                <a:spcPct val="150000"/>
              </a:lnSpc>
              <a:buFont typeface="Arial" panose="020B0604020202020204" pitchFamily="34" charset="0"/>
              <a:buChar char="•"/>
            </a:pPr>
            <a:r>
              <a:rPr lang="en-US" sz="2000" b="1" dirty="0">
                <a:latin typeface="Times" panose="02020603050405020304" pitchFamily="18" charset="0"/>
              </a:rPr>
              <a:t>Nvidia’s Tegra</a:t>
            </a:r>
            <a:r>
              <a:rPr lang="en-US" sz="2000" dirty="0">
                <a:latin typeface="Times" panose="02020603050405020304" pitchFamily="18" charset="0"/>
              </a:rPr>
              <a:t>: Initially popular in mobile gaming devices, offering strong graphics processing capabilities.</a:t>
            </a:r>
          </a:p>
          <a:p>
            <a:pPr algn="just">
              <a:lnSpc>
                <a:spcPct val="150000"/>
              </a:lnSpc>
              <a:buFont typeface="Arial" panose="020B0604020202020204" pitchFamily="34" charset="0"/>
              <a:buChar char="•"/>
            </a:pPr>
            <a:r>
              <a:rPr lang="en-US" sz="2000" b="1" dirty="0">
                <a:latin typeface="Times" panose="02020603050405020304" pitchFamily="18" charset="0"/>
              </a:rPr>
              <a:t>Intel’s Medfield</a:t>
            </a:r>
            <a:r>
              <a:rPr lang="en-US" sz="2000" dirty="0">
                <a:latin typeface="Times" panose="02020603050405020304" pitchFamily="18" charset="0"/>
              </a:rPr>
              <a:t>: Intel’s attempt to enter the mobile market, offering x86 architecture for mobile devices.</a:t>
            </a:r>
          </a:p>
        </p:txBody>
      </p:sp>
    </p:spTree>
    <p:extLst>
      <p:ext uri="{BB962C8B-B14F-4D97-AF65-F5344CB8AC3E}">
        <p14:creationId xmlns:p14="http://schemas.microsoft.com/office/powerpoint/2010/main" val="163931861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7626DC-A1C5-472D-58F6-2175204E6F1D}"/>
              </a:ext>
            </a:extLst>
          </p:cNvPr>
          <p:cNvSpPr>
            <a:spLocks noGrp="1"/>
          </p:cNvSpPr>
          <p:nvPr>
            <p:ph type="ctrTitle"/>
          </p:nvPr>
        </p:nvSpPr>
        <p:spPr/>
        <p:txBody>
          <a:bodyPr/>
          <a:lstStyle/>
          <a:p>
            <a:r>
              <a:rPr lang="en-US" dirty="0"/>
              <a:t>Activities </a:t>
            </a:r>
          </a:p>
        </p:txBody>
      </p:sp>
      <p:sp>
        <p:nvSpPr>
          <p:cNvPr id="3" name="Subtitle 2">
            <a:extLst>
              <a:ext uri="{FF2B5EF4-FFF2-40B4-BE49-F238E27FC236}">
                <a16:creationId xmlns:a16="http://schemas.microsoft.com/office/drawing/2014/main" xmlns="" id="{33990EE1-6B26-DC9B-A0DC-507B0C2F91B3}"/>
              </a:ext>
            </a:extLst>
          </p:cNvPr>
          <p:cNvSpPr>
            <a:spLocks noGrp="1"/>
          </p:cNvSpPr>
          <p:nvPr>
            <p:ph type="subTitle" idx="1"/>
          </p:nvPr>
        </p:nvSpPr>
        <p:spPr/>
        <p:txBody>
          <a:bodyPr/>
          <a:lstStyle/>
          <a:p>
            <a:endParaRPr lang="en-US"/>
          </a:p>
        </p:txBody>
      </p:sp>
      <p:sp>
        <p:nvSpPr>
          <p:cNvPr id="10" name="Slide Number Placeholder 9">
            <a:extLst>
              <a:ext uri="{FF2B5EF4-FFF2-40B4-BE49-F238E27FC236}">
                <a16:creationId xmlns:a16="http://schemas.microsoft.com/office/drawing/2014/main" xmlns="" id="{436EC7A3-FAB8-152F-D24A-5306A738F50E}"/>
              </a:ext>
            </a:extLst>
          </p:cNvPr>
          <p:cNvSpPr>
            <a:spLocks noGrp="1"/>
          </p:cNvSpPr>
          <p:nvPr>
            <p:ph type="sldNum" sz="quarter" idx="12"/>
          </p:nvPr>
        </p:nvSpPr>
        <p:spPr/>
        <p:txBody>
          <a:bodyPr/>
          <a:lstStyle/>
          <a:p>
            <a:fld id="{2CF811F3-0AD8-4999-BFD7-A77E68B68E06}" type="slidenum">
              <a:rPr lang="en-US" smtClean="0"/>
              <a:t>84</a:t>
            </a:fld>
            <a:endParaRPr lang="en-US"/>
          </a:p>
        </p:txBody>
      </p:sp>
      <p:pic>
        <p:nvPicPr>
          <p:cNvPr id="4" name="Picture 2">
            <a:extLst>
              <a:ext uri="{FF2B5EF4-FFF2-40B4-BE49-F238E27FC236}">
                <a16:creationId xmlns:a16="http://schemas.microsoft.com/office/drawing/2014/main" xmlns="" id="{5A3B360E-BEDB-DBD0-3F73-2BDC48045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285" y="8723"/>
            <a:ext cx="13050569" cy="7393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xmlns="" id="{D3BB0FDC-5697-A80E-56FF-159327DA52A3}"/>
              </a:ext>
            </a:extLst>
          </p:cNvPr>
          <p:cNvSpPr txBox="1">
            <a:spLocks/>
          </p:cNvSpPr>
          <p:nvPr/>
        </p:nvSpPr>
        <p:spPr>
          <a:xfrm>
            <a:off x="-158620" y="247683"/>
            <a:ext cx="12538786" cy="8000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800"/>
              </a:spcAft>
            </a:pPr>
            <a:r>
              <a:rPr lang="en-US" altLang="en-US" sz="2200" b="1" dirty="0">
                <a:latin typeface="Times New Roman" panose="02020603050405020304" pitchFamily="18" charset="0"/>
                <a:cs typeface="Times New Roman" panose="02020603050405020304" pitchFamily="18" charset="0"/>
              </a:rPr>
              <a:t>Unit 1</a:t>
            </a:r>
          </a:p>
          <a:p>
            <a:pPr>
              <a:spcAft>
                <a:spcPts val="800"/>
              </a:spcAft>
            </a:pPr>
            <a:r>
              <a:rPr lang="en-US" sz="2200" b="1" dirty="0">
                <a:solidFill>
                  <a:srgbClr val="C42312"/>
                </a:solidFill>
                <a:effectLst/>
                <a:latin typeface="Times New Roman" panose="02020603050405020304" pitchFamily="18" charset="0"/>
                <a:ea typeface="Calibri" panose="020F0502020204030204" pitchFamily="34" charset="0"/>
                <a:cs typeface="Times New Roman" panose="02020603050405020304" pitchFamily="18" charset="0"/>
              </a:rPr>
              <a:t>Overview of Embedded Systems</a:t>
            </a:r>
          </a:p>
        </p:txBody>
      </p:sp>
      <p:sp>
        <p:nvSpPr>
          <p:cNvPr id="6" name="Content Placeholder 2">
            <a:extLst>
              <a:ext uri="{FF2B5EF4-FFF2-40B4-BE49-F238E27FC236}">
                <a16:creationId xmlns:a16="http://schemas.microsoft.com/office/drawing/2014/main" xmlns="" id="{6DD2E779-21EA-29AE-45F9-00C8145559B2}"/>
              </a:ext>
            </a:extLst>
          </p:cNvPr>
          <p:cNvSpPr txBox="1">
            <a:spLocks/>
          </p:cNvSpPr>
          <p:nvPr/>
        </p:nvSpPr>
        <p:spPr>
          <a:xfrm>
            <a:off x="838200" y="1865381"/>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xmlns="" id="{8F0FD7BA-1379-3787-FD96-632BA4C39924}"/>
              </a:ext>
            </a:extLst>
          </p:cNvPr>
          <p:cNvSpPr txBox="1"/>
          <p:nvPr/>
        </p:nvSpPr>
        <p:spPr>
          <a:xfrm>
            <a:off x="-46859" y="1031987"/>
            <a:ext cx="8723597" cy="1003736"/>
          </a:xfrm>
          <a:prstGeom prst="rect">
            <a:avLst/>
          </a:prstGeom>
          <a:noFill/>
        </p:spPr>
        <p:txBody>
          <a:bodyPr wrap="square" rtlCol="0">
            <a:spAutoFit/>
          </a:bodyPr>
          <a:lstStyle/>
          <a:p>
            <a:pPr algn="just">
              <a:lnSpc>
                <a:spcPct val="150000"/>
              </a:lnSpc>
            </a:pPr>
            <a:r>
              <a:rPr lang="en-US" sz="2100" b="1" dirty="0">
                <a:solidFill>
                  <a:srgbClr val="0070C0"/>
                </a:solidFill>
                <a:latin typeface="Times New Roman" panose="02020603050405020304" pitchFamily="18" charset="0"/>
                <a:cs typeface="Times New Roman" panose="02020603050405020304" pitchFamily="18" charset="0"/>
              </a:rPr>
              <a:t>11. Embedded Processing Unit of Mobile Phones</a:t>
            </a:r>
          </a:p>
          <a:p>
            <a:pPr algn="just">
              <a:lnSpc>
                <a:spcPct val="150000"/>
              </a:lnSpc>
            </a:pPr>
            <a:endParaRPr lang="en-US" sz="2100" b="1"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xmlns="" id="{3EAE52DF-52B3-8A06-FE70-5F6AA4531452}"/>
              </a:ext>
            </a:extLst>
          </p:cNvPr>
          <p:cNvSpPr txBox="1"/>
          <p:nvPr/>
        </p:nvSpPr>
        <p:spPr>
          <a:xfrm>
            <a:off x="355898" y="5239724"/>
            <a:ext cx="11947861" cy="518988"/>
          </a:xfrm>
          <a:prstGeom prst="rect">
            <a:avLst/>
          </a:prstGeom>
          <a:noFill/>
        </p:spPr>
        <p:txBody>
          <a:bodyPr wrap="square">
            <a:spAutoFit/>
          </a:bodyPr>
          <a:lstStyle/>
          <a:p>
            <a:pPr algn="just">
              <a:lnSpc>
                <a:spcPct val="150000"/>
              </a:lnSpc>
            </a:pPr>
            <a:endParaRPr lang="en-US" sz="21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xmlns="" id="{B6F06132-77EF-1B24-FA31-1A70F402CEA6}"/>
              </a:ext>
            </a:extLst>
          </p:cNvPr>
          <p:cNvSpPr txBox="1"/>
          <p:nvPr/>
        </p:nvSpPr>
        <p:spPr>
          <a:xfrm>
            <a:off x="-79310" y="1600200"/>
            <a:ext cx="12350618" cy="2457981"/>
          </a:xfrm>
          <a:prstGeom prst="rect">
            <a:avLst/>
          </a:prstGeom>
          <a:noFill/>
        </p:spPr>
        <p:txBody>
          <a:bodyPr wrap="square">
            <a:spAutoFit/>
          </a:bodyPr>
          <a:lstStyle/>
          <a:p>
            <a:pPr algn="just">
              <a:lnSpc>
                <a:spcPct val="150000"/>
              </a:lnSpc>
            </a:pPr>
            <a:r>
              <a:rPr lang="en-US" sz="2100" b="1" dirty="0">
                <a:latin typeface="Times" panose="02020603050405020304" pitchFamily="18" charset="0"/>
              </a:rPr>
              <a:t>Conclusion</a:t>
            </a:r>
          </a:p>
          <a:p>
            <a:pPr algn="just">
              <a:lnSpc>
                <a:spcPct val="150000"/>
              </a:lnSpc>
            </a:pPr>
            <a:r>
              <a:rPr lang="en-US" sz="2100" dirty="0">
                <a:latin typeface="Times" panose="02020603050405020304" pitchFamily="18" charset="0"/>
              </a:rPr>
              <a:t>In summary, the embedded processing block of a smartphone is highly sophisticated, combining general-purpose ARM cores with specialized co-processors on a single chip (SoC). This enables modern phones to perform a vast array of tasks, often rivaling the capabilities of personal computers, and is powered by some of the most advanced processors available from leading tech companies.</a:t>
            </a:r>
          </a:p>
        </p:txBody>
      </p:sp>
    </p:spTree>
    <p:extLst>
      <p:ext uri="{BB962C8B-B14F-4D97-AF65-F5344CB8AC3E}">
        <p14:creationId xmlns:p14="http://schemas.microsoft.com/office/powerpoint/2010/main" val="19504197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2361</TotalTime>
  <Words>9706</Words>
  <Application>Microsoft Office PowerPoint</Application>
  <PresentationFormat>Widescreen</PresentationFormat>
  <Paragraphs>944</Paragraphs>
  <Slides>84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84</vt:i4>
      </vt:variant>
    </vt:vector>
  </HeadingPairs>
  <TitlesOfParts>
    <vt:vector size="91" baseType="lpstr">
      <vt:lpstr>Arial</vt:lpstr>
      <vt:lpstr>Calibri</vt:lpstr>
      <vt:lpstr>Calibri Light</vt:lpstr>
      <vt:lpstr>Times</vt:lpstr>
      <vt:lpstr>Times New Roman</vt:lpstr>
      <vt:lpstr>Wingdings</vt:lpstr>
      <vt:lpstr>Office Theme</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lpstr>Activities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Activities</dc:title>
  <dc:creator>James Deva Koresh</dc:creator>
  <cp:lastModifiedBy>Windows User</cp:lastModifiedBy>
  <cp:revision>102</cp:revision>
  <dcterms:created xsi:type="dcterms:W3CDTF">2024-01-08T03:32:49Z</dcterms:created>
  <dcterms:modified xsi:type="dcterms:W3CDTF">2025-08-14T09:34:57Z</dcterms:modified>
</cp:coreProperties>
</file>